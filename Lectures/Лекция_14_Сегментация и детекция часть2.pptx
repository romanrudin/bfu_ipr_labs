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44"/>
  </p:notesMasterIdLst>
  <p:handoutMasterIdLst>
    <p:handoutMasterId r:id="rId45"/>
  </p:handoutMasterIdLst>
  <p:sldIdLst>
    <p:sldId id="282" r:id="rId4"/>
    <p:sldId id="544" r:id="rId5"/>
    <p:sldId id="546" r:id="rId6"/>
    <p:sldId id="581" r:id="rId7"/>
    <p:sldId id="623" r:id="rId8"/>
    <p:sldId id="646" r:id="rId9"/>
    <p:sldId id="625" r:id="rId10"/>
    <p:sldId id="627" r:id="rId11"/>
    <p:sldId id="624" r:id="rId12"/>
    <p:sldId id="629" r:id="rId13"/>
    <p:sldId id="630" r:id="rId14"/>
    <p:sldId id="631" r:id="rId15"/>
    <p:sldId id="632" r:id="rId16"/>
    <p:sldId id="628" r:id="rId17"/>
    <p:sldId id="633" r:id="rId18"/>
    <p:sldId id="634" r:id="rId19"/>
    <p:sldId id="636" r:id="rId20"/>
    <p:sldId id="637" r:id="rId21"/>
    <p:sldId id="639" r:id="rId22"/>
    <p:sldId id="638" r:id="rId23"/>
    <p:sldId id="640" r:id="rId24"/>
    <p:sldId id="641" r:id="rId25"/>
    <p:sldId id="642" r:id="rId26"/>
    <p:sldId id="635" r:id="rId27"/>
    <p:sldId id="644" r:id="rId28"/>
    <p:sldId id="647" r:id="rId29"/>
    <p:sldId id="648" r:id="rId30"/>
    <p:sldId id="649" r:id="rId31"/>
    <p:sldId id="650" r:id="rId32"/>
    <p:sldId id="651" r:id="rId33"/>
    <p:sldId id="652" r:id="rId34"/>
    <p:sldId id="653" r:id="rId35"/>
    <p:sldId id="654" r:id="rId36"/>
    <p:sldId id="655" r:id="rId37"/>
    <p:sldId id="656" r:id="rId38"/>
    <p:sldId id="657" r:id="rId39"/>
    <p:sldId id="658" r:id="rId40"/>
    <p:sldId id="659" r:id="rId41"/>
    <p:sldId id="660" r:id="rId42"/>
    <p:sldId id="296" r:id="rId43"/>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31" autoAdjust="0"/>
  </p:normalViewPr>
  <p:slideViewPr>
    <p:cSldViewPr snapToGrid="0">
      <p:cViewPr varScale="1">
        <p:scale>
          <a:sx n="115" d="100"/>
          <a:sy n="115" d="100"/>
        </p:scale>
        <p:origin x="372" y="10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8DD750-E9C8-498E-B02F-A465CB2BB798}" type="datetime1">
              <a:rPr lang="ru-RU" smtClean="0"/>
              <a:pPr rtl="0"/>
              <a:t>18.11.2025</a:t>
            </a:fld>
            <a:endParaRPr lang="ru-RU" dirty="0"/>
          </a:p>
        </p:txBody>
      </p:sp>
      <p:sp>
        <p:nvSpPr>
          <p:cNvPr id="4" name="Нижний колонтитул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ru-RU" smtClean="0"/>
              <a:pPr rtl="0"/>
              <a:t>‹#›</a:t>
            </a:fld>
            <a:endParaRPr lang="ru-RU"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C6E7-B645-4B70-AC63-7A575D94CEB1}" type="datetime1">
              <a:rPr lang="ru-RU" smtClean="0"/>
              <a:pPr/>
              <a:t>18.11.2025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ru-RU" noProof="0" smtClean="0"/>
              <a:pPr rtl="0"/>
              <a:t>‹#›</a:t>
            </a:fld>
            <a:endParaRPr lang="ru-RU"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1</a:t>
            </a:fld>
            <a:endParaRPr lang="ru-RU" dirty="0"/>
          </a:p>
        </p:txBody>
      </p:sp>
    </p:spTree>
    <p:extLst>
      <p:ext uri="{BB962C8B-B14F-4D97-AF65-F5344CB8AC3E}">
        <p14:creationId xmlns:p14="http://schemas.microsoft.com/office/powerpoint/2010/main" val="1383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2</a:t>
            </a:fld>
            <a:endParaRPr lang="ru-RU" dirty="0"/>
          </a:p>
        </p:txBody>
      </p:sp>
    </p:spTree>
    <p:extLst>
      <p:ext uri="{BB962C8B-B14F-4D97-AF65-F5344CB8AC3E}">
        <p14:creationId xmlns:p14="http://schemas.microsoft.com/office/powerpoint/2010/main" val="99446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5D81F1E7-4EFD-4BFF-B438-FCD52FD36B17}" type="slidenum">
              <a:rPr lang="ru-RU" smtClean="0"/>
              <a:t>26</a:t>
            </a:fld>
            <a:endParaRPr lang="ru-RU" dirty="0"/>
          </a:p>
        </p:txBody>
      </p:sp>
    </p:spTree>
    <p:extLst>
      <p:ext uri="{BB962C8B-B14F-4D97-AF65-F5344CB8AC3E}">
        <p14:creationId xmlns:p14="http://schemas.microsoft.com/office/powerpoint/2010/main" val="2910413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5D81F1E7-4EFD-4BFF-B438-FCD52FD36B17}" type="slidenum">
              <a:rPr lang="ru-RU" smtClean="0"/>
              <a:t>29</a:t>
            </a:fld>
            <a:endParaRPr lang="ru-RU" dirty="0"/>
          </a:p>
        </p:txBody>
      </p:sp>
    </p:spTree>
    <p:extLst>
      <p:ext uri="{BB962C8B-B14F-4D97-AF65-F5344CB8AC3E}">
        <p14:creationId xmlns:p14="http://schemas.microsoft.com/office/powerpoint/2010/main" val="120829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30</a:t>
            </a:fld>
            <a:endParaRPr lang="ru-RU" dirty="0"/>
          </a:p>
        </p:txBody>
      </p:sp>
    </p:spTree>
    <p:extLst>
      <p:ext uri="{BB962C8B-B14F-4D97-AF65-F5344CB8AC3E}">
        <p14:creationId xmlns:p14="http://schemas.microsoft.com/office/powerpoint/2010/main" val="544230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31</a:t>
            </a:fld>
            <a:endParaRPr lang="ru-RU" dirty="0"/>
          </a:p>
        </p:txBody>
      </p:sp>
    </p:spTree>
    <p:extLst>
      <p:ext uri="{BB962C8B-B14F-4D97-AF65-F5344CB8AC3E}">
        <p14:creationId xmlns:p14="http://schemas.microsoft.com/office/powerpoint/2010/main" val="3569207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32</a:t>
            </a:fld>
            <a:endParaRPr lang="ru-RU" dirty="0"/>
          </a:p>
        </p:txBody>
      </p:sp>
    </p:spTree>
    <p:extLst>
      <p:ext uri="{BB962C8B-B14F-4D97-AF65-F5344CB8AC3E}">
        <p14:creationId xmlns:p14="http://schemas.microsoft.com/office/powerpoint/2010/main" val="2049965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33</a:t>
            </a:fld>
            <a:endParaRPr lang="ru-RU" dirty="0"/>
          </a:p>
        </p:txBody>
      </p:sp>
    </p:spTree>
    <p:extLst>
      <p:ext uri="{BB962C8B-B14F-4D97-AF65-F5344CB8AC3E}">
        <p14:creationId xmlns:p14="http://schemas.microsoft.com/office/powerpoint/2010/main" val="3037158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34</a:t>
            </a:fld>
            <a:endParaRPr lang="ru-RU" dirty="0"/>
          </a:p>
        </p:txBody>
      </p:sp>
    </p:spTree>
    <p:extLst>
      <p:ext uri="{BB962C8B-B14F-4D97-AF65-F5344CB8AC3E}">
        <p14:creationId xmlns:p14="http://schemas.microsoft.com/office/powerpoint/2010/main" val="2879113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35</a:t>
            </a:fld>
            <a:endParaRPr lang="ru-RU" dirty="0"/>
          </a:p>
        </p:txBody>
      </p:sp>
    </p:spTree>
    <p:extLst>
      <p:ext uri="{BB962C8B-B14F-4D97-AF65-F5344CB8AC3E}">
        <p14:creationId xmlns:p14="http://schemas.microsoft.com/office/powerpoint/2010/main" val="526132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Опишите исследования в 3–5 пунктах.</a:t>
            </a:r>
          </a:p>
          <a:p>
            <a:pPr rtl="0"/>
            <a:endParaRPr lang="ru-RU" dirty="0"/>
          </a:p>
        </p:txBody>
      </p:sp>
      <p:sp>
        <p:nvSpPr>
          <p:cNvPr id="4" name="Номер слайда 3"/>
          <p:cNvSpPr>
            <a:spLocks noGrp="1"/>
          </p:cNvSpPr>
          <p:nvPr>
            <p:ph type="sldNum" sz="quarter" idx="10"/>
          </p:nvPr>
        </p:nvSpPr>
        <p:spPr/>
        <p:txBody>
          <a:bodyPr rtlCol="0"/>
          <a:lstStyle/>
          <a:p>
            <a:pPr rtl="0"/>
            <a:fld id="{5D81F1E7-4EFD-4BFF-B438-FCD52FD36B17}" type="slidenum">
              <a:rPr lang="ru-RU" smtClean="0"/>
              <a:t>36</a:t>
            </a:fld>
            <a:endParaRPr lang="ru-RU" dirty="0"/>
          </a:p>
        </p:txBody>
      </p:sp>
    </p:spTree>
    <p:extLst>
      <p:ext uri="{BB962C8B-B14F-4D97-AF65-F5344CB8AC3E}">
        <p14:creationId xmlns:p14="http://schemas.microsoft.com/office/powerpoint/2010/main" val="409589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40</a:t>
            </a:fld>
            <a:endParaRPr lang="ru-RU" dirty="0"/>
          </a:p>
        </p:txBody>
      </p:sp>
    </p:spTree>
    <p:extLst>
      <p:ext uri="{BB962C8B-B14F-4D97-AF65-F5344CB8AC3E}">
        <p14:creationId xmlns:p14="http://schemas.microsoft.com/office/powerpoint/2010/main" val="285592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5" name="Подзаголовок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6" name="Номер слайда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
        <p:nvSpPr>
          <p:cNvPr id="7" name="Нижний колонтитул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rtl="0"/>
            <a:r>
              <a:rPr lang="ru-RU" noProof="0" dirty="0"/>
              <a:t>Добавить нижний колонтитул</a:t>
            </a:r>
          </a:p>
        </p:txBody>
      </p:sp>
    </p:spTree>
    <p:extLst>
      <p:ext uri="{BB962C8B-B14F-4D97-AF65-F5344CB8AC3E}">
        <p14:creationId xmlns:p14="http://schemas.microsoft.com/office/powerpoint/2010/main" val="15058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слайд">
    <p:spTree>
      <p:nvGrpSpPr>
        <p:cNvPr id="1" name=""/>
        <p:cNvGrpSpPr/>
        <p:nvPr/>
      </p:nvGrpSpPr>
      <p:grpSpPr>
        <a:xfrm>
          <a:off x="0" y="0"/>
          <a:ext cx="0" cy="0"/>
          <a:chOff x="0" y="0"/>
          <a:chExt cx="0" cy="0"/>
        </a:xfrm>
      </p:grpSpPr>
      <p:sp>
        <p:nvSpPr>
          <p:cNvPr id="21" name="Рисунок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название презентации</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54517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2">
    <p:spTree>
      <p:nvGrpSpPr>
        <p:cNvPr id="1" name=""/>
        <p:cNvGrpSpPr/>
        <p:nvPr/>
      </p:nvGrpSpPr>
      <p:grpSpPr>
        <a:xfrm>
          <a:off x="0" y="0"/>
          <a:ext cx="0" cy="0"/>
          <a:chOff x="0" y="0"/>
          <a:chExt cx="0" cy="0"/>
        </a:xfrm>
      </p:grpSpPr>
      <p:sp>
        <p:nvSpPr>
          <p:cNvPr id="12" name="Рисунок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rtlCol="0">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62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41629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3">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
        <p:nvSpPr>
          <p:cNvPr id="8" name="Рисунок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9" name="Рисунок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Tree>
    <p:extLst>
      <p:ext uri="{BB962C8B-B14F-4D97-AF65-F5344CB8AC3E}">
        <p14:creationId xmlns:p14="http://schemas.microsoft.com/office/powerpoint/2010/main" val="282955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1" name="Полилиния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3" name="Полилиния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4" name="Полилиния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5" name="Полилиния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2" name="Заголовок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Сравнение слева — заполнитель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4" name="Объект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2" name="Сравнение слева — заполнитель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rtlCol="0"/>
          <a:lstStyle>
            <a:lvl1pPr marL="0" indent="0">
              <a:buNone/>
              <a:defRPr sz="2400" b="1"/>
            </a:lvl1pPr>
          </a:lstStyle>
          <a:p>
            <a:pPr lvl="0" rtl="0"/>
            <a:r>
              <a:rPr lang="ru-RU" noProof="0"/>
              <a:t>Образец текста</a:t>
            </a:r>
          </a:p>
        </p:txBody>
      </p:sp>
      <p:sp>
        <p:nvSpPr>
          <p:cNvPr id="8" name="Текст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Нижний колонтитул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Большое фото">
    <p:spTree>
      <p:nvGrpSpPr>
        <p:cNvPr id="1" name=""/>
        <p:cNvGrpSpPr/>
        <p:nvPr/>
      </p:nvGrpSpPr>
      <p:grpSpPr>
        <a:xfrm>
          <a:off x="0" y="0"/>
          <a:ext cx="0" cy="0"/>
          <a:chOff x="0" y="0"/>
          <a:chExt cx="0" cy="0"/>
        </a:xfrm>
      </p:grpSpPr>
      <p:sp>
        <p:nvSpPr>
          <p:cNvPr id="7" name="Рисунок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2" name="Номер слайда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ru-RU" noProof="0" smtClean="0"/>
              <a:pPr rtl="0"/>
              <a:t>‹#›</a:t>
            </a:fld>
            <a:endParaRPr lang="ru-RU" noProof="0" dirty="0"/>
          </a:p>
        </p:txBody>
      </p:sp>
      <p:sp>
        <p:nvSpPr>
          <p:cNvPr id="6" name="Заголовок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rtlCol="0" anchor="t"/>
          <a:lstStyle>
            <a:lvl1pPr algn="l">
              <a:lnSpc>
                <a:spcPct val="100000"/>
              </a:lnSpc>
              <a:defRPr sz="1800" b="0" spc="0">
                <a:solidFill>
                  <a:schemeClr val="bg1">
                    <a:lumMod val="95000"/>
                  </a:schemeClr>
                </a:solidFill>
                <a:latin typeface="+mn-lt"/>
              </a:defRPr>
            </a:lvl1pPr>
          </a:lstStyle>
          <a:p>
            <a:pPr rtl="0"/>
            <a:r>
              <a:rPr lang="ru-RU" noProof="0" dirty="0"/>
              <a:t>Введите подпись</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Слайд с благодарностью">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4" name="Прямоугольник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2" name="Рисунок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Спасибо за внимание!</a:t>
            </a:r>
          </a:p>
        </p:txBody>
      </p:sp>
      <p:sp>
        <p:nvSpPr>
          <p:cNvPr id="7" name="Текст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Полное имя</a:t>
            </a:r>
          </a:p>
        </p:txBody>
      </p:sp>
      <p:sp>
        <p:nvSpPr>
          <p:cNvPr id="8" name="Текст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Номер телефона</a:t>
            </a:r>
          </a:p>
        </p:txBody>
      </p:sp>
      <p:sp>
        <p:nvSpPr>
          <p:cNvPr id="9" name="Текст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Электронная почта или контакт в социальной сети</a:t>
            </a:r>
          </a:p>
        </p:txBody>
      </p:sp>
      <p:sp>
        <p:nvSpPr>
          <p:cNvPr id="10" name="Текст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Веб-сайт компании</a:t>
            </a:r>
          </a:p>
        </p:txBody>
      </p:sp>
    </p:spTree>
    <p:extLst>
      <p:ext uri="{BB962C8B-B14F-4D97-AF65-F5344CB8AC3E}">
        <p14:creationId xmlns:p14="http://schemas.microsoft.com/office/powerpoint/2010/main" val="1632891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6" name="Текст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столб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1" name="Текст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столбцов">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3" name="Текст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5" name="Текст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7" name="Текст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3" name="Номер слайда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Титульный слайд">
    <p:bg>
      <p:bgPr>
        <a:solidFill>
          <a:schemeClr val="bg1"/>
        </a:solidFill>
        <a:effectLst/>
      </p:bgPr>
    </p:bg>
    <p:spTree>
      <p:nvGrpSpPr>
        <p:cNvPr id="1" name=""/>
        <p:cNvGrpSpPr/>
        <p:nvPr/>
      </p:nvGrpSpPr>
      <p:grpSpPr>
        <a:xfrm>
          <a:off x="0" y="0"/>
          <a:ext cx="0" cy="0"/>
          <a:chOff x="0" y="0"/>
          <a:chExt cx="0" cy="0"/>
        </a:xfrm>
      </p:grpSpPr>
      <p:sp>
        <p:nvSpPr>
          <p:cNvPr id="7" name="Прямоугольник 6"/>
          <p:cNvSpPr/>
          <p:nvPr/>
        </p:nvSpPr>
        <p:spPr bwMode="ltGray">
          <a:xfrm>
            <a:off x="0" y="4572000"/>
            <a:ext cx="121920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2" name="Заголовок 1"/>
          <p:cNvSpPr>
            <a:spLocks noGrp="1"/>
          </p:cNvSpPr>
          <p:nvPr>
            <p:ph type="ctrTitle"/>
          </p:nvPr>
        </p:nvSpPr>
        <p:spPr>
          <a:xfrm>
            <a:off x="609600" y="4740333"/>
            <a:ext cx="10972800" cy="1263534"/>
          </a:xfrm>
        </p:spPr>
        <p:txBody>
          <a:bodyPr rtlCol="0" anchor="ctr">
            <a:normAutofit/>
          </a:bodyPr>
          <a:lstStyle>
            <a:lvl1pPr algn="l">
              <a:defRPr sz="5800"/>
            </a:lvl1pPr>
          </a:lstStyle>
          <a:p>
            <a:pPr rtl="0"/>
            <a:r>
              <a:rPr lang="ru-RU" smtClean="0"/>
              <a:t>Образец заголовка</a:t>
            </a:r>
            <a:endParaRPr lang="ru-RU" dirty="0"/>
          </a:p>
        </p:txBody>
      </p:sp>
      <p:cxnSp>
        <p:nvCxnSpPr>
          <p:cNvPr id="8" name="Прямая соединительная линия 7"/>
          <p:cNvCxnSpPr/>
          <p:nvPr/>
        </p:nvCxnSpPr>
        <p:spPr>
          <a:xfrm>
            <a:off x="0" y="62103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Подзаголовок 2"/>
          <p:cNvSpPr>
            <a:spLocks noGrp="1"/>
          </p:cNvSpPr>
          <p:nvPr>
            <p:ph type="subTitle" idx="1"/>
          </p:nvPr>
        </p:nvSpPr>
        <p:spPr>
          <a:xfrm>
            <a:off x="609600" y="6286500"/>
            <a:ext cx="10972800" cy="457200"/>
          </a:xfrm>
        </p:spPr>
        <p:txBody>
          <a:bodyPr rtlCol="0" anchor="ctr">
            <a:normAutofit/>
          </a:bodyPr>
          <a:lstStyle>
            <a:lvl1pPr marL="0" indent="0" algn="l">
              <a:spcBef>
                <a:spcPts val="0"/>
              </a:spcBef>
              <a:buNone/>
              <a:defRPr sz="1800">
                <a:solidFill>
                  <a:schemeClr val="tx1">
                    <a:lumMod val="50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ru-RU" smtClean="0"/>
              <a:t>Образец подзаголовка</a:t>
            </a:r>
            <a:endParaRPr lang="ru-RU" dirty="0"/>
          </a:p>
        </p:txBody>
      </p:sp>
      <p:pic>
        <p:nvPicPr>
          <p:cNvPr id="1028" name="Picture 4" descr="Cluster classification visualization big data stream, database cloud, futuristic technolog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32000" y="0"/>
            <a:ext cx="8128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437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Два типа объектов">
    <p:spTree>
      <p:nvGrpSpPr>
        <p:cNvPr id="1" name=""/>
        <p:cNvGrpSpPr/>
        <p:nvPr/>
      </p:nvGrpSpPr>
      <p:grpSpPr>
        <a:xfrm>
          <a:off x="0" y="0"/>
          <a:ext cx="0" cy="0"/>
          <a:chOff x="0" y="0"/>
          <a:chExt cx="0" cy="0"/>
        </a:xfrm>
      </p:grpSpPr>
      <p:sp>
        <p:nvSpPr>
          <p:cNvPr id="2" name="Заголовок 1"/>
          <p:cNvSpPr>
            <a:spLocks noGrp="1"/>
          </p:cNvSpPr>
          <p:nvPr>
            <p:ph type="title" hasCustomPrompt="1"/>
          </p:nvPr>
        </p:nvSpPr>
        <p:spPr/>
        <p:txBody>
          <a:bodyPr rtlCol="0"/>
          <a:lstStyle>
            <a:lvl1pPr rtl="0">
              <a:defRPr/>
            </a:lvl1pPr>
          </a:lstStyle>
          <a:p>
            <a:pPr rtl="0"/>
            <a:r>
              <a:rPr lang="ru-RU" dirty="0"/>
              <a:t>Стиль образца заголовка</a:t>
            </a:r>
          </a:p>
        </p:txBody>
      </p:sp>
      <p:sp>
        <p:nvSpPr>
          <p:cNvPr id="3" name="Объект 2"/>
          <p:cNvSpPr>
            <a:spLocks noGrp="1"/>
          </p:cNvSpPr>
          <p:nvPr>
            <p:ph sz="half" idx="1"/>
          </p:nvPr>
        </p:nvSpPr>
        <p:spPr>
          <a:xfrm>
            <a:off x="1066800" y="1714501"/>
            <a:ext cx="4752109" cy="4457700"/>
          </a:xfrm>
        </p:spPr>
        <p:txBody>
          <a:bodyPr rtlCol="0">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smtClean="0"/>
              <a:t>Образец текста</a:t>
            </a:r>
          </a:p>
          <a:p>
            <a:pPr lvl="1" rtl="0"/>
            <a:r>
              <a:rPr lang="ru-RU" smtClean="0"/>
              <a:t>Второй уровень</a:t>
            </a:r>
          </a:p>
          <a:p>
            <a:pPr lvl="2" rtl="0"/>
            <a:r>
              <a:rPr lang="ru-RU" smtClean="0"/>
              <a:t>Третий уровень</a:t>
            </a:r>
          </a:p>
          <a:p>
            <a:pPr lvl="3" rtl="0"/>
            <a:r>
              <a:rPr lang="ru-RU" smtClean="0"/>
              <a:t>Четвертый уровень</a:t>
            </a:r>
          </a:p>
          <a:p>
            <a:pPr lvl="4" rtl="0"/>
            <a:r>
              <a:rPr lang="ru-RU" smtClean="0"/>
              <a:t>Пятый уровень</a:t>
            </a:r>
            <a:endParaRPr lang="ru-RU" dirty="0"/>
          </a:p>
        </p:txBody>
      </p:sp>
      <p:sp>
        <p:nvSpPr>
          <p:cNvPr id="4" name="Объект 3"/>
          <p:cNvSpPr>
            <a:spLocks noGrp="1"/>
          </p:cNvSpPr>
          <p:nvPr>
            <p:ph sz="half" idx="2"/>
          </p:nvPr>
        </p:nvSpPr>
        <p:spPr>
          <a:xfrm>
            <a:off x="6373091" y="1714501"/>
            <a:ext cx="4752109" cy="4457700"/>
          </a:xfrm>
        </p:spPr>
        <p:txBody>
          <a:bodyPr rtlCol="0">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smtClean="0"/>
              <a:t>Образец текста</a:t>
            </a:r>
          </a:p>
          <a:p>
            <a:pPr lvl="1" rtl="0"/>
            <a:r>
              <a:rPr lang="ru-RU" smtClean="0"/>
              <a:t>Второй уровень</a:t>
            </a:r>
          </a:p>
          <a:p>
            <a:pPr lvl="2" rtl="0"/>
            <a:r>
              <a:rPr lang="ru-RU" smtClean="0"/>
              <a:t>Третий уровень</a:t>
            </a:r>
          </a:p>
          <a:p>
            <a:pPr lvl="3" rtl="0"/>
            <a:r>
              <a:rPr lang="ru-RU" smtClean="0"/>
              <a:t>Четвертый уровень</a:t>
            </a:r>
          </a:p>
          <a:p>
            <a:pPr lvl="4" rtl="0"/>
            <a:r>
              <a:rPr lang="ru-RU" smtClean="0"/>
              <a:t>Пятый уровень</a:t>
            </a:r>
            <a:endParaRPr lang="ru-RU" dirty="0"/>
          </a:p>
        </p:txBody>
      </p:sp>
      <p:sp>
        <p:nvSpPr>
          <p:cNvPr id="7" name="Номер слайда 4"/>
          <p:cNvSpPr>
            <a:spLocks noGrp="1"/>
          </p:cNvSpPr>
          <p:nvPr>
            <p:ph type="sldNum" sz="quarter" idx="12"/>
          </p:nvPr>
        </p:nvSpPr>
        <p:spPr/>
        <p:txBody>
          <a:bodyPr rtlCol="0"/>
          <a:lstStyle/>
          <a:p>
            <a:pPr rtl="0"/>
            <a:fld id="{5F4C9F40-B079-4B71-A627-7266DFEA7F03}" type="slidenum">
              <a:rPr lang="ru-RU" smtClean="0"/>
              <a:t>‹#›</a:t>
            </a:fld>
            <a:endParaRPr lang="ru-RU" dirty="0"/>
          </a:p>
        </p:txBody>
      </p:sp>
      <p:sp>
        <p:nvSpPr>
          <p:cNvPr id="6" name="Нижний колонтитул 5"/>
          <p:cNvSpPr>
            <a:spLocks noGrp="1"/>
          </p:cNvSpPr>
          <p:nvPr>
            <p:ph type="ftr" sz="quarter" idx="11"/>
          </p:nvPr>
        </p:nvSpPr>
        <p:spPr/>
        <p:txBody>
          <a:bodyPr rtlCol="0"/>
          <a:lstStyle/>
          <a:p>
            <a:pPr rtl="0"/>
            <a:endParaRPr lang="ru-RU" dirty="0"/>
          </a:p>
        </p:txBody>
      </p:sp>
      <p:sp>
        <p:nvSpPr>
          <p:cNvPr id="5" name="Дата 6"/>
          <p:cNvSpPr>
            <a:spLocks noGrp="1"/>
          </p:cNvSpPr>
          <p:nvPr>
            <p:ph type="dt" sz="half" idx="10"/>
          </p:nvPr>
        </p:nvSpPr>
        <p:spPr/>
        <p:txBody>
          <a:bodyPr rtlCol="0"/>
          <a:lstStyle/>
          <a:p>
            <a:pPr rtl="0"/>
            <a:fld id="{623CB50B-C693-4303-8AA7-E0ED411C2D2A}" type="datetime1">
              <a:rPr lang="ru-RU" smtClean="0"/>
              <a:t>18.11.2025</a:t>
            </a:fld>
            <a:endParaRPr lang="ru-RU" dirty="0"/>
          </a:p>
        </p:txBody>
      </p:sp>
    </p:spTree>
    <p:extLst>
      <p:ext uri="{BB962C8B-B14F-4D97-AF65-F5344CB8AC3E}">
        <p14:creationId xmlns:p14="http://schemas.microsoft.com/office/powerpoint/2010/main" val="64954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smtClean="0"/>
              <a:t>Образец заголовка</a:t>
            </a:r>
            <a:endParaRPr lang="ru-RU" dirty="0"/>
          </a:p>
        </p:txBody>
      </p:sp>
      <p:sp>
        <p:nvSpPr>
          <p:cNvPr id="3" name="Объект 2"/>
          <p:cNvSpPr>
            <a:spLocks noGrp="1"/>
          </p:cNvSpPr>
          <p:nvPr>
            <p:ph idx="1"/>
          </p:nvPr>
        </p:nvSpPr>
        <p:spPr/>
        <p:txBody>
          <a:bodyPr rtlCol="0"/>
          <a:lstStyle/>
          <a:p>
            <a:pPr lvl="0" rtl="0"/>
            <a:r>
              <a:rPr lang="ru-RU" smtClean="0"/>
              <a:t>Образец текста</a:t>
            </a:r>
          </a:p>
          <a:p>
            <a:pPr lvl="1" rtl="0"/>
            <a:r>
              <a:rPr lang="ru-RU" smtClean="0"/>
              <a:t>Второй уровень</a:t>
            </a:r>
          </a:p>
          <a:p>
            <a:pPr lvl="2" rtl="0"/>
            <a:r>
              <a:rPr lang="ru-RU" smtClean="0"/>
              <a:t>Третий уровень</a:t>
            </a:r>
          </a:p>
          <a:p>
            <a:pPr lvl="3" rtl="0"/>
            <a:r>
              <a:rPr lang="ru-RU" smtClean="0"/>
              <a:t>Четвертый уровень</a:t>
            </a:r>
          </a:p>
          <a:p>
            <a:pPr lvl="4" rtl="0"/>
            <a:r>
              <a:rPr lang="ru-RU" smtClean="0"/>
              <a:t>Пятый уровень</a:t>
            </a:r>
            <a:endParaRPr lang="ru-RU" dirty="0"/>
          </a:p>
        </p:txBody>
      </p:sp>
      <p:sp>
        <p:nvSpPr>
          <p:cNvPr id="6" name="Номер слайда 3"/>
          <p:cNvSpPr>
            <a:spLocks noGrp="1"/>
          </p:cNvSpPr>
          <p:nvPr>
            <p:ph type="sldNum" sz="quarter" idx="12"/>
          </p:nvPr>
        </p:nvSpPr>
        <p:spPr/>
        <p:txBody>
          <a:bodyPr rtlCol="0"/>
          <a:lstStyle/>
          <a:p>
            <a:pPr rtl="0"/>
            <a:fld id="{5F4C9F40-B079-4B71-A627-7266DFEA7F03}" type="slidenum">
              <a:rPr lang="ru-RU" smtClean="0"/>
              <a:t>‹#›</a:t>
            </a:fld>
            <a:endParaRPr lang="ru-RU" dirty="0"/>
          </a:p>
        </p:txBody>
      </p:sp>
      <p:sp>
        <p:nvSpPr>
          <p:cNvPr id="5" name="Нижний колонтитул 4"/>
          <p:cNvSpPr>
            <a:spLocks noGrp="1"/>
          </p:cNvSpPr>
          <p:nvPr>
            <p:ph type="ftr" sz="quarter" idx="11"/>
          </p:nvPr>
        </p:nvSpPr>
        <p:spPr/>
        <p:txBody>
          <a:bodyPr rtlCol="0"/>
          <a:lstStyle/>
          <a:p>
            <a:pPr rtl="0"/>
            <a:endParaRPr lang="ru-RU" dirty="0"/>
          </a:p>
        </p:txBody>
      </p:sp>
      <p:sp>
        <p:nvSpPr>
          <p:cNvPr id="4" name="Дата 5"/>
          <p:cNvSpPr>
            <a:spLocks noGrp="1"/>
          </p:cNvSpPr>
          <p:nvPr>
            <p:ph type="dt" sz="half" idx="10"/>
          </p:nvPr>
        </p:nvSpPr>
        <p:spPr/>
        <p:txBody>
          <a:bodyPr rtlCol="0"/>
          <a:lstStyle/>
          <a:p>
            <a:pPr rtl="0"/>
            <a:fld id="{9A14CB64-AF9D-4D76-AE57-70C9BBF02A7D}" type="datetime1">
              <a:rPr lang="ru-RU" smtClean="0"/>
              <a:t>18.11.2025</a:t>
            </a:fld>
            <a:endParaRPr lang="ru-RU" dirty="0"/>
          </a:p>
        </p:txBody>
      </p:sp>
    </p:spTree>
    <p:extLst>
      <p:ext uri="{BB962C8B-B14F-4D97-AF65-F5344CB8AC3E}">
        <p14:creationId xmlns:p14="http://schemas.microsoft.com/office/powerpoint/2010/main" val="414285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5" name="Прямоугольник: Скругленные углы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9" name="Прямоугольник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5" name="Прямоугольник 14">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ru-RU" noProof="0" dirty="0"/>
              <a:t>Щелкните, чтобы изменить заголовок</a:t>
            </a:r>
          </a:p>
        </p:txBody>
      </p:sp>
      <p:sp>
        <p:nvSpPr>
          <p:cNvPr id="3" name="Текст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Нижний колонтитул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1483"/>
            <a:ext cx="5484930" cy="20153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5ECA3099-A94F-4C3E-BC29-780EDD38F722}"/>
              </a:ext>
            </a:extLst>
          </p:cNvPr>
          <p:cNvSpPr>
            <a:spLocks noGrp="1"/>
          </p:cNvSpPr>
          <p:nvPr>
            <p:ph type="sldNum" sz="quarter" idx="4"/>
          </p:nvPr>
        </p:nvSpPr>
        <p:spPr>
          <a:xfrm>
            <a:off x="11727656" y="6277243"/>
            <a:ext cx="464344" cy="400188"/>
          </a:xfrm>
          <a:prstGeom prst="roundRect">
            <a:avLst>
              <a:gd name="adj" fmla="val 9526"/>
            </a:avLst>
          </a:prstGeom>
          <a:gradFill>
            <a:gsLst>
              <a:gs pos="20000">
                <a:schemeClr val="tx1">
                  <a:lumMod val="75000"/>
                  <a:lumOff val="25000"/>
                </a:schemeClr>
              </a:gs>
              <a:gs pos="82000">
                <a:schemeClr val="tx1"/>
              </a:gs>
            </a:gsLst>
            <a:lin ang="3000000" scaled="0"/>
          </a:gradFill>
          <a:ln w="6350">
            <a:solidFill>
              <a:schemeClr val="accent1"/>
            </a:solidFill>
          </a:ln>
        </p:spPr>
        <p:txBody>
          <a:bodyPr vert="horz" lIns="0" tIns="0" rIns="0" bIns="0" rtlCol="0" anchor="ctr"/>
          <a:lstStyle>
            <a:lvl1pPr algn="ctr">
              <a:defRPr sz="1200" i="1">
                <a:solidFill>
                  <a:schemeClr val="bg1"/>
                </a:solidFill>
                <a:latin typeface="Times New Roman" panose="02020603050405020304" pitchFamily="18" charset="0"/>
                <a:cs typeface="Times New Roman" panose="02020603050405020304" pitchFamily="18" charset="0"/>
              </a:defRPr>
            </a:lvl1pPr>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4" r:id="rId1"/>
    <p:sldLayoutId id="2147483649" r:id="rId2"/>
    <p:sldLayoutId id="2147483662" r:id="rId3"/>
    <p:sldLayoutId id="2147483663" r:id="rId4"/>
    <p:sldLayoutId id="2147483658" r:id="rId5"/>
    <p:sldLayoutId id="2147483665" r:id="rId6"/>
    <p:sldLayoutId id="2147483666" r:id="rId7"/>
    <p:sldLayoutId id="2147483659" r:id="rId8"/>
    <p:sldLayoutId id="2147483660" r:id="rId9"/>
    <p:sldLayoutId id="2147483664" r:id="rId10"/>
    <p:sldLayoutId id="2147483650" r:id="rId11"/>
    <p:sldLayoutId id="2147483652" r:id="rId12"/>
    <p:sldLayoutId id="2147483656" r:id="rId13"/>
    <p:sldLayoutId id="2147483657" r:id="rId14"/>
    <p:sldLayoutId id="2147483655" r:id="rId15"/>
    <p:sldLayoutId id="2147483667" r:id="rId16"/>
    <p:sldLayoutId id="2147483668" r:id="rId17"/>
    <p:sldLayoutId id="2147483669" r:id="rId1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4.sv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2.sv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Рисунок 6" descr="Изображение слайда">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25" name="Надпись 24" descr="Акцент слайда для поля заголовка">
            <a:extLst>
              <a:ext uri="{FF2B5EF4-FFF2-40B4-BE49-F238E27FC236}">
                <a16:creationId xmlns:a16="http://schemas.microsoft.com/office/drawing/2014/main" id="{7EF238CB-AB58-4787-8F9C-A1C16929A2FA}"/>
              </a:ext>
              <a:ext uri="{C183D7F6-B498-43B3-948B-1728B52AA6E4}">
                <adec:decorative xmlns:adec="http://schemas.microsoft.com/office/drawing/2017/decorative" xmlns="" val="1"/>
              </a:ext>
            </a:extLst>
          </p:cNvPr>
          <p:cNvSpPr txBox="1">
            <a:spLocks/>
          </p:cNvSpPr>
          <p:nvPr/>
        </p:nvSpPr>
        <p:spPr>
          <a:xfrm flipH="1">
            <a:off x="-1" y="3914775"/>
            <a:ext cx="1481849" cy="2200275"/>
          </a:xfrm>
          <a:custGeom>
            <a:avLst/>
            <a:gdLst>
              <a:gd name="connsiteX0" fmla="*/ 1494549 w 1494549"/>
              <a:gd name="connsiteY0" fmla="*/ 0 h 2200275"/>
              <a:gd name="connsiteX1" fmla="*/ 100333 w 1494549"/>
              <a:gd name="connsiteY1" fmla="*/ 0 h 2200275"/>
              <a:gd name="connsiteX2" fmla="*/ 0 w 1494549"/>
              <a:gd name="connsiteY2" fmla="*/ 100333 h 2200275"/>
              <a:gd name="connsiteX3" fmla="*/ 0 w 1494549"/>
              <a:gd name="connsiteY3" fmla="*/ 2099942 h 2200275"/>
              <a:gd name="connsiteX4" fmla="*/ 100333 w 1494549"/>
              <a:gd name="connsiteY4" fmla="*/ 2200275 h 2200275"/>
              <a:gd name="connsiteX5" fmla="*/ 1494549 w 1494549"/>
              <a:gd name="connsiteY5" fmla="*/ 220027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549" h="2200275">
                <a:moveTo>
                  <a:pt x="1494549" y="0"/>
                </a:moveTo>
                <a:lnTo>
                  <a:pt x="100333" y="0"/>
                </a:lnTo>
                <a:cubicBezTo>
                  <a:pt x="44921" y="0"/>
                  <a:pt x="0" y="44921"/>
                  <a:pt x="0" y="100333"/>
                </a:cubicBezTo>
                <a:lnTo>
                  <a:pt x="0" y="2099942"/>
                </a:lnTo>
                <a:cubicBezTo>
                  <a:pt x="0" y="2155354"/>
                  <a:pt x="44921" y="2200275"/>
                  <a:pt x="100333" y="2200275"/>
                </a:cubicBezTo>
                <a:lnTo>
                  <a:pt x="1494549" y="2200275"/>
                </a:ln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948293" y="2261062"/>
            <a:ext cx="4459766" cy="3368209"/>
          </a:xfrm>
          <a:gradFill>
            <a:gsLst>
              <a:gs pos="100000">
                <a:schemeClr val="tx1">
                  <a:lumMod val="95000"/>
                  <a:lumOff val="5000"/>
                </a:schemeClr>
              </a:gs>
              <a:gs pos="0">
                <a:schemeClr val="tx1">
                  <a:lumMod val="75000"/>
                  <a:lumOff val="25000"/>
                </a:schemeClr>
              </a:gs>
            </a:gsLst>
          </a:gradFill>
          <a:ln>
            <a:solidFill>
              <a:schemeClr val="bg1">
                <a:lumMod val="50000"/>
              </a:schemeClr>
            </a:solidFill>
          </a:ln>
        </p:spPr>
        <p:txBody>
          <a:bodyPr rtlCol="0"/>
          <a:lstStyle/>
          <a:p>
            <a:pPr>
              <a:lnSpc>
                <a:spcPts val="4800"/>
              </a:lnSpc>
            </a:pPr>
            <a:r>
              <a:rPr lang="ru-RU" sz="3600" dirty="0"/>
              <a:t>Сегментация и </a:t>
            </a:r>
            <a:r>
              <a:rPr lang="ru-RU" sz="3600" dirty="0" err="1" smtClean="0"/>
              <a:t>детекция</a:t>
            </a:r>
            <a:r>
              <a:rPr lang="ru-RU" sz="3600" dirty="0" smtClean="0"/>
              <a:t>, </a:t>
            </a:r>
            <a:r>
              <a:rPr lang="ru-RU" sz="3600" dirty="0" smtClean="0"/>
              <a:t>часть2</a:t>
            </a:r>
            <a:endParaRPr lang="ru-RU" sz="36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1130300" y="4624645"/>
            <a:ext cx="4000500" cy="690752"/>
          </a:xfrm>
        </p:spPr>
        <p:txBody>
          <a:bodyPr rtlCol="0"/>
          <a:lstStyle/>
          <a:p>
            <a:r>
              <a:rPr lang="ru-RU" dirty="0"/>
              <a:t>Методы обработки и распознавания изображений</a:t>
            </a:r>
          </a:p>
        </p:txBody>
      </p:sp>
      <p:sp>
        <p:nvSpPr>
          <p:cNvPr id="20" name="Равнобедренный треугольник 19" descr="Тень на слайде для поля заголовка">
            <a:extLst>
              <a:ext uri="{FF2B5EF4-FFF2-40B4-BE49-F238E27FC236}">
                <a16:creationId xmlns:a16="http://schemas.microsoft.com/office/drawing/2014/main" id="{545D50A1-D634-4325-B06C-5450FDF7B818}"/>
              </a:ext>
              <a:ext uri="{C183D7F6-B498-43B3-948B-1728B52AA6E4}">
                <adec:decorative xmlns:adec="http://schemas.microsoft.com/office/drawing/2017/decorative" xmlns=""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xmlns=""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xmlns=""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Одноэтапные методы</a:t>
            </a:r>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xmlns=""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xmlns=""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2</a:t>
            </a:fld>
            <a:endParaRPr lang="ru-RU" dirty="0"/>
          </a:p>
        </p:txBody>
      </p:sp>
    </p:spTree>
    <p:extLst>
      <p:ext uri="{BB962C8B-B14F-4D97-AF65-F5344CB8AC3E}">
        <p14:creationId xmlns:p14="http://schemas.microsoft.com/office/powerpoint/2010/main" val="409167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Семейство алгоритмов R-CNN использует предсказания регионов, что позволяет обеспечивать хорошую точность, но может быть очень медленным для некоторых сфер, таких, как беспилотное управление автомобилем. Можно выделить ещё одно семейство параллельно развивающихся алгоритмов для детекции изображений, которое не использует регионы — семейство алгоритмов быстрой детекции.</a:t>
            </a:r>
          </a:p>
          <a:p>
            <a:pPr marL="514350" indent="-514350">
              <a:buNone/>
            </a:pPr>
            <a:endParaRPr lang="ru-RU" sz="2800" dirty="0"/>
          </a:p>
          <a:p>
            <a:pPr marL="0" indent="0">
              <a:buNone/>
            </a:pPr>
            <a:r>
              <a:rPr lang="ru-RU" sz="2800" dirty="0"/>
              <a:t/>
            </a:r>
            <a:br>
              <a:rPr lang="ru-RU" sz="2800" dirty="0"/>
            </a:br>
            <a:r>
              <a:rPr lang="ru-RU" sz="2800" dirty="0"/>
              <a:t/>
            </a: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Алгоритм </a:t>
            </a:r>
            <a:r>
              <a:rPr lang="ru-RU" sz="2800" dirty="0" smtClean="0"/>
              <a:t>YOLO </a:t>
            </a:r>
            <a:r>
              <a:rPr lang="ru-RU" sz="2800" dirty="0"/>
              <a:t>(</a:t>
            </a:r>
            <a:r>
              <a:rPr lang="ru-RU" sz="2800" dirty="0" err="1"/>
              <a:t>You</a:t>
            </a:r>
            <a:r>
              <a:rPr lang="ru-RU" sz="2800" dirty="0"/>
              <a:t> </a:t>
            </a:r>
            <a:r>
              <a:rPr lang="ru-RU" sz="2800" dirty="0" err="1"/>
              <a:t>Look</a:t>
            </a:r>
            <a:r>
              <a:rPr lang="ru-RU" sz="2800" dirty="0"/>
              <a:t> </a:t>
            </a:r>
            <a:r>
              <a:rPr lang="ru-RU" sz="2800" dirty="0" err="1"/>
              <a:t>Only</a:t>
            </a:r>
            <a:r>
              <a:rPr lang="ru-RU" sz="2800" dirty="0"/>
              <a:t> </a:t>
            </a:r>
            <a:r>
              <a:rPr lang="ru-RU" sz="2800" dirty="0" err="1"/>
              <a:t>Once</a:t>
            </a:r>
            <a:r>
              <a:rPr lang="ru-RU" sz="2800" dirty="0"/>
              <a:t>), предложенный в 2016 году, был первой попыткой сделать возможной </a:t>
            </a:r>
            <a:r>
              <a:rPr lang="ru-RU" sz="2800" dirty="0" err="1"/>
              <a:t>детекцию</a:t>
            </a:r>
            <a:r>
              <a:rPr lang="ru-RU" sz="2800" dirty="0"/>
              <a:t> объектов в реальном времени. В рамках алгоритма YOLO исходное изображение сначала разбивается на сетку из </a:t>
            </a:r>
            <a:r>
              <a:rPr lang="ru-RU" sz="2800" dirty="0" smtClean="0"/>
              <a:t>N×N ячеек</a:t>
            </a:r>
            <a:r>
              <a:rPr lang="ru-RU" sz="2800" dirty="0"/>
              <a:t>. Если центр объекта попадает внутрь координат ячейки, то эта ячейка считается ответственной за определение параметров местонахождения объекта. Каждая ячейка описывает несколько вариантов местоположения ограничивающих рамок для одного и того же объекта. Каждый из этих вариантов характеризуется пятью значениями — координатами центра ограничивающей рамки, его шириной и высотой, а также степени уверенности в том, что ограничивающая рамка содержит в себе объект. </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a:t>
            </a:fld>
            <a:endParaRPr lang="ru-RU" noProof="0" dirty="0"/>
          </a:p>
        </p:txBody>
      </p:sp>
    </p:spTree>
    <p:extLst>
      <p:ext uri="{BB962C8B-B14F-4D97-AF65-F5344CB8AC3E}">
        <p14:creationId xmlns:p14="http://schemas.microsoft.com/office/powerpoint/2010/main" val="10661567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Также необходимо для каждой пары класса объектов и ячейки определить вероятность того, что ячейка содержит в себе объект этого класса. Таким образом, последний слой сети, принимающий конечное решение об ограничивающих рамках и классификации объектов работает с тензором размерности N×N×(5B+C</a:t>
            </a:r>
            <a:r>
              <a:rPr lang="ru-RU" sz="2800" dirty="0" smtClean="0"/>
              <a:t>), </a:t>
            </a:r>
            <a:r>
              <a:rPr lang="ru-RU" sz="2800" dirty="0"/>
              <a:t>где </a:t>
            </a:r>
            <a:r>
              <a:rPr lang="ru-RU" sz="2800" dirty="0" smtClean="0"/>
              <a:t>B — </a:t>
            </a:r>
            <a:r>
              <a:rPr lang="ru-RU" sz="2800" dirty="0"/>
              <a:t>количество </a:t>
            </a:r>
            <a:r>
              <a:rPr lang="ru-RU" sz="2800" dirty="0" smtClean="0"/>
              <a:t>предсказываемых ограничивающих </a:t>
            </a:r>
            <a:r>
              <a:rPr lang="ru-RU" sz="2800" dirty="0"/>
              <a:t>рамок для ячейки, </a:t>
            </a:r>
            <a:r>
              <a:rPr lang="ru-RU" sz="2800" dirty="0" smtClean="0"/>
              <a:t>C — </a:t>
            </a:r>
            <a:r>
              <a:rPr lang="ru-RU" sz="2800" dirty="0"/>
              <a:t>количество классов объектов, определённых изначально.</a:t>
            </a:r>
          </a:p>
          <a:p>
            <a:pPr marL="0" indent="0">
              <a:buNone/>
            </a:pPr>
            <a:r>
              <a:rPr lang="ru-RU" sz="2800" dirty="0" smtClean="0"/>
              <a:t>Алгоритм </a:t>
            </a:r>
            <a:r>
              <a:rPr lang="ru-RU" sz="2800" dirty="0"/>
              <a:t>YOLO работает быстрее алгоритмов семейства R-CNN за счёт того, что поддерживает дробление на константное количество ячеек вместо того, чтобы предлагать регионы и рассчитывать решение для каждого региона отдельно, однако, в качестве проблем YOLO указывается плохое качество распознавания объектов сложной формы или группы небольших объектов из-за ограниченного числа кандидатов для ограничивающих рамок.</a:t>
            </a:r>
            <a:br>
              <a:rPr lang="ru-RU" sz="2800" dirty="0"/>
            </a:br>
            <a:r>
              <a:rPr lang="ru-RU" sz="2800" dirty="0"/>
              <a:t/>
            </a: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5</a:t>
            </a:fld>
            <a:endParaRPr lang="ru-RU" noProof="0" dirty="0"/>
          </a:p>
        </p:txBody>
      </p:sp>
    </p:spTree>
    <p:extLst>
      <p:ext uri="{BB962C8B-B14F-4D97-AF65-F5344CB8AC3E}">
        <p14:creationId xmlns:p14="http://schemas.microsoft.com/office/powerpoint/2010/main" val="4284027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Разбиваем изображение на S*S блоков</a:t>
            </a:r>
          </a:p>
          <a:p>
            <a:pPr marL="0" indent="0">
              <a:buNone/>
            </a:pPr>
            <a:r>
              <a:rPr lang="ru-RU" sz="2800" dirty="0"/>
              <a:t>• Для каждого блока предсказываем B прямоугольников</a:t>
            </a:r>
          </a:p>
          <a:p>
            <a:pPr marL="0" indent="0">
              <a:buNone/>
            </a:pPr>
            <a:r>
              <a:rPr lang="ru-RU" sz="2800" dirty="0"/>
              <a:t>• Для каждого прямоугольника:</a:t>
            </a:r>
          </a:p>
          <a:p>
            <a:pPr marL="276225" lvl="1" indent="0">
              <a:buNone/>
            </a:pPr>
            <a:r>
              <a:rPr lang="ru-RU" sz="2600" dirty="0"/>
              <a:t>• Координаты</a:t>
            </a:r>
          </a:p>
          <a:p>
            <a:pPr marL="276225" lvl="1" indent="0">
              <a:buNone/>
            </a:pPr>
            <a:r>
              <a:rPr lang="ru-RU" sz="2600" dirty="0"/>
              <a:t>• Вероятность наличия объекта</a:t>
            </a:r>
          </a:p>
          <a:p>
            <a:pPr marL="276225" lvl="1" indent="0">
              <a:buNone/>
            </a:pPr>
            <a:r>
              <a:rPr lang="ru-RU" sz="2600" dirty="0"/>
              <a:t>• Вероятность каждого класса при условии наличия объекта </a:t>
            </a:r>
            <a:br>
              <a:rPr lang="ru-RU" sz="2600" dirty="0"/>
            </a:br>
            <a:endParaRPr lang="ru-RU" sz="26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6</a:t>
            </a:fld>
            <a:endParaRPr lang="ru-RU" noProof="0" dirty="0"/>
          </a:p>
        </p:txBody>
      </p:sp>
    </p:spTree>
    <p:extLst>
      <p:ext uri="{BB962C8B-B14F-4D97-AF65-F5344CB8AC3E}">
        <p14:creationId xmlns:p14="http://schemas.microsoft.com/office/powerpoint/2010/main" val="32147520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smtClean="0"/>
              <a:t> </a:t>
            </a:r>
            <a:r>
              <a:rPr lang="ru-RU" sz="2800" dirty="0"/>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7</a:t>
            </a:fld>
            <a:endParaRPr lang="ru-RU" noProof="0" dirty="0"/>
          </a:p>
        </p:txBody>
      </p:sp>
      <p:pic>
        <p:nvPicPr>
          <p:cNvPr id="3" name="Рисунок 2"/>
          <p:cNvPicPr>
            <a:picLocks noChangeAspect="1"/>
          </p:cNvPicPr>
          <p:nvPr/>
        </p:nvPicPr>
        <p:blipFill>
          <a:blip r:embed="rId2"/>
          <a:stretch>
            <a:fillRect/>
          </a:stretch>
        </p:blipFill>
        <p:spPr>
          <a:xfrm>
            <a:off x="1645183" y="1039091"/>
            <a:ext cx="9595060" cy="5152159"/>
          </a:xfrm>
          <a:prstGeom prst="rect">
            <a:avLst/>
          </a:prstGeom>
        </p:spPr>
      </p:pic>
    </p:spTree>
    <p:extLst>
      <p:ext uri="{BB962C8B-B14F-4D97-AF65-F5344CB8AC3E}">
        <p14:creationId xmlns:p14="http://schemas.microsoft.com/office/powerpoint/2010/main" val="12942508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smtClean="0"/>
              <a:t> </a:t>
            </a:r>
            <a:r>
              <a:rPr lang="ru-RU" sz="2800" dirty="0"/>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8</a:t>
            </a:fld>
            <a:endParaRPr lang="ru-RU" noProof="0" dirty="0"/>
          </a:p>
        </p:txBody>
      </p:sp>
      <p:pic>
        <p:nvPicPr>
          <p:cNvPr id="6" name="Рисунок 5"/>
          <p:cNvPicPr>
            <a:picLocks noChangeAspect="1"/>
          </p:cNvPicPr>
          <p:nvPr/>
        </p:nvPicPr>
        <p:blipFill>
          <a:blip r:embed="rId2"/>
          <a:stretch>
            <a:fillRect/>
          </a:stretch>
        </p:blipFill>
        <p:spPr>
          <a:xfrm>
            <a:off x="431999" y="1131459"/>
            <a:ext cx="11265279" cy="3540294"/>
          </a:xfrm>
          <a:prstGeom prst="rect">
            <a:avLst/>
          </a:prstGeom>
        </p:spPr>
      </p:pic>
    </p:spTree>
    <p:extLst>
      <p:ext uri="{BB962C8B-B14F-4D97-AF65-F5344CB8AC3E}">
        <p14:creationId xmlns:p14="http://schemas.microsoft.com/office/powerpoint/2010/main" val="23767007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YOLOv2, YOLOv3</a:t>
            </a:r>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Улучшенная версия модели </a:t>
            </a:r>
            <a:r>
              <a:rPr lang="ru-RU" sz="2800" dirty="0" smtClean="0"/>
              <a:t>YOLOv2 </a:t>
            </a:r>
            <a:r>
              <a:rPr lang="ru-RU" sz="2800" dirty="0"/>
              <a:t>отличается от предшественницы использованием </a:t>
            </a:r>
            <a:r>
              <a:rPr lang="ru-RU" sz="2800" dirty="0" err="1"/>
              <a:t>батчевой</a:t>
            </a:r>
            <a:r>
              <a:rPr lang="ru-RU" sz="2800" dirty="0"/>
              <a:t> нормализации на свёрточных слоях, обучением модели на изображениях с повышенным разрешением, использованием ключевых рамок для предсказания местонахождения объектов, использованием кластеризации </a:t>
            </a:r>
            <a:r>
              <a:rPr lang="ru-RU" sz="2800" dirty="0" err="1"/>
              <a:t>алгоримтом</a:t>
            </a:r>
            <a:r>
              <a:rPr lang="ru-RU" sz="2800" dirty="0"/>
              <a:t> </a:t>
            </a:r>
            <a:r>
              <a:rPr lang="ru-RU" sz="2800" dirty="0" smtClean="0"/>
              <a:t>k-средних </a:t>
            </a:r>
            <a:r>
              <a:rPr lang="ru-RU" sz="2800" dirty="0"/>
              <a:t>для обучения более эффективного выбора размеров ограничивающих рамок на тренировочной выборке с использованием функции расстояния на основе </a:t>
            </a:r>
            <a:r>
              <a:rPr lang="ru-RU" sz="2800" dirty="0" err="1"/>
              <a:t>IoU</a:t>
            </a:r>
            <a:r>
              <a:rPr lang="ru-RU" sz="2800" dirty="0" smtClean="0"/>
              <a:t>: </a:t>
            </a:r>
            <a:r>
              <a:rPr lang="ru-RU" sz="2800" dirty="0" err="1" smtClean="0"/>
              <a:t>dist</a:t>
            </a:r>
            <a:r>
              <a:rPr lang="ru-RU" sz="2800" dirty="0" smtClean="0"/>
              <a:t>(</a:t>
            </a:r>
            <a:r>
              <a:rPr lang="ru-RU" sz="2800" dirty="0" err="1" smtClean="0"/>
              <a:t>x,c</a:t>
            </a:r>
            <a:r>
              <a:rPr lang="ru-RU" sz="2800" baseline="-25000" dirty="0" err="1" smtClean="0"/>
              <a:t>i</a:t>
            </a:r>
            <a:r>
              <a:rPr lang="ru-RU" sz="2800" dirty="0"/>
              <a:t>)=1−IoU(</a:t>
            </a:r>
            <a:r>
              <a:rPr lang="ru-RU" sz="2800" dirty="0" err="1"/>
              <a:t>x,c</a:t>
            </a:r>
            <a:r>
              <a:rPr lang="ru-RU" sz="2800" baseline="-25000" dirty="0" err="1"/>
              <a:t>i</a:t>
            </a:r>
            <a:r>
              <a:rPr lang="ru-RU" sz="2800" dirty="0"/>
              <a:t>)</a:t>
            </a:r>
          </a:p>
          <a:p>
            <a:pPr marL="0" indent="0">
              <a:buNone/>
            </a:pPr>
            <a:r>
              <a:rPr lang="ru-RU" sz="2800" dirty="0" smtClean="0"/>
              <a:t>где x — </a:t>
            </a:r>
            <a:r>
              <a:rPr lang="ru-RU" sz="2800" dirty="0"/>
              <a:t>настоящая ограничивающая рамка, </a:t>
            </a:r>
            <a:r>
              <a:rPr lang="ru-RU" sz="2800" dirty="0" err="1" smtClean="0"/>
              <a:t>c</a:t>
            </a:r>
            <a:r>
              <a:rPr lang="ru-RU" sz="2800" baseline="-25000" dirty="0" err="1" smtClean="0"/>
              <a:t>i</a:t>
            </a:r>
            <a:r>
              <a:rPr lang="ru-RU" sz="2800" baseline="-25000" dirty="0" smtClean="0"/>
              <a:t> </a:t>
            </a:r>
            <a:r>
              <a:rPr lang="ru-RU" sz="2800" dirty="0" smtClean="0"/>
              <a:t>— </a:t>
            </a:r>
            <a:r>
              <a:rPr lang="ru-RU" sz="2800" dirty="0" err="1"/>
              <a:t>центроид</a:t>
            </a:r>
            <a:r>
              <a:rPr lang="ru-RU" sz="2800" dirty="0"/>
              <a:t> кластера. Количество ограничивающих рамок-</a:t>
            </a:r>
            <a:r>
              <a:rPr lang="ru-RU" sz="2800" dirty="0" err="1"/>
              <a:t>центроидов</a:t>
            </a:r>
            <a:r>
              <a:rPr lang="ru-RU" sz="2800" dirty="0"/>
              <a:t> выбирается при помощи "метода локтя" (англ. </a:t>
            </a:r>
            <a:r>
              <a:rPr lang="ru-RU" sz="2800" dirty="0" err="1"/>
              <a:t>elbow</a:t>
            </a:r>
            <a:r>
              <a:rPr lang="ru-RU" sz="2800" dirty="0"/>
              <a:t> </a:t>
            </a:r>
            <a:r>
              <a:rPr lang="ru-RU" sz="2800" dirty="0" err="1"/>
              <a:t>method</a:t>
            </a:r>
            <a:r>
              <a:rPr lang="ru-RU" sz="2800" dirty="0"/>
              <a:t>). </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9</a:t>
            </a:fld>
            <a:endParaRPr lang="ru-RU" noProof="0" dirty="0"/>
          </a:p>
        </p:txBody>
      </p:sp>
    </p:spTree>
    <p:extLst>
      <p:ext uri="{BB962C8B-B14F-4D97-AF65-F5344CB8AC3E}">
        <p14:creationId xmlns:p14="http://schemas.microsoft.com/office/powerpoint/2010/main" val="32449159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YOLOv2, YOLOv3</a:t>
            </a:r>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Также в YOLOv2 используется предположение, что ограничивающиеся рамки не слишком отклоняются от местоположения центра, что обеспечивает стабильность на фоне менее эффективного равномерного выбора рамок-кандидатов по всему исходному изображению. </a:t>
            </a:r>
            <a:r>
              <a:rPr lang="ru-RU" sz="2800" dirty="0" smtClean="0"/>
              <a:t>Датасет YOLO9000</a:t>
            </a:r>
            <a:r>
              <a:rPr lang="ru-RU" sz="2800" dirty="0"/>
              <a:t>, представленный в той же статье и названный согласно использованию 9000 лучших классов </a:t>
            </a:r>
            <a:r>
              <a:rPr lang="ru-RU" sz="2800" dirty="0" err="1"/>
              <a:t>ImageNet</a:t>
            </a:r>
            <a:r>
              <a:rPr lang="ru-RU" sz="2800" dirty="0"/>
              <a:t>, использует древовидную структуру классов, учитывая их вложенность. Например, если среди классов есть метка "Персидская кошка", это будет означать, что найденный объект будет подклассом метки "Кошка". Таким образом, не возникает взаимной исключительности классов, и </a:t>
            </a:r>
            <a:r>
              <a:rPr lang="ru-RU" sz="2800" dirty="0" err="1"/>
              <a:t>softmax</a:t>
            </a:r>
            <a:r>
              <a:rPr lang="ru-RU" sz="2800" dirty="0"/>
              <a:t> ко всем классам не применяется. </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10</a:t>
            </a:fld>
            <a:endParaRPr lang="ru-RU" noProof="0" dirty="0"/>
          </a:p>
        </p:txBody>
      </p:sp>
    </p:spTree>
    <p:extLst>
      <p:ext uri="{BB962C8B-B14F-4D97-AF65-F5344CB8AC3E}">
        <p14:creationId xmlns:p14="http://schemas.microsoft.com/office/powerpoint/2010/main" val="73515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YOLOv2, YOLOv3</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11</a:t>
            </a:fld>
            <a:endParaRPr lang="ru-RU" noProof="0" dirty="0"/>
          </a:p>
        </p:txBody>
      </p:sp>
      <p:pic>
        <p:nvPicPr>
          <p:cNvPr id="8195" name="Picture 3" descr="Файл:YOLO9000.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5302" y="1137119"/>
            <a:ext cx="7838901" cy="462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8180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YOLOv2, YOLOv3</a:t>
            </a:r>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Чтобы предсказать вероятность узла класса, мы можем следовать по пути от узла к корню:</a:t>
            </a:r>
          </a:p>
          <a:p>
            <a:pPr marL="0" indent="0">
              <a:buNone/>
            </a:pPr>
            <a:r>
              <a:rPr lang="ru-RU" sz="2800" dirty="0" smtClean="0"/>
              <a:t>p(</a:t>
            </a:r>
            <a:r>
              <a:rPr lang="ru-RU" sz="2800" dirty="0" err="1" smtClean="0"/>
              <a:t>persian</a:t>
            </a:r>
            <a:r>
              <a:rPr lang="ru-RU" sz="2800" dirty="0" smtClean="0"/>
              <a:t> </a:t>
            </a:r>
            <a:r>
              <a:rPr lang="ru-RU" sz="2800" dirty="0" err="1" smtClean="0"/>
              <a:t>cat|object</a:t>
            </a:r>
            <a:r>
              <a:rPr lang="ru-RU" sz="2800" dirty="0"/>
              <a:t>)=</a:t>
            </a:r>
            <a:r>
              <a:rPr lang="ru-RU" sz="2800" dirty="0" smtClean="0"/>
              <a:t>p(</a:t>
            </a:r>
            <a:r>
              <a:rPr lang="ru-RU" sz="2800" dirty="0" err="1" smtClean="0"/>
              <a:t>persian</a:t>
            </a:r>
            <a:r>
              <a:rPr lang="ru-RU" sz="2800" dirty="0" smtClean="0"/>
              <a:t> </a:t>
            </a:r>
            <a:r>
              <a:rPr lang="ru-RU" sz="2800" dirty="0" err="1" smtClean="0"/>
              <a:t>cat|cat</a:t>
            </a:r>
            <a:r>
              <a:rPr lang="ru-RU" sz="2800" dirty="0"/>
              <a:t>)⋅</a:t>
            </a:r>
            <a:r>
              <a:rPr lang="ru-RU" sz="2800" dirty="0" smtClean="0"/>
              <a:t>p(</a:t>
            </a:r>
            <a:r>
              <a:rPr lang="ru-RU" sz="2800" dirty="0" err="1" smtClean="0"/>
              <a:t>cat|animal</a:t>
            </a:r>
            <a:r>
              <a:rPr lang="ru-RU" sz="2800" dirty="0"/>
              <a:t>)⋅</a:t>
            </a:r>
            <a:r>
              <a:rPr lang="ru-RU" sz="2800" dirty="0" smtClean="0"/>
              <a:t>p(</a:t>
            </a:r>
            <a:r>
              <a:rPr lang="ru-RU" sz="2800" dirty="0" err="1" smtClean="0"/>
              <a:t>animal|object</a:t>
            </a:r>
            <a:r>
              <a:rPr lang="ru-RU" sz="2800" dirty="0"/>
              <a:t>)⋅</a:t>
            </a:r>
            <a:r>
              <a:rPr lang="ru-RU" sz="2800" dirty="0" smtClean="0"/>
              <a:t>p(</a:t>
            </a:r>
            <a:r>
              <a:rPr lang="ru-RU" sz="2800" dirty="0" err="1" smtClean="0"/>
              <a:t>object</a:t>
            </a:r>
            <a:r>
              <a:rPr lang="ru-RU" sz="2800" dirty="0"/>
              <a:t>)</a:t>
            </a:r>
          </a:p>
          <a:p>
            <a:pPr marL="0" indent="0">
              <a:buNone/>
            </a:pPr>
            <a:r>
              <a:rPr lang="ru-RU" sz="2800" dirty="0" smtClean="0"/>
              <a:t>p(</a:t>
            </a:r>
            <a:r>
              <a:rPr lang="ru-RU" sz="2800" dirty="0" err="1" smtClean="0"/>
              <a:t>object</a:t>
            </a:r>
            <a:r>
              <a:rPr lang="ru-RU" sz="2800" dirty="0" smtClean="0"/>
              <a:t>)— </a:t>
            </a:r>
            <a:r>
              <a:rPr lang="ru-RU" sz="2800" dirty="0"/>
              <a:t>вероятность обнаружения объекта, вычисленная на этапе генерации ограничительных рамок. Путь прогнозирования условной вероятности может остановиться на любом этапе, в зависимости от того, какие метки доступны</a:t>
            </a:r>
            <a:r>
              <a:rPr lang="ru-RU" sz="2800" dirty="0" smtClean="0"/>
              <a:t>.</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Tree>
    <p:extLst>
      <p:ext uri="{BB962C8B-B14F-4D97-AF65-F5344CB8AC3E}">
        <p14:creationId xmlns:p14="http://schemas.microsoft.com/office/powerpoint/2010/main" val="30751128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YOLOv2, YOLOv3</a:t>
            </a:r>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smtClean="0"/>
              <a:t>YOLOv3, </a:t>
            </a:r>
            <a:r>
              <a:rPr lang="ru-RU" sz="2800" dirty="0"/>
              <a:t>в свою очередь, является небольшим улучшением YOLOv2 — используется логистическая регрессия для оценок достоверностей ограничивающих рамок вместо суммы квадратов ошибок для условий классификации в YOLO и YOLOv2; использование нескольких независимых логистических классификаторов для каждого класса вместо одного слоя </a:t>
            </a:r>
            <a:r>
              <a:rPr lang="ru-RU" sz="2800" dirty="0" err="1"/>
              <a:t>softmax</a:t>
            </a:r>
            <a:r>
              <a:rPr lang="ru-RU" sz="2800" dirty="0"/>
              <a:t>; добавление межуровневых соединений между уровнями прогнозирования ограничивающих рамок; использование архитектур </a:t>
            </a:r>
            <a:r>
              <a:rPr lang="ru-RU" sz="2800" dirty="0" err="1"/>
              <a:t>DarkNet</a:t>
            </a:r>
            <a:r>
              <a:rPr lang="ru-RU" sz="2800" dirty="0"/>
              <a:t> и </a:t>
            </a:r>
            <a:r>
              <a:rPr lang="ru-RU" sz="2800" dirty="0" err="1"/>
              <a:t>ResNet</a:t>
            </a:r>
            <a:r>
              <a:rPr lang="ru-RU" sz="2800" dirty="0"/>
              <a:t> для свёрточных сетей</a:t>
            </a:r>
            <a:r>
              <a:rPr lang="ru-RU" sz="2800" dirty="0" smtClean="0"/>
              <a:t>.</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spTree>
    <p:extLst>
      <p:ext uri="{BB962C8B-B14F-4D97-AF65-F5344CB8AC3E}">
        <p14:creationId xmlns:p14="http://schemas.microsoft.com/office/powerpoint/2010/main" val="11143488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YOLO8</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С технической точки зрения, YOLOv8 — это группа моделей сверточных нейронных сетей, созданных и обученных с помощью </a:t>
            </a:r>
            <a:r>
              <a:rPr lang="ru-RU" sz="2800" dirty="0" err="1"/>
              <a:t>фреймворка</a:t>
            </a:r>
            <a:r>
              <a:rPr lang="ru-RU" sz="2800" dirty="0"/>
              <a:t> PyTorch. </a:t>
            </a:r>
            <a:endParaRPr lang="ru-RU" sz="2800" dirty="0" smtClean="0"/>
          </a:p>
          <a:p>
            <a:pPr marL="0" indent="0">
              <a:buNone/>
            </a:pPr>
            <a:r>
              <a:rPr lang="ru-RU" sz="2800" dirty="0" smtClean="0"/>
              <a:t>Пакет </a:t>
            </a:r>
            <a:r>
              <a:rPr lang="ru-RU" sz="2800" dirty="0"/>
              <a:t>YOLOv8 предоставляет единый API Python для работы со всеми ними с использованием одних и тех же методов. YOLOv8 имеет разные типы моделей для каждой из исследуемых задач, которые в свою очередь имеют градацию по размерности.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14</a:t>
            </a:fld>
            <a:endParaRPr lang="ru-RU" noProof="0" dirty="0"/>
          </a:p>
        </p:txBody>
      </p:sp>
      <p:pic>
        <p:nvPicPr>
          <p:cNvPr id="3" name="Рисунок 2"/>
          <p:cNvPicPr>
            <a:picLocks noChangeAspect="1"/>
          </p:cNvPicPr>
          <p:nvPr/>
        </p:nvPicPr>
        <p:blipFill>
          <a:blip r:embed="rId2"/>
          <a:stretch>
            <a:fillRect/>
          </a:stretch>
        </p:blipFill>
        <p:spPr>
          <a:xfrm>
            <a:off x="2163300" y="3841846"/>
            <a:ext cx="7745472" cy="2732222"/>
          </a:xfrm>
          <a:prstGeom prst="rect">
            <a:avLst/>
          </a:prstGeom>
        </p:spPr>
      </p:pic>
    </p:spTree>
    <p:extLst>
      <p:ext uri="{BB962C8B-B14F-4D97-AF65-F5344CB8AC3E}">
        <p14:creationId xmlns:p14="http://schemas.microsoft.com/office/powerpoint/2010/main" val="27373448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YOLO8</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Чем выше размерность модели, тем лучшего качества можно достичь, но тем медленнее её скорость работы. Возможности YOLOv8 позволяют решать не только задачу мультиклассовой классификации изображения, но и задачу детекции кузова с последующей классификацией к детектируемой области, что в свою очередь может помочь увеличить точность модели за счёт определения конкретного участка, исключая из изображения побочные объекты. </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Tree>
    <p:extLst>
      <p:ext uri="{BB962C8B-B14F-4D97-AF65-F5344CB8AC3E}">
        <p14:creationId xmlns:p14="http://schemas.microsoft.com/office/powerpoint/2010/main" val="471323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Создатели YOLOv9 сосредоточились на повышении эффективности, чтобы добиться производительности в реальном времени на более широком спектре устройств. Они представили два ключевых нововведения: 1) Новая модель архитектуры под названием Общая эффективная сеть агрегации уровней (GELAN) это максимизирует точность при минимизации параметров и FLOP. 2) Технология обучения под названием Информация о программируемом градиенте (PGI) это обеспечивает более надежные градиенты обучения, особенно для небольших моделей. YOLOv9 использует новую архитектуру сети - GELAN. Объединив две </a:t>
            </a:r>
            <a:r>
              <a:rPr lang="ru-RU" sz="2800" dirty="0" err="1"/>
              <a:t>нейросетевые</a:t>
            </a:r>
            <a:r>
              <a:rPr lang="ru-RU" sz="2800" dirty="0"/>
              <a:t> архитектуры, </a:t>
            </a:r>
            <a:r>
              <a:rPr lang="ru-RU" sz="2800" dirty="0" err="1" smtClean="0"/>
              <a:t>СSРNet</a:t>
            </a:r>
            <a:r>
              <a:rPr lang="ru-RU" sz="2800" dirty="0" smtClean="0"/>
              <a:t> </a:t>
            </a:r>
            <a:r>
              <a:rPr lang="ru-RU" sz="2800" dirty="0"/>
              <a:t>и </a:t>
            </a:r>
            <a:r>
              <a:rPr lang="ru-RU" sz="2800" dirty="0" smtClean="0"/>
              <a:t>ЕLАN, </a:t>
            </a:r>
            <a:r>
              <a:rPr lang="ru-RU" sz="2800" dirty="0"/>
              <a:t>в которых реализовано градиентное планирование пути, была разработана эффективная агрегированная сеть слоев (GELAN). Ее общая архитектура показана на рисунке</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spTree>
    <p:extLst>
      <p:ext uri="{BB962C8B-B14F-4D97-AF65-F5344CB8AC3E}">
        <p14:creationId xmlns:p14="http://schemas.microsoft.com/office/powerpoint/2010/main" val="18215762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pic>
        <p:nvPicPr>
          <p:cNvPr id="3" name="Объект 2"/>
          <p:cNvPicPr>
            <a:picLocks noGrp="1" noChangeAspect="1"/>
          </p:cNvPicPr>
          <p:nvPr>
            <p:ph idx="1"/>
          </p:nvPr>
        </p:nvPicPr>
        <p:blipFill>
          <a:blip r:embed="rId2"/>
          <a:stretch>
            <a:fillRect/>
          </a:stretch>
        </p:blipFill>
        <p:spPr>
          <a:xfrm>
            <a:off x="375178" y="1188721"/>
            <a:ext cx="10714000" cy="4544952"/>
          </a:xfrm>
          <a:prstGeom prst="rect">
            <a:avLst/>
          </a:prstGeom>
        </p:spPr>
      </p:pic>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Tree>
    <p:extLst>
      <p:ext uri="{BB962C8B-B14F-4D97-AF65-F5344CB8AC3E}">
        <p14:creationId xmlns:p14="http://schemas.microsoft.com/office/powerpoint/2010/main" val="37181455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GELAN обобщает возможности </a:t>
            </a:r>
            <a:r>
              <a:rPr lang="ru-RU" sz="2800" dirty="0" smtClean="0"/>
              <a:t>ЕLАN, </a:t>
            </a:r>
            <a:r>
              <a:rPr lang="ru-RU" sz="2800" dirty="0"/>
              <a:t>которая изначально использовала только суммирование свёрточных </a:t>
            </a:r>
            <a:r>
              <a:rPr lang="ru-RU" sz="2800" dirty="0" smtClean="0"/>
              <a:t>слоев, </a:t>
            </a:r>
            <a:r>
              <a:rPr lang="ru-RU" sz="2800" dirty="0"/>
              <a:t>до новой архитектуры, которая может использовать любые вычислительные блоки</a:t>
            </a:r>
            <a:r>
              <a:rPr lang="ru-RU" sz="2800" dirty="0" smtClean="0"/>
              <a:t>.</a:t>
            </a:r>
          </a:p>
          <a:p>
            <a:pPr marL="0" indent="0">
              <a:buNone/>
            </a:pPr>
            <a:r>
              <a:rPr lang="ru-RU" sz="2800" dirty="0"/>
              <a:t>Чтобы решить </a:t>
            </a:r>
            <a:r>
              <a:rPr lang="ru-RU" sz="2800" dirty="0" err="1"/>
              <a:t>решить</a:t>
            </a:r>
            <a:r>
              <a:rPr lang="ru-RU" sz="2800" dirty="0"/>
              <a:t> проблему потери информации об исходных данных при увеличении глубины нейронной сети, YOLOv9 использует новую вспомогательную систему наблюдения, называемую программируемой информацией о градиентах (PGI), как показано на </a:t>
            </a:r>
            <a:r>
              <a:rPr lang="ru-RU" sz="2800" dirty="0" smtClean="0"/>
              <a:t>рисунке, </a:t>
            </a:r>
            <a:r>
              <a:rPr lang="ru-RU" sz="2800" dirty="0"/>
              <a:t>PGI в основном включает три компонента, а именно (1) основную ветвь, (2) вспомогательную обратимую ветвь и (3) многоуровневую вспомогательную информацию.</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Tree>
    <p:extLst>
      <p:ext uri="{BB962C8B-B14F-4D97-AF65-F5344CB8AC3E}">
        <p14:creationId xmlns:p14="http://schemas.microsoft.com/office/powerpoint/2010/main" val="31675669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pic>
        <p:nvPicPr>
          <p:cNvPr id="3" name="Объект 2"/>
          <p:cNvPicPr>
            <a:picLocks noGrp="1" noChangeAspect="1"/>
          </p:cNvPicPr>
          <p:nvPr>
            <p:ph idx="1"/>
          </p:nvPr>
        </p:nvPicPr>
        <p:blipFill>
          <a:blip r:embed="rId2"/>
          <a:stretch>
            <a:fillRect/>
          </a:stretch>
        </p:blipFill>
        <p:spPr>
          <a:xfrm>
            <a:off x="2775539" y="1039813"/>
            <a:ext cx="6640921" cy="5151437"/>
          </a:xfrm>
          <a:prstGeom prst="rect">
            <a:avLst/>
          </a:prstGeom>
        </p:spPr>
      </p:pic>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spTree>
    <p:extLst>
      <p:ext uri="{BB962C8B-B14F-4D97-AF65-F5344CB8AC3E}">
        <p14:creationId xmlns:p14="http://schemas.microsoft.com/office/powerpoint/2010/main" val="17895358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pic>
        <p:nvPicPr>
          <p:cNvPr id="3" name="Объект 2"/>
          <p:cNvPicPr>
            <a:picLocks noGrp="1" noChangeAspect="1"/>
          </p:cNvPicPr>
          <p:nvPr>
            <p:ph idx="1"/>
          </p:nvPr>
        </p:nvPicPr>
        <p:blipFill>
          <a:blip r:embed="rId2"/>
          <a:stretch>
            <a:fillRect/>
          </a:stretch>
        </p:blipFill>
        <p:spPr>
          <a:xfrm>
            <a:off x="1874361" y="432000"/>
            <a:ext cx="7918032" cy="5970975"/>
          </a:xfrm>
          <a:prstGeom prst="rect">
            <a:avLst/>
          </a:prstGeom>
        </p:spPr>
      </p:pic>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spTree>
    <p:extLst>
      <p:ext uri="{BB962C8B-B14F-4D97-AF65-F5344CB8AC3E}">
        <p14:creationId xmlns:p14="http://schemas.microsoft.com/office/powerpoint/2010/main" val="21203905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Из рисунка </a:t>
            </a:r>
            <a:r>
              <a:rPr lang="ru-RU" sz="2800" dirty="0" smtClean="0"/>
              <a:t>(который про </a:t>
            </a:r>
            <a:r>
              <a:rPr lang="en-US" sz="2800" dirty="0" smtClean="0"/>
              <a:t>YOLO5)</a:t>
            </a:r>
            <a:r>
              <a:rPr lang="ru-RU" sz="2800" dirty="0" smtClean="0"/>
              <a:t> </a:t>
            </a:r>
            <a:r>
              <a:rPr lang="ru-RU" sz="2800" dirty="0"/>
              <a:t>видно, что процесс вывода в PGI использует только основную ветвь и, следовательно, не требует каких-либо дополнительных затрат на вывод. Что касается двух других компонентов, то они используются для решения или замедления нескольких важных проблем в методах глубокого обучения. Среди них вспомогательная обратимая ветвь предназначена для решения проблем, вызванных углублением нейронных сетей. Углубление сети вызовет информационную недостаточность, что сделает функцию потерь неспособной генерировать надежные </a:t>
            </a:r>
            <a:r>
              <a:rPr lang="ru-RU" sz="2800" dirty="0" smtClean="0"/>
              <a:t>градиенты.</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Tree>
    <p:extLst>
      <p:ext uri="{BB962C8B-B14F-4D97-AF65-F5344CB8AC3E}">
        <p14:creationId xmlns:p14="http://schemas.microsoft.com/office/powerpoint/2010/main" val="417205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Что касается многоуровневой вспомогательной информации, то она предназначена для решения проблемы накопления ошибок, вызванной глубоким наблюдением, особенно для архитектуры и облегченной модели ветвления с множественным предсказанием. Архитектура PGI и связанные с ним архитектуры приведены на рисунке</a:t>
            </a: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22</a:t>
            </a:fld>
            <a:endParaRPr lang="ru-RU" noProof="0" dirty="0"/>
          </a:p>
        </p:txBody>
      </p:sp>
    </p:spTree>
    <p:extLst>
      <p:ext uri="{BB962C8B-B14F-4D97-AF65-F5344CB8AC3E}">
        <p14:creationId xmlns:p14="http://schemas.microsoft.com/office/powerpoint/2010/main" val="5127842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YOLO9</a:t>
            </a:r>
            <a:endParaRPr lang="ru-RU" dirty="0"/>
          </a:p>
        </p:txBody>
      </p:sp>
      <p:pic>
        <p:nvPicPr>
          <p:cNvPr id="3" name="Объект 2"/>
          <p:cNvPicPr>
            <a:picLocks noGrp="1" noChangeAspect="1"/>
          </p:cNvPicPr>
          <p:nvPr>
            <p:ph idx="1"/>
          </p:nvPr>
        </p:nvPicPr>
        <p:blipFill>
          <a:blip r:embed="rId2"/>
          <a:stretch>
            <a:fillRect/>
          </a:stretch>
        </p:blipFill>
        <p:spPr>
          <a:xfrm>
            <a:off x="467932" y="1246910"/>
            <a:ext cx="10843744" cy="4563686"/>
          </a:xfrm>
          <a:prstGeom prst="rect">
            <a:avLst/>
          </a:prstGeom>
        </p:spPr>
      </p:pic>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spTree>
    <p:extLst>
      <p:ext uri="{BB962C8B-B14F-4D97-AF65-F5344CB8AC3E}">
        <p14:creationId xmlns:p14="http://schemas.microsoft.com/office/powerpoint/2010/main" val="26352370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r>
              <a:rPr lang="en-US" dirty="0" smtClean="0"/>
              <a:t>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smtClean="0"/>
              <a:t>Ключевые особенности YOLOv9: </a:t>
            </a:r>
          </a:p>
          <a:p>
            <a:r>
              <a:rPr lang="ru-RU" sz="2800" dirty="0" smtClean="0"/>
              <a:t>YOLOv9-Small </a:t>
            </a:r>
            <a:r>
              <a:rPr lang="ru-RU" sz="2800" dirty="0"/>
              <a:t>превосходит YOLO-MS-</a:t>
            </a:r>
            <a:r>
              <a:rPr lang="ru-RU" sz="2800" dirty="0" err="1"/>
              <a:t>Small</a:t>
            </a:r>
            <a:r>
              <a:rPr lang="ru-RU" sz="2800" dirty="0"/>
              <a:t>, имея на 10 % меньше параметров и вычислений. </a:t>
            </a:r>
            <a:endParaRPr lang="ru-RU" sz="2800" dirty="0" smtClean="0"/>
          </a:p>
          <a:p>
            <a:r>
              <a:rPr lang="ru-RU" sz="2800" dirty="0" smtClean="0"/>
              <a:t>YOLOv9-Medium </a:t>
            </a:r>
            <a:r>
              <a:rPr lang="ru-RU" sz="2800" dirty="0"/>
              <a:t>соответствует более тяжелым моделям YOLOv7, использующим менее половины ресурсов. </a:t>
            </a:r>
            <a:endParaRPr lang="ru-RU" sz="2800" dirty="0" smtClean="0"/>
          </a:p>
          <a:p>
            <a:r>
              <a:rPr lang="ru-RU" sz="2800" dirty="0" smtClean="0"/>
              <a:t>YOLOv9-Large </a:t>
            </a:r>
            <a:r>
              <a:rPr lang="ru-RU" sz="2800" dirty="0"/>
              <a:t>превосходит YOLOv8-X: на 15 % меньше параметров и на 25 % меньше FLOP. </a:t>
            </a:r>
            <a:endParaRPr lang="ru-RU" sz="2800" dirty="0" smtClean="0"/>
          </a:p>
          <a:p>
            <a:r>
              <a:rPr lang="ru-RU" sz="2800" dirty="0" smtClean="0"/>
              <a:t>Примечательно</a:t>
            </a:r>
            <a:r>
              <a:rPr lang="ru-RU" sz="2800" dirty="0"/>
              <a:t>, что меньшие модели YOLOv9 даже превосходят более тяжелые модели других детекторов, которые используют предварительное обучение, например, RT-DETR-X. </a:t>
            </a:r>
            <a:endParaRPr lang="ru-RU" sz="2800" dirty="0" smtClean="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spTree>
    <p:extLst>
      <p:ext uri="{BB962C8B-B14F-4D97-AF65-F5344CB8AC3E}">
        <p14:creationId xmlns:p14="http://schemas.microsoft.com/office/powerpoint/2010/main" val="36234393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YOLO</a:t>
            </a:r>
            <a:r>
              <a:rPr lang="en-US" dirty="0" smtClean="0"/>
              <a:t>9</a:t>
            </a:r>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YOLOv9 имеет 5 типов размерностей модели</a:t>
            </a:r>
          </a:p>
          <a:p>
            <a:pPr marL="0" indent="0">
              <a:buNone/>
            </a:pP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pic>
        <p:nvPicPr>
          <p:cNvPr id="3" name="Рисунок 2"/>
          <p:cNvPicPr>
            <a:picLocks noChangeAspect="1"/>
          </p:cNvPicPr>
          <p:nvPr/>
        </p:nvPicPr>
        <p:blipFill>
          <a:blip r:embed="rId2"/>
          <a:stretch>
            <a:fillRect/>
          </a:stretch>
        </p:blipFill>
        <p:spPr>
          <a:xfrm>
            <a:off x="1290637" y="1888201"/>
            <a:ext cx="9610725" cy="3181350"/>
          </a:xfrm>
          <a:prstGeom prst="rect">
            <a:avLst/>
          </a:prstGeom>
        </p:spPr>
      </p:pic>
    </p:spTree>
    <p:extLst>
      <p:ext uri="{BB962C8B-B14F-4D97-AF65-F5344CB8AC3E}">
        <p14:creationId xmlns:p14="http://schemas.microsoft.com/office/powerpoint/2010/main" val="7143823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rtlCol="0">
            <a:normAutofit/>
          </a:bodyPr>
          <a:lstStyle/>
          <a:p>
            <a:pPr rtl="0"/>
            <a:r>
              <a:rPr lang="ru-RU" dirty="0" smtClean="0"/>
              <a:t>Кейс «</a:t>
            </a:r>
            <a:r>
              <a:rPr lang="ru-RU" smtClean="0"/>
              <a:t>Мусорная проблема»</a:t>
            </a:r>
            <a:endParaRPr lang="ru-RU" dirty="0"/>
          </a:p>
        </p:txBody>
      </p:sp>
      <p:sp>
        <p:nvSpPr>
          <p:cNvPr id="3" name="Подзаголовок 2"/>
          <p:cNvSpPr>
            <a:spLocks noGrp="1"/>
          </p:cNvSpPr>
          <p:nvPr>
            <p:ph type="subTitle" idx="1"/>
          </p:nvPr>
        </p:nvSpPr>
        <p:spPr/>
        <p:txBody>
          <a:bodyPr rtlCol="0"/>
          <a:lstStyle/>
          <a:p>
            <a:pPr rtl="0"/>
            <a:r>
              <a:rPr lang="ru-RU" dirty="0">
                <a:solidFill>
                  <a:schemeClr val="tx1">
                    <a:lumMod val="95000"/>
                  </a:schemeClr>
                </a:solidFill>
              </a:rPr>
              <a:t>к</a:t>
            </a:r>
            <a:r>
              <a:rPr lang="ru-RU" dirty="0" smtClean="0">
                <a:solidFill>
                  <a:schemeClr val="tx1">
                    <a:lumMod val="95000"/>
                  </a:schemeClr>
                </a:solidFill>
              </a:rPr>
              <a:t>.т.н., доцент ОНК «Институт высоких технологий» Ткаченко С.Н.</a:t>
            </a:r>
            <a:endParaRPr lang="ru-RU" dirty="0">
              <a:solidFill>
                <a:schemeClr val="tx1">
                  <a:lumMod val="95000"/>
                </a:schemeClr>
              </a:solidFill>
            </a:endParaRPr>
          </a:p>
        </p:txBody>
      </p:sp>
    </p:spTree>
    <p:extLst>
      <p:ext uri="{BB962C8B-B14F-4D97-AF65-F5344CB8AC3E}">
        <p14:creationId xmlns:p14="http://schemas.microsoft.com/office/powerpoint/2010/main" val="159480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Реальность</a:t>
            </a:r>
            <a:endParaRPr lang="ru-RU" dirty="0"/>
          </a:p>
        </p:txBody>
      </p:sp>
      <p:pic>
        <p:nvPicPr>
          <p:cNvPr id="5" name="Объект 4"/>
          <p:cNvPicPr>
            <a:picLocks noGrp="1" noChangeAspect="1"/>
          </p:cNvPicPr>
          <p:nvPr>
            <p:ph sz="half" idx="1"/>
          </p:nvPr>
        </p:nvPicPr>
        <p:blipFill>
          <a:blip r:embed="rId2"/>
          <a:stretch>
            <a:fillRect/>
          </a:stretch>
        </p:blipFill>
        <p:spPr>
          <a:xfrm>
            <a:off x="1066800" y="2420094"/>
            <a:ext cx="4751388" cy="3046512"/>
          </a:xfrm>
          <a:prstGeom prst="rect">
            <a:avLst/>
          </a:prstGeom>
        </p:spPr>
      </p:pic>
      <p:pic>
        <p:nvPicPr>
          <p:cNvPr id="6" name="Объект 5"/>
          <p:cNvPicPr>
            <a:picLocks noGrp="1" noChangeAspect="1"/>
          </p:cNvPicPr>
          <p:nvPr>
            <p:ph sz="half" idx="2"/>
          </p:nvPr>
        </p:nvPicPr>
        <p:blipFill>
          <a:blip r:embed="rId3"/>
          <a:stretch>
            <a:fillRect/>
          </a:stretch>
        </p:blipFill>
        <p:spPr>
          <a:xfrm>
            <a:off x="6373813" y="2420095"/>
            <a:ext cx="4751387" cy="3013370"/>
          </a:xfrm>
          <a:prstGeom prst="rect">
            <a:avLst/>
          </a:prstGeom>
        </p:spPr>
      </p:pic>
    </p:spTree>
    <p:extLst>
      <p:ext uri="{BB962C8B-B14F-4D97-AF65-F5344CB8AC3E}">
        <p14:creationId xmlns:p14="http://schemas.microsoft.com/office/powerpoint/2010/main" val="308194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Реальность</a:t>
            </a:r>
            <a:endParaRPr lang="ru-RU" dirty="0"/>
          </a:p>
        </p:txBody>
      </p:sp>
      <p:pic>
        <p:nvPicPr>
          <p:cNvPr id="10" name="Объект 9"/>
          <p:cNvPicPr>
            <a:picLocks noGrp="1" noChangeAspect="1"/>
          </p:cNvPicPr>
          <p:nvPr>
            <p:ph sz="half" idx="2"/>
          </p:nvPr>
        </p:nvPicPr>
        <p:blipFill>
          <a:blip r:embed="rId2"/>
          <a:stretch>
            <a:fillRect/>
          </a:stretch>
        </p:blipFill>
        <p:spPr>
          <a:xfrm>
            <a:off x="6373813" y="2400888"/>
            <a:ext cx="4751387" cy="3084923"/>
          </a:xfrm>
          <a:prstGeom prst="rect">
            <a:avLst/>
          </a:prstGeom>
        </p:spPr>
      </p:pic>
      <p:pic>
        <p:nvPicPr>
          <p:cNvPr id="7" name="Объект 6"/>
          <p:cNvPicPr>
            <a:picLocks noGrp="1" noChangeAspect="1"/>
          </p:cNvPicPr>
          <p:nvPr>
            <p:ph sz="half" idx="1"/>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1066800" y="2415596"/>
            <a:ext cx="4751388" cy="3055507"/>
          </a:xfrm>
          <a:prstGeom prst="rect">
            <a:avLst/>
          </a:prstGeom>
        </p:spPr>
      </p:pic>
    </p:spTree>
    <p:extLst>
      <p:ext uri="{BB962C8B-B14F-4D97-AF65-F5344CB8AC3E}">
        <p14:creationId xmlns:p14="http://schemas.microsoft.com/office/powerpoint/2010/main" val="3158281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Проблема</a:t>
            </a:r>
            <a:endParaRPr lang="ru-RU" dirty="0"/>
          </a:p>
        </p:txBody>
      </p:sp>
      <p:sp>
        <p:nvSpPr>
          <p:cNvPr id="3" name="Объект 2"/>
          <p:cNvSpPr>
            <a:spLocks noGrp="1"/>
          </p:cNvSpPr>
          <p:nvPr>
            <p:ph idx="1"/>
          </p:nvPr>
        </p:nvSpPr>
        <p:spPr/>
        <p:txBody>
          <a:bodyPr rtlCol="0"/>
          <a:lstStyle/>
          <a:p>
            <a:pPr marL="0" indent="0">
              <a:buNone/>
            </a:pPr>
            <a:r>
              <a:rPr lang="ru-RU" dirty="0" smtClean="0"/>
              <a:t>Как от реальности перейти к ИС на основе ИИ?</a:t>
            </a:r>
            <a:endParaRPr lang="ru-RU" dirty="0"/>
          </a:p>
        </p:txBody>
      </p:sp>
    </p:spTree>
    <p:extLst>
      <p:ext uri="{BB962C8B-B14F-4D97-AF65-F5344CB8AC3E}">
        <p14:creationId xmlns:p14="http://schemas.microsoft.com/office/powerpoint/2010/main" val="22881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Идеализация</a:t>
            </a:r>
            <a:endParaRPr lang="ru-RU" dirty="0"/>
          </a:p>
        </p:txBody>
      </p:sp>
      <p:pic>
        <p:nvPicPr>
          <p:cNvPr id="4" name="Объект 3"/>
          <p:cNvPicPr>
            <a:picLocks noGrp="1" noChangeAspect="1"/>
          </p:cNvPicPr>
          <p:nvPr>
            <p:ph idx="1"/>
          </p:nvPr>
        </p:nvPicPr>
        <p:blipFill>
          <a:blip r:embed="rId3"/>
          <a:stretch>
            <a:fillRect/>
          </a:stretch>
        </p:blipFill>
        <p:spPr>
          <a:xfrm>
            <a:off x="2197825" y="1714500"/>
            <a:ext cx="7796350" cy="4457700"/>
          </a:xfrm>
          <a:prstGeom prst="rect">
            <a:avLst/>
          </a:prstGeom>
        </p:spPr>
      </p:pic>
    </p:spTree>
    <p:extLst>
      <p:ext uri="{BB962C8B-B14F-4D97-AF65-F5344CB8AC3E}">
        <p14:creationId xmlns:p14="http://schemas.microsoft.com/office/powerpoint/2010/main" val="367470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Технологии</a:t>
            </a:r>
            <a:endParaRPr lang="ru-RU" dirty="0"/>
          </a:p>
        </p:txBody>
      </p:sp>
      <p:pic>
        <p:nvPicPr>
          <p:cNvPr id="5" name="Объект 4"/>
          <p:cNvPicPr>
            <a:picLocks noGrp="1" noChangeAspect="1"/>
          </p:cNvPicPr>
          <p:nvPr>
            <p:ph sz="half" idx="1"/>
          </p:nvPr>
        </p:nvPicPr>
        <p:blipFill>
          <a:blip r:embed="rId3"/>
          <a:stretch>
            <a:fillRect/>
          </a:stretch>
        </p:blipFill>
        <p:spPr>
          <a:xfrm>
            <a:off x="737047" y="1714501"/>
            <a:ext cx="2019300" cy="1800225"/>
          </a:xfrm>
          <a:prstGeom prst="rect">
            <a:avLst/>
          </a:prstGeom>
        </p:spPr>
      </p:pic>
      <p:sp>
        <p:nvSpPr>
          <p:cNvPr id="4" name="Объект 3"/>
          <p:cNvSpPr>
            <a:spLocks noGrp="1"/>
          </p:cNvSpPr>
          <p:nvPr>
            <p:ph sz="half" idx="2"/>
          </p:nvPr>
        </p:nvSpPr>
        <p:spPr>
          <a:xfrm>
            <a:off x="2975957" y="1714501"/>
            <a:ext cx="8149244" cy="4457700"/>
          </a:xfrm>
        </p:spPr>
        <p:txBody>
          <a:bodyPr>
            <a:normAutofit/>
          </a:bodyPr>
          <a:lstStyle/>
          <a:p>
            <a:pPr marL="0" indent="0">
              <a:buNone/>
            </a:pPr>
            <a:r>
              <a:rPr lang="ru-RU" dirty="0" err="1"/>
              <a:t>make</a:t>
            </a:r>
            <a:r>
              <a:rPr lang="ru-RU" dirty="0"/>
              <a:t> sense.ai - это бесплатный онлайн-инструмент для маркировки фотографий. Благодаря использованию браузера, он не требует сложной установки - просто посетите веб-сайт, и все готово к работе. Также не имеет значения, на какой операционной системе вы работаете - мы делаем все возможное, чтобы она была по-настоящему кроссплатформенной. Она идеально подходит для небольших проектов по глубокому обучению </a:t>
            </a:r>
            <a:r>
              <a:rPr lang="ru-RU" dirty="0" smtClean="0"/>
              <a:t>компьютерного зрения, </a:t>
            </a:r>
            <a:r>
              <a:rPr lang="ru-RU" dirty="0"/>
              <a:t>что значительно упрощает и ускоряет процесс подготовки набора данных. Готовые этикетки можно загрузить в одном из множества поддерживаемых форматов. Приложение было написано на </a:t>
            </a:r>
            <a:r>
              <a:rPr lang="ru-RU" dirty="0" err="1"/>
              <a:t>TypeScript</a:t>
            </a:r>
            <a:r>
              <a:rPr lang="ru-RU" dirty="0"/>
              <a:t> и основано на </a:t>
            </a:r>
            <a:r>
              <a:rPr lang="ru-RU" dirty="0" err="1"/>
              <a:t>React</a:t>
            </a:r>
            <a:r>
              <a:rPr lang="ru-RU" dirty="0"/>
              <a:t>/</a:t>
            </a:r>
            <a:r>
              <a:rPr lang="ru-RU" dirty="0" err="1"/>
              <a:t>Redux</a:t>
            </a:r>
            <a:r>
              <a:rPr lang="ru-RU" dirty="0"/>
              <a:t> </a:t>
            </a:r>
            <a:r>
              <a:rPr lang="ru-RU" dirty="0" err="1"/>
              <a:t>duo</a:t>
            </a:r>
            <a:r>
              <a:rPr lang="ru-RU" dirty="0"/>
              <a:t>.</a:t>
            </a:r>
          </a:p>
        </p:txBody>
      </p:sp>
    </p:spTree>
    <p:extLst>
      <p:ext uri="{BB962C8B-B14F-4D97-AF65-F5344CB8AC3E}">
        <p14:creationId xmlns:p14="http://schemas.microsoft.com/office/powerpoint/2010/main" val="35752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Технологии</a:t>
            </a:r>
            <a:endParaRPr lang="ru-RU" dirty="0"/>
          </a:p>
        </p:txBody>
      </p:sp>
      <p:sp>
        <p:nvSpPr>
          <p:cNvPr id="4" name="Объект 3"/>
          <p:cNvSpPr>
            <a:spLocks noGrp="1"/>
          </p:cNvSpPr>
          <p:nvPr>
            <p:ph sz="half" idx="2"/>
          </p:nvPr>
        </p:nvSpPr>
        <p:spPr>
          <a:xfrm>
            <a:off x="2227811" y="1714501"/>
            <a:ext cx="9285316" cy="4457700"/>
          </a:xfrm>
        </p:spPr>
        <p:txBody>
          <a:bodyPr>
            <a:normAutofit fontScale="85000" lnSpcReduction="20000"/>
          </a:bodyPr>
          <a:lstStyle/>
          <a:p>
            <a:pPr marL="0" indent="0">
              <a:buNone/>
            </a:pPr>
            <a:r>
              <a:rPr lang="ru-RU" dirty="0" err="1"/>
              <a:t>OpenCV</a:t>
            </a:r>
            <a:r>
              <a:rPr lang="ru-RU" dirty="0"/>
              <a:t> (</a:t>
            </a:r>
            <a:r>
              <a:rPr lang="ru-RU" dirty="0" err="1"/>
              <a:t>Open</a:t>
            </a:r>
            <a:r>
              <a:rPr lang="ru-RU" dirty="0"/>
              <a:t> </a:t>
            </a:r>
            <a:r>
              <a:rPr lang="ru-RU" dirty="0" err="1"/>
              <a:t>Source</a:t>
            </a:r>
            <a:r>
              <a:rPr lang="ru-RU" dirty="0"/>
              <a:t> </a:t>
            </a:r>
            <a:r>
              <a:rPr lang="ru-RU" dirty="0" err="1"/>
              <a:t>Computer</a:t>
            </a:r>
            <a:r>
              <a:rPr lang="ru-RU" dirty="0"/>
              <a:t> </a:t>
            </a:r>
            <a:r>
              <a:rPr lang="ru-RU" dirty="0" err="1"/>
              <a:t>Vision</a:t>
            </a:r>
            <a:r>
              <a:rPr lang="ru-RU" dirty="0"/>
              <a:t> </a:t>
            </a:r>
            <a:r>
              <a:rPr lang="ru-RU" dirty="0" err="1"/>
              <a:t>Library</a:t>
            </a:r>
            <a:r>
              <a:rPr lang="ru-RU" dirty="0"/>
              <a:t>) — это </a:t>
            </a:r>
            <a:r>
              <a:rPr lang="ru-RU" dirty="0" smtClean="0"/>
              <a:t>открытая библиотека </a:t>
            </a:r>
            <a:r>
              <a:rPr lang="ru-RU" dirty="0"/>
              <a:t>для работы с алгоритмами компьютерного зрения, машинным обучением и обработкой изображений</a:t>
            </a:r>
            <a:r>
              <a:rPr lang="ru-RU" dirty="0" smtClean="0"/>
              <a:t>.</a:t>
            </a:r>
          </a:p>
          <a:p>
            <a:pPr marL="0" indent="0">
              <a:buNone/>
            </a:pPr>
            <a:r>
              <a:rPr lang="ru-RU" dirty="0" err="1"/>
              <a:t>OpenCV</a:t>
            </a:r>
            <a:r>
              <a:rPr lang="ru-RU" dirty="0"/>
              <a:t> применяется:</a:t>
            </a:r>
          </a:p>
          <a:p>
            <a:r>
              <a:rPr lang="ru-RU" b="1" dirty="0"/>
              <a:t>в робототехнике</a:t>
            </a:r>
            <a:r>
              <a:rPr lang="ru-RU" dirty="0"/>
              <a:t> </a:t>
            </a:r>
            <a:r>
              <a:rPr lang="ru-RU" b="1" dirty="0"/>
              <a:t>—</a:t>
            </a:r>
            <a:r>
              <a:rPr lang="ru-RU" dirty="0"/>
              <a:t> для ориентирования робота в пространстве, распознавания объектов и взаимодействия с ними;</a:t>
            </a:r>
          </a:p>
          <a:p>
            <a:r>
              <a:rPr lang="ru-RU" b="1" dirty="0"/>
              <a:t>медицинских технологиях</a:t>
            </a:r>
            <a:r>
              <a:rPr lang="ru-RU" dirty="0"/>
              <a:t> </a:t>
            </a:r>
            <a:r>
              <a:rPr lang="ru-RU" b="1" dirty="0"/>
              <a:t>—</a:t>
            </a:r>
            <a:r>
              <a:rPr lang="ru-RU" dirty="0"/>
              <a:t> для создания точных методов диагностики, например 3D-визуализации органа при МРТ;</a:t>
            </a:r>
          </a:p>
          <a:p>
            <a:r>
              <a:rPr lang="ru-RU" b="1" dirty="0"/>
              <a:t>промышленных технологиях</a:t>
            </a:r>
            <a:r>
              <a:rPr lang="ru-RU" dirty="0"/>
              <a:t> </a:t>
            </a:r>
            <a:r>
              <a:rPr lang="ru-RU" b="1" dirty="0"/>
              <a:t>—</a:t>
            </a:r>
            <a:r>
              <a:rPr lang="ru-RU" dirty="0"/>
              <a:t> для автоматизированного контроля качества, считывания этикеток, сортировки продуктов и пр.;</a:t>
            </a:r>
          </a:p>
          <a:p>
            <a:r>
              <a:rPr lang="ru-RU" b="1" dirty="0"/>
              <a:t>безопасности</a:t>
            </a:r>
            <a:r>
              <a:rPr lang="ru-RU" dirty="0"/>
              <a:t> </a:t>
            </a:r>
            <a:r>
              <a:rPr lang="ru-RU" b="1" dirty="0"/>
              <a:t>—</a:t>
            </a:r>
            <a:r>
              <a:rPr lang="ru-RU" dirty="0"/>
              <a:t> для создания «умных» камер видеонаблюдения, которые реагируют на подозрительные действия, для считывания и распознавания биометрии;</a:t>
            </a:r>
          </a:p>
          <a:p>
            <a:r>
              <a:rPr lang="ru-RU" b="1" dirty="0"/>
              <a:t>мобильной фотографии —</a:t>
            </a:r>
            <a:r>
              <a:rPr lang="ru-RU" dirty="0"/>
              <a:t> для создания </a:t>
            </a:r>
            <a:r>
              <a:rPr lang="ru-RU" dirty="0" err="1"/>
              <a:t>бьюти</a:t>
            </a:r>
            <a:r>
              <a:rPr lang="ru-RU" dirty="0"/>
              <a:t>-фильтров, изменяющих лицо приложений;</a:t>
            </a:r>
          </a:p>
          <a:p>
            <a:r>
              <a:rPr lang="ru-RU" b="1" dirty="0"/>
              <a:t>на транспорте</a:t>
            </a:r>
            <a:r>
              <a:rPr lang="ru-RU" dirty="0"/>
              <a:t> </a:t>
            </a:r>
            <a:r>
              <a:rPr lang="ru-RU" b="1" dirty="0"/>
              <a:t>—</a:t>
            </a:r>
            <a:r>
              <a:rPr lang="ru-RU" dirty="0"/>
              <a:t> для разработки автопилотов</a:t>
            </a:r>
            <a:r>
              <a:rPr lang="ru-RU" dirty="0" smtClean="0"/>
              <a:t>.</a:t>
            </a:r>
            <a:endParaRPr lang="ru-RU" dirty="0"/>
          </a:p>
        </p:txBody>
      </p:sp>
      <p:pic>
        <p:nvPicPr>
          <p:cNvPr id="6" name="Объект 5"/>
          <p:cNvPicPr>
            <a:picLocks noGrp="1" noChangeAspect="1"/>
          </p:cNvPicPr>
          <p:nvPr>
            <p:ph sz="half" idx="1"/>
          </p:nvPr>
        </p:nvPicPr>
        <p:blipFill>
          <a:blip r:embed="rId3"/>
          <a:stretch>
            <a:fillRect/>
          </a:stretch>
        </p:blipFill>
        <p:spPr>
          <a:xfrm>
            <a:off x="701040" y="1794768"/>
            <a:ext cx="1085850" cy="1171575"/>
          </a:xfrm>
          <a:prstGeom prst="rect">
            <a:avLst/>
          </a:prstGeom>
        </p:spPr>
      </p:pic>
    </p:spTree>
    <p:extLst>
      <p:ext uri="{BB962C8B-B14F-4D97-AF65-F5344CB8AC3E}">
        <p14:creationId xmlns:p14="http://schemas.microsoft.com/office/powerpoint/2010/main" val="268521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Технологии</a:t>
            </a:r>
            <a:endParaRPr lang="ru-RU" dirty="0"/>
          </a:p>
        </p:txBody>
      </p:sp>
      <p:sp>
        <p:nvSpPr>
          <p:cNvPr id="4" name="Объект 3"/>
          <p:cNvSpPr>
            <a:spLocks noGrp="1"/>
          </p:cNvSpPr>
          <p:nvPr>
            <p:ph sz="half" idx="2"/>
          </p:nvPr>
        </p:nvSpPr>
        <p:spPr>
          <a:xfrm>
            <a:off x="2227811" y="1714501"/>
            <a:ext cx="9285316" cy="4457700"/>
          </a:xfrm>
        </p:spPr>
        <p:txBody>
          <a:bodyPr>
            <a:normAutofit lnSpcReduction="10000"/>
          </a:bodyPr>
          <a:lstStyle/>
          <a:p>
            <a:pPr marL="0" indent="0">
              <a:spcBef>
                <a:spcPts val="600"/>
              </a:spcBef>
              <a:buNone/>
            </a:pPr>
            <a:r>
              <a:rPr lang="ru-RU" dirty="0" err="1"/>
              <a:t>opencv_core</a:t>
            </a:r>
            <a:r>
              <a:rPr lang="ru-RU" dirty="0"/>
              <a:t> — основная функциональность. Включает в себя базовые структуры, вычисления (математические функции, генераторы случайных чисел) и линейную алгебру, DFT, DCT, ввод-вывод для XML и YAML.</a:t>
            </a:r>
          </a:p>
          <a:p>
            <a:pPr marL="0" indent="0">
              <a:spcBef>
                <a:spcPts val="600"/>
              </a:spcBef>
              <a:buNone/>
            </a:pPr>
            <a:r>
              <a:rPr lang="ru-RU" dirty="0" err="1"/>
              <a:t>opencv_imgproc</a:t>
            </a:r>
            <a:r>
              <a:rPr lang="ru-RU" dirty="0"/>
              <a:t> — обработка изображений (фильтрация, геометрические преобразования, преобразование цветовых пространств).</a:t>
            </a:r>
          </a:p>
          <a:p>
            <a:pPr marL="0" indent="0">
              <a:spcBef>
                <a:spcPts val="600"/>
              </a:spcBef>
              <a:buNone/>
            </a:pPr>
            <a:r>
              <a:rPr lang="ru-RU" dirty="0" err="1" smtClean="0"/>
              <a:t>opencv_ml</a:t>
            </a:r>
            <a:r>
              <a:rPr lang="ru-RU" dirty="0" smtClean="0"/>
              <a:t> </a:t>
            </a:r>
            <a:r>
              <a:rPr lang="ru-RU" dirty="0"/>
              <a:t>— модели машинного обучения (SVM, деревья решений, обучение со стимулированием и т. д.).</a:t>
            </a:r>
          </a:p>
          <a:p>
            <a:pPr marL="0" indent="0">
              <a:spcBef>
                <a:spcPts val="600"/>
              </a:spcBef>
              <a:buNone/>
            </a:pPr>
            <a:r>
              <a:rPr lang="ru-RU" dirty="0"/>
              <a:t>opencv_features2d — распознавание и описание плоских примитивов (SURF[англ.], FAST и другие, включая специализированный </a:t>
            </a:r>
            <a:r>
              <a:rPr lang="ru-RU" dirty="0" err="1"/>
              <a:t>фреймворк</a:t>
            </a:r>
            <a:r>
              <a:rPr lang="ru-RU" dirty="0"/>
              <a:t>).</a:t>
            </a:r>
          </a:p>
          <a:p>
            <a:pPr marL="0" indent="0">
              <a:spcBef>
                <a:spcPts val="600"/>
              </a:spcBef>
              <a:buNone/>
            </a:pPr>
            <a:r>
              <a:rPr lang="ru-RU" dirty="0" err="1"/>
              <a:t>opencv_video</a:t>
            </a:r>
            <a:r>
              <a:rPr lang="ru-RU" dirty="0"/>
              <a:t> — анализ движения и отслеживание объектов (оптический поток, шаблоны движения, устранение фона).</a:t>
            </a:r>
          </a:p>
          <a:p>
            <a:pPr marL="0" indent="0">
              <a:spcBef>
                <a:spcPts val="600"/>
              </a:spcBef>
              <a:buNone/>
            </a:pPr>
            <a:r>
              <a:rPr lang="ru-RU" dirty="0" err="1"/>
              <a:t>opencv_objdetect</a:t>
            </a:r>
            <a:r>
              <a:rPr lang="ru-RU" dirty="0"/>
              <a:t> — обнаружение объектов на изображении (нахождение лиц с помощью алгоритма Виолы-Джонса, распознавание людей HOG).</a:t>
            </a:r>
          </a:p>
          <a:p>
            <a:pPr marL="0" indent="0">
              <a:spcBef>
                <a:spcPts val="600"/>
              </a:spcBef>
              <a:buNone/>
            </a:pPr>
            <a:r>
              <a:rPr lang="ru-RU" dirty="0"/>
              <a:t>opencv_calib3d — калибровка камеры, поиск стерео-соответствия и элементы обработки трёхмерных данных.</a:t>
            </a:r>
          </a:p>
        </p:txBody>
      </p:sp>
      <p:pic>
        <p:nvPicPr>
          <p:cNvPr id="6" name="Объект 5"/>
          <p:cNvPicPr>
            <a:picLocks noGrp="1" noChangeAspect="1"/>
          </p:cNvPicPr>
          <p:nvPr>
            <p:ph sz="half" idx="1"/>
          </p:nvPr>
        </p:nvPicPr>
        <p:blipFill>
          <a:blip r:embed="rId3"/>
          <a:stretch>
            <a:fillRect/>
          </a:stretch>
        </p:blipFill>
        <p:spPr>
          <a:xfrm>
            <a:off x="701040" y="1794768"/>
            <a:ext cx="1085850" cy="1171575"/>
          </a:xfrm>
          <a:prstGeom prst="rect">
            <a:avLst/>
          </a:prstGeom>
        </p:spPr>
      </p:pic>
    </p:spTree>
    <p:extLst>
      <p:ext uri="{BB962C8B-B14F-4D97-AF65-F5344CB8AC3E}">
        <p14:creationId xmlns:p14="http://schemas.microsoft.com/office/powerpoint/2010/main" val="2792058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Технологии</a:t>
            </a:r>
            <a:endParaRPr lang="ru-RU" dirty="0"/>
          </a:p>
        </p:txBody>
      </p:sp>
      <p:sp>
        <p:nvSpPr>
          <p:cNvPr id="4" name="Объект 3"/>
          <p:cNvSpPr>
            <a:spLocks noGrp="1"/>
          </p:cNvSpPr>
          <p:nvPr>
            <p:ph sz="half" idx="2"/>
          </p:nvPr>
        </p:nvSpPr>
        <p:spPr>
          <a:xfrm>
            <a:off x="2527068" y="1714501"/>
            <a:ext cx="8952807" cy="4457700"/>
          </a:xfrm>
        </p:spPr>
        <p:txBody>
          <a:bodyPr>
            <a:normAutofit/>
          </a:bodyPr>
          <a:lstStyle/>
          <a:p>
            <a:pPr marL="0" indent="0">
              <a:buNone/>
            </a:pPr>
            <a:r>
              <a:rPr lang="ru-RU" dirty="0"/>
              <a:t>YOLO11 это последняя </a:t>
            </a:r>
            <a:r>
              <a:rPr lang="ru-RU" dirty="0" smtClean="0"/>
              <a:t>версия </a:t>
            </a:r>
            <a:r>
              <a:rPr lang="ru-RU" dirty="0"/>
              <a:t>в </a:t>
            </a:r>
            <a:r>
              <a:rPr lang="ru-RU" dirty="0" err="1"/>
              <a:t>Ultralytics</a:t>
            </a:r>
            <a:r>
              <a:rPr lang="ru-RU" dirty="0"/>
              <a:t> YOLO серии детекторов объектов в реальном времени, заново определяющая возможные возможности благодаря передовой точности, скорости и эффективности. Основываясь на впечатляющих достижениях предыдущих версий YOLO , YOLO11 вносит значительные улучшения в архитектуру и методы обучения, что делает его универсальным выбором для широкого спектра задач компьютерного зрения.</a:t>
            </a:r>
          </a:p>
        </p:txBody>
      </p:sp>
      <p:pic>
        <p:nvPicPr>
          <p:cNvPr id="6" name="Объект 5"/>
          <p:cNvPicPr>
            <a:picLocks noGrp="1" noChangeAspect="1"/>
          </p:cNvPicPr>
          <p:nvPr>
            <p:ph sz="half" idx="1"/>
          </p:nvPr>
        </p:nvPicPr>
        <p:blipFill>
          <a:blip r:embed="rId3"/>
          <a:stretch>
            <a:fillRect/>
          </a:stretch>
        </p:blipFill>
        <p:spPr>
          <a:xfrm>
            <a:off x="504723" y="1794337"/>
            <a:ext cx="1685925" cy="590550"/>
          </a:xfrm>
          <a:prstGeom prst="rect">
            <a:avLst/>
          </a:prstGeom>
        </p:spPr>
      </p:pic>
      <p:pic>
        <p:nvPicPr>
          <p:cNvPr id="7" name="Рисунок 6"/>
          <p:cNvPicPr>
            <a:picLocks noChangeAspect="1"/>
          </p:cNvPicPr>
          <p:nvPr/>
        </p:nvPicPr>
        <p:blipFill>
          <a:blip r:embed="rId4"/>
          <a:stretch>
            <a:fillRect/>
          </a:stretch>
        </p:blipFill>
        <p:spPr>
          <a:xfrm>
            <a:off x="2741036" y="4027489"/>
            <a:ext cx="5704695" cy="2634933"/>
          </a:xfrm>
          <a:prstGeom prst="rect">
            <a:avLst/>
          </a:prstGeom>
        </p:spPr>
      </p:pic>
    </p:spTree>
    <p:extLst>
      <p:ext uri="{BB962C8B-B14F-4D97-AF65-F5344CB8AC3E}">
        <p14:creationId xmlns:p14="http://schemas.microsoft.com/office/powerpoint/2010/main" val="421174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Технологии</a:t>
            </a:r>
            <a:endParaRPr lang="ru-RU" dirty="0"/>
          </a:p>
        </p:txBody>
      </p:sp>
      <p:sp>
        <p:nvSpPr>
          <p:cNvPr id="4" name="Объект 3"/>
          <p:cNvSpPr>
            <a:spLocks noGrp="1"/>
          </p:cNvSpPr>
          <p:nvPr>
            <p:ph sz="half" idx="2"/>
          </p:nvPr>
        </p:nvSpPr>
        <p:spPr>
          <a:xfrm>
            <a:off x="2527068" y="1714501"/>
            <a:ext cx="8952807" cy="4457700"/>
          </a:xfrm>
        </p:spPr>
        <p:txBody>
          <a:bodyPr>
            <a:normAutofit lnSpcReduction="10000"/>
          </a:bodyPr>
          <a:lstStyle/>
          <a:p>
            <a:pPr marL="0" indent="0">
              <a:buNone/>
            </a:pPr>
            <a:r>
              <a:rPr lang="ru-RU" dirty="0"/>
              <a:t>YOLO (</a:t>
            </a:r>
            <a:r>
              <a:rPr lang="ru-RU" dirty="0" err="1"/>
              <a:t>You</a:t>
            </a:r>
            <a:r>
              <a:rPr lang="ru-RU" dirty="0"/>
              <a:t> </a:t>
            </a:r>
            <a:r>
              <a:rPr lang="ru-RU" dirty="0" err="1"/>
              <a:t>Only</a:t>
            </a:r>
            <a:r>
              <a:rPr lang="ru-RU" dirty="0"/>
              <a:t> </a:t>
            </a:r>
            <a:r>
              <a:rPr lang="ru-RU" dirty="0" err="1"/>
              <a:t>Look</a:t>
            </a:r>
            <a:r>
              <a:rPr lang="ru-RU" dirty="0"/>
              <a:t> </a:t>
            </a:r>
            <a:r>
              <a:rPr lang="ru-RU" dirty="0" err="1"/>
              <a:t>Once</a:t>
            </a:r>
            <a:r>
              <a:rPr lang="ru-RU" dirty="0"/>
              <a:t>) - популярная модель обнаружения объектов и сегментации изображений, разработанная Джозефом </a:t>
            </a:r>
            <a:r>
              <a:rPr lang="ru-RU" dirty="0" err="1"/>
              <a:t>Редмоном</a:t>
            </a:r>
            <a:r>
              <a:rPr lang="ru-RU" dirty="0"/>
              <a:t> и Али </a:t>
            </a:r>
            <a:r>
              <a:rPr lang="ru-RU" dirty="0" err="1"/>
              <a:t>Фархади</a:t>
            </a:r>
            <a:r>
              <a:rPr lang="ru-RU" dirty="0"/>
              <a:t> в Университете Вашингтона. Выпущенная в 2015 году, YOLO завоевала популярность благодаря своей высокой скорости и точности.</a:t>
            </a:r>
          </a:p>
          <a:p>
            <a:pPr marL="0" indent="0">
              <a:buNone/>
            </a:pPr>
            <a:r>
              <a:rPr lang="ru-RU" dirty="0" smtClean="0"/>
              <a:t>YOLOv5 </a:t>
            </a:r>
            <a:r>
              <a:rPr lang="ru-RU" dirty="0"/>
              <a:t>еще больше повысила производительность модели и добавила новые функции, такие как оптимизация гиперпараметров, интегрированное отслеживание экспериментов и автоматический экспорт в популярные форматы.</a:t>
            </a:r>
          </a:p>
          <a:p>
            <a:pPr marL="0" indent="0">
              <a:buNone/>
            </a:pPr>
            <a:r>
              <a:rPr lang="ru-RU" dirty="0" smtClean="0"/>
              <a:t>YOLOv8 </a:t>
            </a:r>
            <a:r>
              <a:rPr lang="ru-RU" dirty="0"/>
              <a:t>Выпущенная в 2023 году компанией </a:t>
            </a:r>
            <a:r>
              <a:rPr lang="ru-RU" dirty="0" err="1"/>
              <a:t>Ultralytics</a:t>
            </a:r>
            <a:r>
              <a:rPr lang="ru-RU" dirty="0"/>
              <a:t>, она представила новые функции и улучшения для повышения производительности, гибкости и эффективности, поддерживая полный спектр задач искусственного интеллекта зрения.</a:t>
            </a:r>
          </a:p>
          <a:p>
            <a:pPr marL="0" indent="0">
              <a:buNone/>
            </a:pPr>
            <a:r>
              <a:rPr lang="ru-RU" dirty="0" smtClean="0"/>
              <a:t>YOLO11 </a:t>
            </a:r>
            <a:r>
              <a:rPr lang="ru-RU" dirty="0"/>
              <a:t>🚀 НОВИНКА: новейшие модели YOLO от </a:t>
            </a:r>
            <a:r>
              <a:rPr lang="ru-RU" dirty="0" err="1"/>
              <a:t>Ultralytics</a:t>
            </a:r>
            <a:r>
              <a:rPr lang="ru-RU" dirty="0"/>
              <a:t> обеспечивают самую современную производительность (SOTA) в различных задачах, включая обнаружение объектов, сегментацию, оценку положения, отслеживание и классификацию, используя возможности различных приложений и областей ИИ.</a:t>
            </a:r>
          </a:p>
        </p:txBody>
      </p:sp>
      <p:pic>
        <p:nvPicPr>
          <p:cNvPr id="6" name="Объект 5"/>
          <p:cNvPicPr>
            <a:picLocks noGrp="1" noChangeAspect="1"/>
          </p:cNvPicPr>
          <p:nvPr>
            <p:ph sz="half" idx="1"/>
          </p:nvPr>
        </p:nvPicPr>
        <p:blipFill>
          <a:blip r:embed="rId3"/>
          <a:stretch>
            <a:fillRect/>
          </a:stretch>
        </p:blipFill>
        <p:spPr>
          <a:xfrm>
            <a:off x="504723" y="1794337"/>
            <a:ext cx="1685925" cy="590550"/>
          </a:xfrm>
          <a:prstGeom prst="rect">
            <a:avLst/>
          </a:prstGeom>
        </p:spPr>
      </p:pic>
    </p:spTree>
    <p:extLst>
      <p:ext uri="{BB962C8B-B14F-4D97-AF65-F5344CB8AC3E}">
        <p14:creationId xmlns:p14="http://schemas.microsoft.com/office/powerpoint/2010/main" val="18140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lstStyle/>
          <a:p>
            <a:pPr rtl="0"/>
            <a:r>
              <a:rPr lang="ru-RU" dirty="0" smtClean="0"/>
              <a:t>Схема трекинга</a:t>
            </a:r>
            <a:endParaRPr lang="ru-RU" dirty="0"/>
          </a:p>
        </p:txBody>
      </p:sp>
      <p:pic>
        <p:nvPicPr>
          <p:cNvPr id="7" name="Рисунок 6" descr="Изображение выглядит как текст, диаграмма, снимок экрана, Шрифт&#10;&#10;Автоматически созданное описание">
            <a:extLst>
              <a:ext uri="{FF2B5EF4-FFF2-40B4-BE49-F238E27FC236}">
                <a16:creationId xmlns:a16="http://schemas.microsoft.com/office/drawing/2014/main" id="{CD9DC171-81A5-EAA5-DE27-82277C3C0A43}"/>
              </a:ext>
            </a:extLst>
          </p:cNvPr>
          <p:cNvPicPr>
            <a:picLocks noChangeAspect="1"/>
          </p:cNvPicPr>
          <p:nvPr/>
        </p:nvPicPr>
        <p:blipFill>
          <a:blip r:embed="rId3"/>
          <a:stretch>
            <a:fillRect/>
          </a:stretch>
        </p:blipFill>
        <p:spPr>
          <a:xfrm>
            <a:off x="305655" y="1714501"/>
            <a:ext cx="11349317" cy="2710458"/>
          </a:xfrm>
          <a:prstGeom prst="rect">
            <a:avLst/>
          </a:prstGeom>
        </p:spPr>
      </p:pic>
      <p:sp>
        <p:nvSpPr>
          <p:cNvPr id="8" name="Объект 7"/>
          <p:cNvSpPr>
            <a:spLocks noGrp="1"/>
          </p:cNvSpPr>
          <p:nvPr>
            <p:ph sz="half" idx="2"/>
          </p:nvPr>
        </p:nvSpPr>
        <p:spPr/>
        <p:txBody>
          <a:bodyPr/>
          <a:lstStyle/>
          <a:p>
            <a:endParaRPr lang="ru-RU"/>
          </a:p>
        </p:txBody>
      </p:sp>
    </p:spTree>
    <p:extLst>
      <p:ext uri="{BB962C8B-B14F-4D97-AF65-F5344CB8AC3E}">
        <p14:creationId xmlns:p14="http://schemas.microsoft.com/office/powerpoint/2010/main" val="49585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Решение</a:t>
            </a:r>
            <a:endParaRPr lang="ru-RU" dirty="0"/>
          </a:p>
        </p:txBody>
      </p:sp>
      <p:sp>
        <p:nvSpPr>
          <p:cNvPr id="3" name="Объект 2"/>
          <p:cNvSpPr>
            <a:spLocks noGrp="1"/>
          </p:cNvSpPr>
          <p:nvPr>
            <p:ph idx="1"/>
          </p:nvPr>
        </p:nvSpPr>
        <p:spPr/>
        <p:txBody>
          <a:bodyPr/>
          <a:lstStyle/>
          <a:p>
            <a:pPr marL="0" indent="0">
              <a:buNone/>
            </a:pPr>
            <a:r>
              <a:rPr lang="ru-RU" dirty="0"/>
              <a:t>Мультиспектральные </a:t>
            </a:r>
            <a:r>
              <a:rPr lang="ru-RU" dirty="0" smtClean="0"/>
              <a:t>изображения содержат </a:t>
            </a:r>
            <a:r>
              <a:rPr lang="ru-RU" dirty="0"/>
              <a:t>информацию о </a:t>
            </a:r>
            <a:r>
              <a:rPr lang="ru-RU" dirty="0" smtClean="0"/>
              <a:t>разных диапазонах </a:t>
            </a:r>
            <a:r>
              <a:rPr lang="ru-RU" dirty="0"/>
              <a:t>длин волн и </a:t>
            </a:r>
            <a:r>
              <a:rPr lang="ru-RU" dirty="0" smtClean="0"/>
              <a:t>способах взаимодействия </a:t>
            </a:r>
            <a:r>
              <a:rPr lang="ru-RU" dirty="0"/>
              <a:t>света с объектами,</a:t>
            </a:r>
            <a:br>
              <a:rPr lang="ru-RU" dirty="0"/>
            </a:br>
            <a:r>
              <a:rPr lang="ru-RU" dirty="0"/>
              <a:t>но анализ слоёв такого изображения </a:t>
            </a:r>
            <a:r>
              <a:rPr lang="ru-RU" dirty="0" smtClean="0"/>
              <a:t>с помощью </a:t>
            </a:r>
            <a:r>
              <a:rPr lang="ru-RU" dirty="0" err="1"/>
              <a:t>OpenCV</a:t>
            </a:r>
            <a:r>
              <a:rPr lang="ru-RU" dirty="0"/>
              <a:t> не дал</a:t>
            </a:r>
            <a:br>
              <a:rPr lang="ru-RU" dirty="0"/>
            </a:br>
            <a:r>
              <a:rPr lang="ru-RU" dirty="0"/>
              <a:t>дополнительных данных для </a:t>
            </a:r>
            <a:r>
              <a:rPr lang="ru-RU" dirty="0" smtClean="0"/>
              <a:t>поиска объектов </a:t>
            </a:r>
            <a:r>
              <a:rPr lang="ru-RU" dirty="0"/>
              <a:t>и их классификации.</a:t>
            </a:r>
            <a:br>
              <a:rPr lang="ru-RU" dirty="0"/>
            </a:br>
            <a:r>
              <a:rPr lang="ru-RU" dirty="0"/>
              <a:t>Реализация решения </a:t>
            </a:r>
            <a:r>
              <a:rPr lang="ru-RU" dirty="0" smtClean="0"/>
              <a:t>без использования </a:t>
            </a:r>
            <a:r>
              <a:rPr lang="ru-RU" dirty="0"/>
              <a:t>нейросети не </a:t>
            </a:r>
            <a:r>
              <a:rPr lang="ru-RU" dirty="0" smtClean="0"/>
              <a:t>удалась.</a:t>
            </a:r>
          </a:p>
          <a:p>
            <a:pPr marL="0" indent="0">
              <a:buNone/>
            </a:pPr>
            <a:endParaRPr lang="ru-RU" dirty="0"/>
          </a:p>
        </p:txBody>
      </p:sp>
    </p:spTree>
    <p:extLst>
      <p:ext uri="{BB962C8B-B14F-4D97-AF65-F5344CB8AC3E}">
        <p14:creationId xmlns:p14="http://schemas.microsoft.com/office/powerpoint/2010/main" val="2930409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Решение</a:t>
            </a:r>
            <a:endParaRPr lang="ru-RU" dirty="0"/>
          </a:p>
        </p:txBody>
      </p:sp>
      <p:sp>
        <p:nvSpPr>
          <p:cNvPr id="5" name="Объект 4"/>
          <p:cNvSpPr>
            <a:spLocks noGrp="1"/>
          </p:cNvSpPr>
          <p:nvPr>
            <p:ph idx="1"/>
          </p:nvPr>
        </p:nvSpPr>
        <p:spPr/>
        <p:txBody>
          <a:bodyPr>
            <a:normAutofit/>
          </a:bodyPr>
          <a:lstStyle/>
          <a:p>
            <a:r>
              <a:rPr lang="ru-RU" dirty="0"/>
              <a:t>Обнаружение </a:t>
            </a:r>
            <a:r>
              <a:rPr lang="ru-RU" dirty="0" smtClean="0"/>
              <a:t>объектов (</a:t>
            </a:r>
            <a:r>
              <a:rPr lang="ru-RU" dirty="0" err="1"/>
              <a:t>object</a:t>
            </a:r>
            <a:r>
              <a:rPr lang="ru-RU" dirty="0"/>
              <a:t> </a:t>
            </a:r>
            <a:r>
              <a:rPr lang="ru-RU" dirty="0" err="1"/>
              <a:t>detection</a:t>
            </a:r>
            <a:r>
              <a:rPr lang="ru-RU" dirty="0"/>
              <a:t>). </a:t>
            </a:r>
            <a:r>
              <a:rPr lang="ru-RU" dirty="0" smtClean="0"/>
              <a:t>YOLO обеспечивает </a:t>
            </a:r>
            <a:r>
              <a:rPr lang="ru-RU" dirty="0"/>
              <a:t>точное</a:t>
            </a:r>
            <a:br>
              <a:rPr lang="ru-RU" dirty="0"/>
            </a:br>
            <a:r>
              <a:rPr lang="ru-RU" dirty="0"/>
              <a:t>обнаружение объектов </a:t>
            </a:r>
            <a:r>
              <a:rPr lang="ru-RU" dirty="0" smtClean="0"/>
              <a:t>ТБО на </a:t>
            </a:r>
            <a:r>
              <a:rPr lang="ru-RU" dirty="0"/>
              <a:t>видео, позволяя </a:t>
            </a:r>
            <a:r>
              <a:rPr lang="ru-RU" dirty="0" smtClean="0"/>
              <a:t>системе определить </a:t>
            </a:r>
            <a:r>
              <a:rPr lang="ru-RU" dirty="0"/>
              <a:t>их</a:t>
            </a:r>
            <a:br>
              <a:rPr lang="ru-RU" dirty="0"/>
            </a:br>
            <a:r>
              <a:rPr lang="ru-RU" dirty="0"/>
              <a:t>местоположение и </a:t>
            </a:r>
            <a:r>
              <a:rPr lang="ru-RU" dirty="0" smtClean="0"/>
              <a:t>класс.</a:t>
            </a:r>
          </a:p>
          <a:p>
            <a:r>
              <a:rPr lang="ru-RU" b="1" dirty="0"/>
              <a:t>Семейство </a:t>
            </a:r>
            <a:r>
              <a:rPr lang="en-US" b="1" dirty="0" smtClean="0"/>
              <a:t>SORT</a:t>
            </a:r>
            <a:r>
              <a:rPr lang="ru-RU" b="1" dirty="0" smtClean="0"/>
              <a:t>. </a:t>
            </a:r>
            <a:r>
              <a:rPr lang="ru-RU" dirty="0"/>
              <a:t>Используется </a:t>
            </a:r>
            <a:r>
              <a:rPr lang="ru-RU" dirty="0" smtClean="0"/>
              <a:t>для отслеживания </a:t>
            </a:r>
            <a:r>
              <a:rPr lang="ru-RU" dirty="0"/>
              <a:t>объектов </a:t>
            </a:r>
            <a:r>
              <a:rPr lang="ru-RU" dirty="0" smtClean="0"/>
              <a:t>во времени</a:t>
            </a:r>
            <a:r>
              <a:rPr lang="ru-RU" dirty="0"/>
              <a:t>, что </a:t>
            </a:r>
            <a:r>
              <a:rPr lang="ru-RU" dirty="0" smtClean="0"/>
              <a:t>даёт представление </a:t>
            </a:r>
            <a:r>
              <a:rPr lang="ru-RU" dirty="0"/>
              <a:t>о том, </a:t>
            </a:r>
            <a:r>
              <a:rPr lang="ru-RU" dirty="0" smtClean="0"/>
              <a:t>как они </a:t>
            </a:r>
            <a:r>
              <a:rPr lang="ru-RU" dirty="0"/>
              <a:t>двигаются на видео, и</a:t>
            </a:r>
            <a:br>
              <a:rPr lang="ru-RU" dirty="0"/>
            </a:br>
            <a:r>
              <a:rPr lang="ru-RU" dirty="0"/>
              <a:t>позволяет системе </a:t>
            </a:r>
            <a:r>
              <a:rPr lang="ru-RU" dirty="0" smtClean="0"/>
              <a:t>следить и подсчитывать количество </a:t>
            </a:r>
            <a:r>
              <a:rPr lang="ru-RU" dirty="0"/>
              <a:t>уникальных</a:t>
            </a:r>
            <a:br>
              <a:rPr lang="ru-RU" dirty="0"/>
            </a:br>
            <a:r>
              <a:rPr lang="ru-RU" dirty="0"/>
              <a:t>ТБО в потоке</a:t>
            </a:r>
            <a:r>
              <a:rPr lang="ru-RU" dirty="0" smtClean="0"/>
              <a:t>.</a:t>
            </a:r>
          </a:p>
          <a:p>
            <a:r>
              <a:rPr lang="ru-RU" dirty="0"/>
              <a:t>Использование библиотек</a:t>
            </a:r>
            <a:r>
              <a:rPr lang="ru-RU" dirty="0" smtClean="0"/>
              <a:t>: </a:t>
            </a:r>
            <a:r>
              <a:rPr lang="en-US" dirty="0" err="1" smtClean="0"/>
              <a:t>NumPy</a:t>
            </a:r>
            <a:r>
              <a:rPr lang="en-US" dirty="0"/>
              <a:t>, </a:t>
            </a:r>
            <a:r>
              <a:rPr lang="en-US" dirty="0" err="1"/>
              <a:t>OpenCV</a:t>
            </a:r>
            <a:r>
              <a:rPr lang="en-US" dirty="0"/>
              <a:t>, </a:t>
            </a:r>
            <a:r>
              <a:rPr lang="en-US" dirty="0" err="1" smtClean="0"/>
              <a:t>Matplotlib</a:t>
            </a:r>
            <a:endParaRPr lang="ru-RU" dirty="0"/>
          </a:p>
        </p:txBody>
      </p:sp>
    </p:spTree>
    <p:extLst>
      <p:ext uri="{BB962C8B-B14F-4D97-AF65-F5344CB8AC3E}">
        <p14:creationId xmlns:p14="http://schemas.microsoft.com/office/powerpoint/2010/main" val="3879621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Решение</a:t>
            </a:r>
            <a:endParaRPr lang="ru-RU" dirty="0"/>
          </a:p>
        </p:txBody>
      </p:sp>
      <p:sp>
        <p:nvSpPr>
          <p:cNvPr id="3" name="Объект 2"/>
          <p:cNvSpPr>
            <a:spLocks noGrp="1"/>
          </p:cNvSpPr>
          <p:nvPr>
            <p:ph idx="1"/>
          </p:nvPr>
        </p:nvSpPr>
        <p:spPr/>
        <p:txBody>
          <a:bodyPr/>
          <a:lstStyle/>
          <a:p>
            <a:r>
              <a:rPr lang="ru-RU" dirty="0" smtClean="0"/>
              <a:t>Комбинирование </a:t>
            </a:r>
            <a:r>
              <a:rPr lang="en-US" dirty="0" smtClean="0"/>
              <a:t>YOLO </a:t>
            </a:r>
            <a:r>
              <a:rPr lang="ru-RU" dirty="0" smtClean="0"/>
              <a:t>и </a:t>
            </a:r>
            <a:r>
              <a:rPr lang="en-US" dirty="0" smtClean="0"/>
              <a:t>SORT</a:t>
            </a:r>
          </a:p>
          <a:p>
            <a:r>
              <a:rPr lang="ru-RU" dirty="0" smtClean="0"/>
              <a:t>Аугментации</a:t>
            </a:r>
            <a:endParaRPr lang="ru-RU" dirty="0"/>
          </a:p>
        </p:txBody>
      </p:sp>
    </p:spTree>
    <p:extLst>
      <p:ext uri="{BB962C8B-B14F-4D97-AF65-F5344CB8AC3E}">
        <p14:creationId xmlns:p14="http://schemas.microsoft.com/office/powerpoint/2010/main" val="301062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descr="Изображение">
            <a:extLst>
              <a:ext uri="{FF2B5EF4-FFF2-40B4-BE49-F238E27FC236}">
                <a16:creationId xmlns:a16="http://schemas.microsoft.com/office/drawing/2014/main" id="{C4330FBA-FEA8-B941-8864-B3DEDDE8040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8" name="Надпись 37" descr="Акцент для блока заголовка">
            <a:extLst>
              <a:ext uri="{FF2B5EF4-FFF2-40B4-BE49-F238E27FC236}">
                <a16:creationId xmlns:a16="http://schemas.microsoft.com/office/drawing/2014/main" id="{B231FB9C-F234-41D0-A4CE-8C29A5F2F553}"/>
              </a:ext>
              <a:ext uri="{C183D7F6-B498-43B3-948B-1728B52AA6E4}">
                <adec:decorative xmlns:adec="http://schemas.microsoft.com/office/drawing/2017/decorative" xmlns="" val="1"/>
              </a:ext>
            </a:extLst>
          </p:cNvPr>
          <p:cNvSpPr txBox="1">
            <a:spLocks/>
          </p:cNvSpPr>
          <p:nvPr/>
        </p:nvSpPr>
        <p:spPr>
          <a:xfrm>
            <a:off x="11354303" y="3842399"/>
            <a:ext cx="846997" cy="2200275"/>
          </a:xfrm>
          <a:custGeom>
            <a:avLst/>
            <a:gdLst>
              <a:gd name="connsiteX0" fmla="*/ 99480 w 846997"/>
              <a:gd name="connsiteY0" fmla="*/ 0 h 2200275"/>
              <a:gd name="connsiteX1" fmla="*/ 846997 w 846997"/>
              <a:gd name="connsiteY1" fmla="*/ 0 h 2200275"/>
              <a:gd name="connsiteX2" fmla="*/ 846997 w 846997"/>
              <a:gd name="connsiteY2" fmla="*/ 2200275 h 2200275"/>
              <a:gd name="connsiteX3" fmla="*/ 99480 w 846997"/>
              <a:gd name="connsiteY3" fmla="*/ 2200275 h 2200275"/>
              <a:gd name="connsiteX4" fmla="*/ 0 w 846997"/>
              <a:gd name="connsiteY4" fmla="*/ 2099942 h 2200275"/>
              <a:gd name="connsiteX5" fmla="*/ 0 w 846997"/>
              <a:gd name="connsiteY5" fmla="*/ 100333 h 2200275"/>
              <a:gd name="connsiteX6" fmla="*/ 99480 w 846997"/>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997" h="2200275">
                <a:moveTo>
                  <a:pt x="99480" y="0"/>
                </a:moveTo>
                <a:lnTo>
                  <a:pt x="846997" y="0"/>
                </a:lnTo>
                <a:lnTo>
                  <a:pt x="846997" y="2200275"/>
                </a:lnTo>
                <a:lnTo>
                  <a:pt x="99480" y="2200275"/>
                </a:lnTo>
                <a:cubicBezTo>
                  <a:pt x="44539" y="2200275"/>
                  <a:pt x="0" y="2155354"/>
                  <a:pt x="0" y="2099942"/>
                </a:cubicBezTo>
                <a:lnTo>
                  <a:pt x="0" y="100333"/>
                </a:lnTo>
                <a:cubicBezTo>
                  <a:pt x="0" y="44921"/>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5" name="Равнобедренный треугольник 34" descr="Тень для блока заголовка">
            <a:extLst>
              <a:ext uri="{FF2B5EF4-FFF2-40B4-BE49-F238E27FC236}">
                <a16:creationId xmlns:a16="http://schemas.microsoft.com/office/drawing/2014/main" id="{FE193317-B8BD-46CA-B0A6-8A7511B086D9}"/>
              </a:ext>
              <a:ext uri="{C183D7F6-B498-43B3-948B-1728B52AA6E4}">
                <adec:decorative xmlns:adec="http://schemas.microsoft.com/office/drawing/2017/decorative" xmlns="" val="1"/>
              </a:ext>
            </a:extLst>
          </p:cNvPr>
          <p:cNvSpPr/>
          <p:nvPr/>
        </p:nvSpPr>
        <p:spPr>
          <a:xfrm rot="10800000">
            <a:off x="11359065" y="5556894"/>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2" name="Полилиния 5" descr="Сплошной контрастный блок">
            <a:extLst>
              <a:ext uri="{FF2B5EF4-FFF2-40B4-BE49-F238E27FC236}">
                <a16:creationId xmlns:a16="http://schemas.microsoft.com/office/drawing/2014/main" id="{85E0D4E1-E389-4671-B0E7-165A10A05425}"/>
              </a:ext>
              <a:ext uri="{C183D7F6-B498-43B3-948B-1728B52AA6E4}">
                <adec:decorative xmlns:adec="http://schemas.microsoft.com/office/drawing/2017/decorative" xmlns="" val="1"/>
              </a:ext>
            </a:extLst>
          </p:cNvPr>
          <p:cNvSpPr>
            <a:spLocks noChangeAspect="1"/>
          </p:cNvSpPr>
          <p:nvPr/>
        </p:nvSpPr>
        <p:spPr bwMode="auto">
          <a:xfrm>
            <a:off x="4257349" y="2355010"/>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3" name="Полилиния 5" descr="Пустой контрастный блок">
            <a:extLst>
              <a:ext uri="{FF2B5EF4-FFF2-40B4-BE49-F238E27FC236}">
                <a16:creationId xmlns:a16="http://schemas.microsoft.com/office/drawing/2014/main" id="{8186FEAF-6E1E-4258-94C3-5C589D4B5ADE}"/>
              </a:ext>
              <a:ext uri="{C183D7F6-B498-43B3-948B-1728B52AA6E4}">
                <adec:decorative xmlns:adec="http://schemas.microsoft.com/office/drawing/2017/decorative" xmlns=""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20" name="Заголовок 19">
            <a:extLst>
              <a:ext uri="{FF2B5EF4-FFF2-40B4-BE49-F238E27FC236}">
                <a16:creationId xmlns:a16="http://schemas.microsoft.com/office/drawing/2014/main" id="{7C11A64B-7EA5-442C-8405-73273A5331D1}"/>
              </a:ext>
            </a:extLst>
          </p:cNvPr>
          <p:cNvSpPr>
            <a:spLocks noGrp="1"/>
          </p:cNvSpPr>
          <p:nvPr>
            <p:ph type="ctrTitle"/>
          </p:nvPr>
        </p:nvSpPr>
        <p:spPr/>
        <p:txBody>
          <a:bodyPr rtlCol="0"/>
          <a:lstStyle/>
          <a:p>
            <a:pPr rtl="0"/>
            <a:r>
              <a:rPr lang="ru-RU" dirty="0"/>
              <a:t>Спасибо за внимание!</a:t>
            </a:r>
          </a:p>
        </p:txBody>
      </p:sp>
      <p:pic>
        <p:nvPicPr>
          <p:cNvPr id="8" name="Графический объект 7" descr="Пользователь">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7678512" y="3859066"/>
            <a:ext cx="218900" cy="218900"/>
          </a:xfrm>
          <a:prstGeom prst="rect">
            <a:avLst/>
          </a:prstGeom>
        </p:spPr>
      </p:pic>
      <p:sp>
        <p:nvSpPr>
          <p:cNvPr id="4" name="Текст 3">
            <a:extLst>
              <a:ext uri="{FF2B5EF4-FFF2-40B4-BE49-F238E27FC236}">
                <a16:creationId xmlns:a16="http://schemas.microsoft.com/office/drawing/2014/main" id="{60828E04-9C2A-4859-8050-C2DF67A249CB}"/>
              </a:ext>
            </a:extLst>
          </p:cNvPr>
          <p:cNvSpPr>
            <a:spLocks noGrp="1"/>
          </p:cNvSpPr>
          <p:nvPr>
            <p:ph type="body" sz="quarter" idx="15"/>
          </p:nvPr>
        </p:nvSpPr>
        <p:spPr/>
        <p:txBody>
          <a:bodyPr rtlCol="0"/>
          <a:lstStyle/>
          <a:p>
            <a:pPr rtl="0"/>
            <a:r>
              <a:rPr lang="ru-RU" sz="1800" dirty="0"/>
              <a:t>Сергей Ткаченко</a:t>
            </a:r>
          </a:p>
        </p:txBody>
      </p:sp>
      <p:pic>
        <p:nvPicPr>
          <p:cNvPr id="9" name="Графический объект 8" descr="Конверт">
            <a:extLst>
              <a:ext uri="{FF2B5EF4-FFF2-40B4-BE49-F238E27FC236}">
                <a16:creationId xmlns:a16="http://schemas.microsoft.com/office/drawing/2014/main" id="{773C1382-ACE1-460F-A1B6-AB761A7D2E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7678512" y="4253359"/>
            <a:ext cx="218900" cy="218900"/>
          </a:xfrm>
          <a:prstGeom prst="rect">
            <a:avLst/>
          </a:prstGeom>
        </p:spPr>
      </p:pic>
      <p:sp>
        <p:nvSpPr>
          <p:cNvPr id="6" name="Текст 5">
            <a:extLst>
              <a:ext uri="{FF2B5EF4-FFF2-40B4-BE49-F238E27FC236}">
                <a16:creationId xmlns:a16="http://schemas.microsoft.com/office/drawing/2014/main" id="{50A3BCC3-A277-4C0B-9EBA-EB53990D8EBD}"/>
              </a:ext>
            </a:extLst>
          </p:cNvPr>
          <p:cNvSpPr>
            <a:spLocks noGrp="1"/>
          </p:cNvSpPr>
          <p:nvPr>
            <p:ph type="body" sz="quarter" idx="17"/>
          </p:nvPr>
        </p:nvSpPr>
        <p:spPr>
          <a:xfrm>
            <a:off x="8034849" y="4246905"/>
            <a:ext cx="3521514" cy="288000"/>
          </a:xfrm>
        </p:spPr>
        <p:txBody>
          <a:bodyPr rtlCol="0"/>
          <a:lstStyle/>
          <a:p>
            <a:pPr rtl="0"/>
            <a:r>
              <a:rPr lang="en-US" sz="1800" dirty="0" err="1"/>
              <a:t>SNTkachenko</a:t>
            </a:r>
            <a:r>
              <a:rPr lang="ru-RU" sz="1800" dirty="0"/>
              <a:t>@</a:t>
            </a:r>
            <a:r>
              <a:rPr lang="en-US" sz="1800" dirty="0" err="1"/>
              <a:t>kantiana</a:t>
            </a:r>
            <a:r>
              <a:rPr lang="ru-RU" sz="1800" dirty="0"/>
              <a:t>.</a:t>
            </a:r>
            <a:r>
              <a:rPr lang="en-US" sz="1800" dirty="0" err="1"/>
              <a:t>ru</a:t>
            </a:r>
            <a:endParaRPr lang="ru-RU" sz="1800"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Тема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552_TF16411253.potx" id="{484AC4F0-DFB1-44B1-A48A-4A4E5B9BAE55}" vid="{642D7752-446B-4E16-8C1E-EACC99EB30B7}"/>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8A50AA-654B-45CA-B6AD-FDA9E9535EF9}">
  <ds:schemaRef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fb0879af-3eba-417a-a55a-ffe6dcd6ca77"/>
    <ds:schemaRef ds:uri="6dc4bcd6-49db-4c07-9060-8acfc67cef9f"/>
    <ds:schemaRef ds:uri="http://schemas.microsoft.com/sharepoint/v3"/>
  </ds:schemaRefs>
</ds:datastoreItem>
</file>

<file path=customXml/itemProps2.xml><?xml version="1.0" encoding="utf-8"?>
<ds:datastoreItem xmlns:ds="http://schemas.openxmlformats.org/officeDocument/2006/customXml" ds:itemID="{D4F06F66-218D-4D1C-873A-158A1848B8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Геометрическая презентация</Template>
  <TotalTime>0</TotalTime>
  <Words>1998</Words>
  <Application>Microsoft Office PowerPoint</Application>
  <PresentationFormat>Широкоэкранный</PresentationFormat>
  <Paragraphs>149</Paragraphs>
  <Slides>40</Slides>
  <Notes>12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40</vt:i4>
      </vt:variant>
    </vt:vector>
  </HeadingPairs>
  <TitlesOfParts>
    <vt:vector size="46" baseType="lpstr">
      <vt:lpstr>Arial</vt:lpstr>
      <vt:lpstr>Calibri</vt:lpstr>
      <vt:lpstr>Calibri Light</vt:lpstr>
      <vt:lpstr>Corbel</vt:lpstr>
      <vt:lpstr>Times New Roman</vt:lpstr>
      <vt:lpstr>Тема Office</vt:lpstr>
      <vt:lpstr>Сегментация и детекция, часть2</vt:lpstr>
      <vt:lpstr>Одноэтапные методы</vt:lpstr>
      <vt:lpstr>Презентация PowerPoint</vt:lpstr>
      <vt:lpstr>YOLO</vt:lpstr>
      <vt:lpstr>YOLO</vt:lpstr>
      <vt:lpstr>YOLO</vt:lpstr>
      <vt:lpstr>YOLO</vt:lpstr>
      <vt:lpstr>YOLO</vt:lpstr>
      <vt:lpstr>YOLOv2, YOLOv3</vt:lpstr>
      <vt:lpstr>YOLOv2, YOLOv3</vt:lpstr>
      <vt:lpstr>YOLOv2, YOLOv3</vt:lpstr>
      <vt:lpstr>YOLOv2, YOLOv3</vt:lpstr>
      <vt:lpstr>YOLOv2, YOLOv3</vt:lpstr>
      <vt:lpstr>YOLO8</vt:lpstr>
      <vt:lpstr>YOLO8</vt:lpstr>
      <vt:lpstr>YOLO9</vt:lpstr>
      <vt:lpstr>YOLO9</vt:lpstr>
      <vt:lpstr>YOLO9</vt:lpstr>
      <vt:lpstr>YOLO9</vt:lpstr>
      <vt:lpstr>YOLO9</vt:lpstr>
      <vt:lpstr>YOLO9</vt:lpstr>
      <vt:lpstr>YOLO9</vt:lpstr>
      <vt:lpstr>YOLO9</vt:lpstr>
      <vt:lpstr>YOLO9</vt:lpstr>
      <vt:lpstr>YOLO9</vt:lpstr>
      <vt:lpstr>Кейс «Мусорная проблема»</vt:lpstr>
      <vt:lpstr>Реальность</vt:lpstr>
      <vt:lpstr>Реальность</vt:lpstr>
      <vt:lpstr>Проблема</vt:lpstr>
      <vt:lpstr>Идеализация</vt:lpstr>
      <vt:lpstr>Технологии</vt:lpstr>
      <vt:lpstr>Технологии</vt:lpstr>
      <vt:lpstr>Технологии</vt:lpstr>
      <vt:lpstr>Технологии</vt:lpstr>
      <vt:lpstr>Технологии</vt:lpstr>
      <vt:lpstr>Схема трекинга</vt:lpstr>
      <vt:lpstr>Решение</vt:lpstr>
      <vt:lpstr>Решение</vt:lpstr>
      <vt:lpstr>Решение</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2025-08-26T15:19:12Z</dcterms:created>
  <dcterms:modified xsi:type="dcterms:W3CDTF">2025-11-18T09:30:33Z</dcterms:modified>
</cp:coreProperties>
</file>