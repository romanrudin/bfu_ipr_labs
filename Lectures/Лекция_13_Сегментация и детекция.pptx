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3"/>
  </p:sldMasterIdLst>
  <p:notesMasterIdLst>
    <p:notesMasterId r:id="rId58"/>
  </p:notesMasterIdLst>
  <p:handoutMasterIdLst>
    <p:handoutMasterId r:id="rId59"/>
  </p:handoutMasterIdLst>
  <p:sldIdLst>
    <p:sldId id="282" r:id="rId4"/>
    <p:sldId id="487" r:id="rId5"/>
    <p:sldId id="527" r:id="rId6"/>
    <p:sldId id="544" r:id="rId7"/>
    <p:sldId id="546" r:id="rId8"/>
    <p:sldId id="581" r:id="rId9"/>
    <p:sldId id="545" r:id="rId10"/>
    <p:sldId id="582" r:id="rId11"/>
    <p:sldId id="583" r:id="rId12"/>
    <p:sldId id="584" r:id="rId13"/>
    <p:sldId id="547" r:id="rId14"/>
    <p:sldId id="585" r:id="rId15"/>
    <p:sldId id="587" r:id="rId16"/>
    <p:sldId id="591" r:id="rId17"/>
    <p:sldId id="592" r:id="rId18"/>
    <p:sldId id="593" r:id="rId19"/>
    <p:sldId id="595" r:id="rId20"/>
    <p:sldId id="596" r:id="rId21"/>
    <p:sldId id="597" r:id="rId22"/>
    <p:sldId id="598" r:id="rId23"/>
    <p:sldId id="599" r:id="rId24"/>
    <p:sldId id="588" r:id="rId25"/>
    <p:sldId id="586" r:id="rId26"/>
    <p:sldId id="530" r:id="rId27"/>
    <p:sldId id="589" r:id="rId28"/>
    <p:sldId id="590" r:id="rId29"/>
    <p:sldId id="600" r:id="rId30"/>
    <p:sldId id="529" r:id="rId31"/>
    <p:sldId id="601" r:id="rId32"/>
    <p:sldId id="602" r:id="rId33"/>
    <p:sldId id="604" r:id="rId34"/>
    <p:sldId id="603" r:id="rId35"/>
    <p:sldId id="606" r:id="rId36"/>
    <p:sldId id="605" r:id="rId37"/>
    <p:sldId id="608" r:id="rId38"/>
    <p:sldId id="607" r:id="rId39"/>
    <p:sldId id="548" r:id="rId40"/>
    <p:sldId id="554" r:id="rId41"/>
    <p:sldId id="609" r:id="rId42"/>
    <p:sldId id="610" r:id="rId43"/>
    <p:sldId id="550" r:id="rId44"/>
    <p:sldId id="612" r:id="rId45"/>
    <p:sldId id="613" r:id="rId46"/>
    <p:sldId id="611" r:id="rId47"/>
    <p:sldId id="615" r:id="rId48"/>
    <p:sldId id="616" r:id="rId49"/>
    <p:sldId id="617" r:id="rId50"/>
    <p:sldId id="618" r:id="rId51"/>
    <p:sldId id="614" r:id="rId52"/>
    <p:sldId id="619" r:id="rId53"/>
    <p:sldId id="620" r:id="rId54"/>
    <p:sldId id="621" r:id="rId55"/>
    <p:sldId id="622" r:id="rId56"/>
    <p:sldId id="296" r:id="rId57"/>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31" autoAdjust="0"/>
  </p:normalViewPr>
  <p:slideViewPr>
    <p:cSldViewPr snapToGrid="0">
      <p:cViewPr varScale="1">
        <p:scale>
          <a:sx n="114" d="100"/>
          <a:sy n="114" d="100"/>
        </p:scale>
        <p:origin x="414" y="11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F8DD750-E9C8-498E-B02F-A465CB2BB798}" type="datetime1">
              <a:rPr lang="ru-RU" smtClean="0"/>
              <a:pPr rtl="0"/>
              <a:t>10.11.2025</a:t>
            </a:fld>
            <a:endParaRPr lang="ru-RU" dirty="0"/>
          </a:p>
        </p:txBody>
      </p:sp>
      <p:sp>
        <p:nvSpPr>
          <p:cNvPr id="4" name="Нижний колонтитул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ru-RU" smtClean="0"/>
              <a:pPr rtl="0"/>
              <a:t>‹#›</a:t>
            </a:fld>
            <a:endParaRPr lang="ru-RU"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7C6E7-B645-4B70-AC63-7A575D94CEB1}" type="datetime1">
              <a:rPr lang="ru-RU" smtClean="0"/>
              <a:pPr/>
              <a:t>10.11.2025</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ru-RU" noProof="0" smtClean="0"/>
              <a:pPr rtl="0"/>
              <a:t>‹#›</a:t>
            </a:fld>
            <a:endParaRPr lang="ru-RU"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1</a:t>
            </a:fld>
            <a:endParaRPr lang="ru-RU" dirty="0"/>
          </a:p>
        </p:txBody>
      </p:sp>
    </p:spTree>
    <p:extLst>
      <p:ext uri="{BB962C8B-B14F-4D97-AF65-F5344CB8AC3E}">
        <p14:creationId xmlns:p14="http://schemas.microsoft.com/office/powerpoint/2010/main" val="1383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4</a:t>
            </a:fld>
            <a:endParaRPr lang="ru-RU" dirty="0"/>
          </a:p>
        </p:txBody>
      </p:sp>
    </p:spTree>
    <p:extLst>
      <p:ext uri="{BB962C8B-B14F-4D97-AF65-F5344CB8AC3E}">
        <p14:creationId xmlns:p14="http://schemas.microsoft.com/office/powerpoint/2010/main" val="994466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14</a:t>
            </a:fld>
            <a:endParaRPr lang="ru-RU" dirty="0"/>
          </a:p>
        </p:txBody>
      </p:sp>
    </p:spTree>
    <p:extLst>
      <p:ext uri="{BB962C8B-B14F-4D97-AF65-F5344CB8AC3E}">
        <p14:creationId xmlns:p14="http://schemas.microsoft.com/office/powerpoint/2010/main" val="1095671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22</a:t>
            </a:fld>
            <a:endParaRPr lang="ru-RU" dirty="0"/>
          </a:p>
        </p:txBody>
      </p:sp>
    </p:spTree>
    <p:extLst>
      <p:ext uri="{BB962C8B-B14F-4D97-AF65-F5344CB8AC3E}">
        <p14:creationId xmlns:p14="http://schemas.microsoft.com/office/powerpoint/2010/main" val="940217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27</a:t>
            </a:fld>
            <a:endParaRPr lang="ru-RU" dirty="0"/>
          </a:p>
        </p:txBody>
      </p:sp>
    </p:spTree>
    <p:extLst>
      <p:ext uri="{BB962C8B-B14F-4D97-AF65-F5344CB8AC3E}">
        <p14:creationId xmlns:p14="http://schemas.microsoft.com/office/powerpoint/2010/main" val="3482062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31</a:t>
            </a:fld>
            <a:endParaRPr lang="ru-RU" dirty="0"/>
          </a:p>
        </p:txBody>
      </p:sp>
    </p:spTree>
    <p:extLst>
      <p:ext uri="{BB962C8B-B14F-4D97-AF65-F5344CB8AC3E}">
        <p14:creationId xmlns:p14="http://schemas.microsoft.com/office/powerpoint/2010/main" val="127002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778E-E1C1-CE73-0260-A6DF5707645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3FA3A987-7C75-A529-DF3D-36EE5CA99D4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F13EC389-D001-D49A-1E03-BC990D91734C}"/>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AD8177C6-F5BE-022C-3F38-17315D0E8EE8}"/>
              </a:ext>
            </a:extLst>
          </p:cNvPr>
          <p:cNvSpPr>
            <a:spLocks noGrp="1"/>
          </p:cNvSpPr>
          <p:nvPr>
            <p:ph type="sldNum" sz="quarter" idx="10"/>
          </p:nvPr>
        </p:nvSpPr>
        <p:spPr/>
        <p:txBody>
          <a:bodyPr/>
          <a:lstStyle/>
          <a:p>
            <a:pPr rtl="0"/>
            <a:fld id="{8530193B-564F-4854-8A52-728F3FB19C85}" type="slidenum">
              <a:rPr lang="ru-RU" smtClean="0"/>
              <a:pPr rtl="0"/>
              <a:t>35</a:t>
            </a:fld>
            <a:endParaRPr lang="ru-RU" dirty="0"/>
          </a:p>
        </p:txBody>
      </p:sp>
    </p:spTree>
    <p:extLst>
      <p:ext uri="{BB962C8B-B14F-4D97-AF65-F5344CB8AC3E}">
        <p14:creationId xmlns:p14="http://schemas.microsoft.com/office/powerpoint/2010/main" val="958282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pPr rtl="0"/>
              <a:t>54</a:t>
            </a:fld>
            <a:endParaRPr lang="ru-RU" dirty="0"/>
          </a:p>
        </p:txBody>
      </p:sp>
    </p:spTree>
    <p:extLst>
      <p:ext uri="{BB962C8B-B14F-4D97-AF65-F5344CB8AC3E}">
        <p14:creationId xmlns:p14="http://schemas.microsoft.com/office/powerpoint/2010/main" val="285592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5" name="Подзаголовок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6" name="Номер слайда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
        <p:nvSpPr>
          <p:cNvPr id="7" name="Нижний колонтитул 6">
            <a:extLst>
              <a:ext uri="{FF2B5EF4-FFF2-40B4-BE49-F238E27FC236}">
                <a16:creationId xmlns:a16="http://schemas.microsoft.com/office/drawing/2014/main" id="{2ED798F6-1F12-46CE-9AFD-CC66555A191D}"/>
              </a:ext>
            </a:extLst>
          </p:cNvPr>
          <p:cNvSpPr>
            <a:spLocks noGrp="1"/>
          </p:cNvSpPr>
          <p:nvPr>
            <p:ph type="ftr" sz="quarter" idx="34"/>
          </p:nvPr>
        </p:nvSpPr>
        <p:spPr/>
        <p:txBody>
          <a:bodyPr rtlCol="0"/>
          <a:lstStyle/>
          <a:p>
            <a:pPr rtl="0"/>
            <a:r>
              <a:rPr lang="ru-RU" noProof="0" dirty="0"/>
              <a:t>Добавить нижний колонтитул</a:t>
            </a:r>
          </a:p>
        </p:txBody>
      </p:sp>
    </p:spTree>
    <p:extLst>
      <p:ext uri="{BB962C8B-B14F-4D97-AF65-F5344CB8AC3E}">
        <p14:creationId xmlns:p14="http://schemas.microsoft.com/office/powerpoint/2010/main" val="150585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Титульный слайд">
    <p:spTree>
      <p:nvGrpSpPr>
        <p:cNvPr id="1" name=""/>
        <p:cNvGrpSpPr/>
        <p:nvPr/>
      </p:nvGrpSpPr>
      <p:grpSpPr>
        <a:xfrm>
          <a:off x="0" y="0"/>
          <a:ext cx="0" cy="0"/>
          <a:chOff x="0" y="0"/>
          <a:chExt cx="0" cy="0"/>
        </a:xfrm>
      </p:grpSpPr>
      <p:sp>
        <p:nvSpPr>
          <p:cNvPr id="21" name="Рисунок 20">
            <a:extLst>
              <a:ext uri="{FF2B5EF4-FFF2-40B4-BE49-F238E27FC236}">
                <a16:creationId xmlns:a16="http://schemas.microsoft.com/office/drawing/2014/main" id="{9A70B137-2503-4803-9F56-620A586FA494}"/>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название презентации</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7CE129D0-CB7B-444C-AF89-B1CB663E3679}"/>
              </a:ext>
            </a:extLst>
          </p:cNvPr>
          <p:cNvSpPr>
            <a:spLocks noGrp="1"/>
          </p:cNvSpPr>
          <p:nvPr>
            <p:ph type="pic" sz="quarter" idx="13" hasCustomPrompt="1"/>
          </p:nvPr>
        </p:nvSpPr>
        <p:spPr>
          <a:xfrm>
            <a:off x="0" y="418374"/>
            <a:ext cx="8687356" cy="6439627"/>
          </a:xfrm>
          <a:custGeom>
            <a:avLst/>
            <a:gdLst>
              <a:gd name="connsiteX0" fmla="*/ 0 w 8687356"/>
              <a:gd name="connsiteY0" fmla="*/ 5592682 h 6439627"/>
              <a:gd name="connsiteX1" fmla="*/ 186296 w 8687356"/>
              <a:gd name="connsiteY1" fmla="*/ 5593149 h 6439627"/>
              <a:gd name="connsiteX2" fmla="*/ 1348900 w 8687356"/>
              <a:gd name="connsiteY2" fmla="*/ 5596063 h 6439627"/>
              <a:gd name="connsiteX3" fmla="*/ 1800991 w 8687356"/>
              <a:gd name="connsiteY3" fmla="*/ 5851702 h 6439627"/>
              <a:gd name="connsiteX4" fmla="*/ 2106366 w 8687356"/>
              <a:gd name="connsiteY4" fmla="*/ 6380627 h 6439627"/>
              <a:gd name="connsiteX5" fmla="*/ 2140430 w 8687356"/>
              <a:gd name="connsiteY5" fmla="*/ 6439627 h 6439627"/>
              <a:gd name="connsiteX6" fmla="*/ 0 w 8687356"/>
              <a:gd name="connsiteY6" fmla="*/ 6439627 h 6439627"/>
              <a:gd name="connsiteX7" fmla="*/ 693821 w 8687356"/>
              <a:gd name="connsiteY7" fmla="*/ 3646328 h 6439627"/>
              <a:gd name="connsiteX8" fmla="*/ 1586357 w 8687356"/>
              <a:gd name="connsiteY8" fmla="*/ 3648566 h 6439627"/>
              <a:gd name="connsiteX9" fmla="*/ 1724950 w 8687356"/>
              <a:gd name="connsiteY9" fmla="*/ 3726935 h 6439627"/>
              <a:gd name="connsiteX10" fmla="*/ 2172189 w 8687356"/>
              <a:gd name="connsiteY10" fmla="*/ 4501577 h 6439627"/>
              <a:gd name="connsiteX11" fmla="*/ 2171729 w 8687356"/>
              <a:gd name="connsiteY11" fmla="*/ 4662459 h 6439627"/>
              <a:gd name="connsiteX12" fmla="*/ 1726432 w 8687356"/>
              <a:gd name="connsiteY12" fmla="*/ 5434863 h 6439627"/>
              <a:gd name="connsiteX13" fmla="*/ 1589746 w 8687356"/>
              <a:gd name="connsiteY13" fmla="*/ 5513779 h 6439627"/>
              <a:gd name="connsiteX14" fmla="*/ 698177 w 8687356"/>
              <a:gd name="connsiteY14" fmla="*/ 5513215 h 6439627"/>
              <a:gd name="connsiteX15" fmla="*/ 558617 w 8687356"/>
              <a:gd name="connsiteY15" fmla="*/ 5433172 h 6439627"/>
              <a:gd name="connsiteX16" fmla="*/ 111378 w 8687356"/>
              <a:gd name="connsiteY16" fmla="*/ 4658531 h 6439627"/>
              <a:gd name="connsiteX17" fmla="*/ 112805 w 8687356"/>
              <a:gd name="connsiteY17" fmla="*/ 4499321 h 6439627"/>
              <a:gd name="connsiteX18" fmla="*/ 557135 w 8687356"/>
              <a:gd name="connsiteY18" fmla="*/ 3725244 h 6439627"/>
              <a:gd name="connsiteX19" fmla="*/ 693821 w 8687356"/>
              <a:gd name="connsiteY19" fmla="*/ 3646328 h 6439627"/>
              <a:gd name="connsiteX20" fmla="*/ 1975378 w 8687356"/>
              <a:gd name="connsiteY20" fmla="*/ 3263784 h 6439627"/>
              <a:gd name="connsiteX21" fmla="*/ 2292917 w 8687356"/>
              <a:gd name="connsiteY21" fmla="*/ 3264581 h 6439627"/>
              <a:gd name="connsiteX22" fmla="*/ 2342225 w 8687356"/>
              <a:gd name="connsiteY22" fmla="*/ 3292462 h 6439627"/>
              <a:gd name="connsiteX23" fmla="*/ 2501341 w 8687356"/>
              <a:gd name="connsiteY23" fmla="*/ 3568059 h 6439627"/>
              <a:gd name="connsiteX24" fmla="*/ 2501177 w 8687356"/>
              <a:gd name="connsiteY24" fmla="*/ 3625297 h 6439627"/>
              <a:gd name="connsiteX25" fmla="*/ 2342753 w 8687356"/>
              <a:gd name="connsiteY25" fmla="*/ 3900096 h 6439627"/>
              <a:gd name="connsiteX26" fmla="*/ 2294123 w 8687356"/>
              <a:gd name="connsiteY26" fmla="*/ 3928173 h 6439627"/>
              <a:gd name="connsiteX27" fmla="*/ 1976927 w 8687356"/>
              <a:gd name="connsiteY27" fmla="*/ 3927972 h 6439627"/>
              <a:gd name="connsiteX28" fmla="*/ 1927275 w 8687356"/>
              <a:gd name="connsiteY28" fmla="*/ 3899495 h 6439627"/>
              <a:gd name="connsiteX29" fmla="*/ 1768160 w 8687356"/>
              <a:gd name="connsiteY29" fmla="*/ 3623899 h 6439627"/>
              <a:gd name="connsiteX30" fmla="*/ 1768668 w 8687356"/>
              <a:gd name="connsiteY30" fmla="*/ 3567256 h 6439627"/>
              <a:gd name="connsiteX31" fmla="*/ 1926748 w 8687356"/>
              <a:gd name="connsiteY31" fmla="*/ 3291861 h 6439627"/>
              <a:gd name="connsiteX32" fmla="*/ 1975378 w 8687356"/>
              <a:gd name="connsiteY32" fmla="*/ 3263784 h 6439627"/>
              <a:gd name="connsiteX33" fmla="*/ 2130702 w 8687356"/>
              <a:gd name="connsiteY33" fmla="*/ 2828022 h 6439627"/>
              <a:gd name="connsiteX34" fmla="*/ 2298374 w 8687356"/>
              <a:gd name="connsiteY34" fmla="*/ 2828442 h 6439627"/>
              <a:gd name="connsiteX35" fmla="*/ 2324410 w 8687356"/>
              <a:gd name="connsiteY35" fmla="*/ 2843165 h 6439627"/>
              <a:gd name="connsiteX36" fmla="*/ 2408429 w 8687356"/>
              <a:gd name="connsiteY36" fmla="*/ 2988689 h 6439627"/>
              <a:gd name="connsiteX37" fmla="*/ 2408342 w 8687356"/>
              <a:gd name="connsiteY37" fmla="*/ 3018913 h 6439627"/>
              <a:gd name="connsiteX38" fmla="*/ 2324689 w 8687356"/>
              <a:gd name="connsiteY38" fmla="*/ 3164017 h 6439627"/>
              <a:gd name="connsiteX39" fmla="*/ 2299011 w 8687356"/>
              <a:gd name="connsiteY39" fmla="*/ 3178842 h 6439627"/>
              <a:gd name="connsiteX40" fmla="*/ 2131520 w 8687356"/>
              <a:gd name="connsiteY40" fmla="*/ 3178736 h 6439627"/>
              <a:gd name="connsiteX41" fmla="*/ 2105302 w 8687356"/>
              <a:gd name="connsiteY41" fmla="*/ 3163699 h 6439627"/>
              <a:gd name="connsiteX42" fmla="*/ 2021284 w 8687356"/>
              <a:gd name="connsiteY42" fmla="*/ 3018175 h 6439627"/>
              <a:gd name="connsiteX43" fmla="*/ 2021552 w 8687356"/>
              <a:gd name="connsiteY43" fmla="*/ 2988265 h 6439627"/>
              <a:gd name="connsiteX44" fmla="*/ 2105024 w 8687356"/>
              <a:gd name="connsiteY44" fmla="*/ 2842847 h 6439627"/>
              <a:gd name="connsiteX45" fmla="*/ 2130702 w 8687356"/>
              <a:gd name="connsiteY45" fmla="*/ 2828022 h 6439627"/>
              <a:gd name="connsiteX46" fmla="*/ 3794942 w 8687356"/>
              <a:gd name="connsiteY46" fmla="*/ 2543905 h 6439627"/>
              <a:gd name="connsiteX47" fmla="*/ 6706383 w 8687356"/>
              <a:gd name="connsiteY47" fmla="*/ 2551204 h 6439627"/>
              <a:gd name="connsiteX48" fmla="*/ 7158474 w 8687356"/>
              <a:gd name="connsiteY48" fmla="*/ 2806842 h 6439627"/>
              <a:gd name="connsiteX49" fmla="*/ 8617364 w 8687356"/>
              <a:gd name="connsiteY49" fmla="*/ 5333715 h 6439627"/>
              <a:gd name="connsiteX50" fmla="*/ 8615859 w 8687356"/>
              <a:gd name="connsiteY50" fmla="*/ 5858514 h 6439627"/>
              <a:gd name="connsiteX51" fmla="*/ 8311811 w 8687356"/>
              <a:gd name="connsiteY51" fmla="*/ 6385912 h 6439627"/>
              <a:gd name="connsiteX52" fmla="*/ 8280844 w 8687356"/>
              <a:gd name="connsiteY52" fmla="*/ 6439627 h 6439627"/>
              <a:gd name="connsiteX53" fmla="*/ 2237916 w 8687356"/>
              <a:gd name="connsiteY53" fmla="*/ 6439627 h 6439627"/>
              <a:gd name="connsiteX54" fmla="*/ 2151815 w 8687356"/>
              <a:gd name="connsiteY54" fmla="*/ 6290497 h 6439627"/>
              <a:gd name="connsiteX55" fmla="*/ 1895013 w 8687356"/>
              <a:gd name="connsiteY55" fmla="*/ 5845703 h 6439627"/>
              <a:gd name="connsiteX56" fmla="*/ 1899669 w 8687356"/>
              <a:gd name="connsiteY56" fmla="*/ 5326361 h 6439627"/>
              <a:gd name="connsiteX57" fmla="*/ 3349069 w 8687356"/>
              <a:gd name="connsiteY57" fmla="*/ 2801330 h 6439627"/>
              <a:gd name="connsiteX58" fmla="*/ 3794942 w 8687356"/>
              <a:gd name="connsiteY58" fmla="*/ 2543905 h 6439627"/>
              <a:gd name="connsiteX59" fmla="*/ 634940 w 8687356"/>
              <a:gd name="connsiteY59" fmla="*/ 2395105 h 6439627"/>
              <a:gd name="connsiteX60" fmla="*/ 1188015 w 8687356"/>
              <a:gd name="connsiteY60" fmla="*/ 2396492 h 6439627"/>
              <a:gd name="connsiteX61" fmla="*/ 1273897 w 8687356"/>
              <a:gd name="connsiteY61" fmla="*/ 2445054 h 6439627"/>
              <a:gd name="connsiteX62" fmla="*/ 1551037 w 8687356"/>
              <a:gd name="connsiteY62" fmla="*/ 2925075 h 6439627"/>
              <a:gd name="connsiteX63" fmla="*/ 1550752 w 8687356"/>
              <a:gd name="connsiteY63" fmla="*/ 3024769 h 6439627"/>
              <a:gd name="connsiteX64" fmla="*/ 1274816 w 8687356"/>
              <a:gd name="connsiteY64" fmla="*/ 3503403 h 6439627"/>
              <a:gd name="connsiteX65" fmla="*/ 1190116 w 8687356"/>
              <a:gd name="connsiteY65" fmla="*/ 3552304 h 6439627"/>
              <a:gd name="connsiteX66" fmla="*/ 637639 w 8687356"/>
              <a:gd name="connsiteY66" fmla="*/ 3551955 h 6439627"/>
              <a:gd name="connsiteX67" fmla="*/ 551158 w 8687356"/>
              <a:gd name="connsiteY67" fmla="*/ 3502355 h 6439627"/>
              <a:gd name="connsiteX68" fmla="*/ 274018 w 8687356"/>
              <a:gd name="connsiteY68" fmla="*/ 3022335 h 6439627"/>
              <a:gd name="connsiteX69" fmla="*/ 274903 w 8687356"/>
              <a:gd name="connsiteY69" fmla="*/ 2923678 h 6439627"/>
              <a:gd name="connsiteX70" fmla="*/ 550240 w 8687356"/>
              <a:gd name="connsiteY70" fmla="*/ 2444007 h 6439627"/>
              <a:gd name="connsiteX71" fmla="*/ 634940 w 8687356"/>
              <a:gd name="connsiteY71" fmla="*/ 2395105 h 6439627"/>
              <a:gd name="connsiteX72" fmla="*/ 2521339 w 8687356"/>
              <a:gd name="connsiteY72" fmla="*/ 1975621 h 6439627"/>
              <a:gd name="connsiteX73" fmla="*/ 2985874 w 8687356"/>
              <a:gd name="connsiteY73" fmla="*/ 1976785 h 6439627"/>
              <a:gd name="connsiteX74" fmla="*/ 3058007 w 8687356"/>
              <a:gd name="connsiteY74" fmla="*/ 2017574 h 6439627"/>
              <a:gd name="connsiteX75" fmla="*/ 3290779 w 8687356"/>
              <a:gd name="connsiteY75" fmla="*/ 2420748 h 6439627"/>
              <a:gd name="connsiteX76" fmla="*/ 3290540 w 8687356"/>
              <a:gd name="connsiteY76" fmla="*/ 2504482 h 6439627"/>
              <a:gd name="connsiteX77" fmla="*/ 3058778 w 8687356"/>
              <a:gd name="connsiteY77" fmla="*/ 2906492 h 6439627"/>
              <a:gd name="connsiteX78" fmla="*/ 2987637 w 8687356"/>
              <a:gd name="connsiteY78" fmla="*/ 2947565 h 6439627"/>
              <a:gd name="connsiteX79" fmla="*/ 2523606 w 8687356"/>
              <a:gd name="connsiteY79" fmla="*/ 2947271 h 6439627"/>
              <a:gd name="connsiteX80" fmla="*/ 2450970 w 8687356"/>
              <a:gd name="connsiteY80" fmla="*/ 2905612 h 6439627"/>
              <a:gd name="connsiteX81" fmla="*/ 2218197 w 8687356"/>
              <a:gd name="connsiteY81" fmla="*/ 2502438 h 6439627"/>
              <a:gd name="connsiteX82" fmla="*/ 2218941 w 8687356"/>
              <a:gd name="connsiteY82" fmla="*/ 2419574 h 6439627"/>
              <a:gd name="connsiteX83" fmla="*/ 2450199 w 8687356"/>
              <a:gd name="connsiteY83" fmla="*/ 2016694 h 6439627"/>
              <a:gd name="connsiteX84" fmla="*/ 2521339 w 8687356"/>
              <a:gd name="connsiteY84" fmla="*/ 1975621 h 6439627"/>
              <a:gd name="connsiteX85" fmla="*/ 3564142 w 8687356"/>
              <a:gd name="connsiteY85" fmla="*/ 34 h 6439627"/>
              <a:gd name="connsiteX86" fmla="*/ 4738405 w 8687356"/>
              <a:gd name="connsiteY86" fmla="*/ 2977 h 6439627"/>
              <a:gd name="connsiteX87" fmla="*/ 4920745 w 8687356"/>
              <a:gd name="connsiteY87" fmla="*/ 106084 h 6439627"/>
              <a:gd name="connsiteX88" fmla="*/ 5509155 w 8687356"/>
              <a:gd name="connsiteY88" fmla="*/ 1125240 h 6439627"/>
              <a:gd name="connsiteX89" fmla="*/ 5508549 w 8687356"/>
              <a:gd name="connsiteY89" fmla="*/ 1336906 h 6439627"/>
              <a:gd name="connsiteX90" fmla="*/ 4922696 w 8687356"/>
              <a:gd name="connsiteY90" fmla="*/ 2353119 h 6439627"/>
              <a:gd name="connsiteX91" fmla="*/ 4742864 w 8687356"/>
              <a:gd name="connsiteY91" fmla="*/ 2456945 h 6439627"/>
              <a:gd name="connsiteX92" fmla="*/ 3569871 w 8687356"/>
              <a:gd name="connsiteY92" fmla="*/ 2456203 h 6439627"/>
              <a:gd name="connsiteX93" fmla="*/ 3386259 w 8687356"/>
              <a:gd name="connsiteY93" fmla="*/ 2350896 h 6439627"/>
              <a:gd name="connsiteX94" fmla="*/ 2797848 w 8687356"/>
              <a:gd name="connsiteY94" fmla="*/ 1331739 h 6439627"/>
              <a:gd name="connsiteX95" fmla="*/ 2799727 w 8687356"/>
              <a:gd name="connsiteY95" fmla="*/ 1122274 h 6439627"/>
              <a:gd name="connsiteX96" fmla="*/ 3384310 w 8687356"/>
              <a:gd name="connsiteY96" fmla="*/ 103860 h 6439627"/>
              <a:gd name="connsiteX97" fmla="*/ 3564142 w 8687356"/>
              <a:gd name="connsiteY97" fmla="*/ 34 h 643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687356" h="6439627">
                <a:moveTo>
                  <a:pt x="0" y="5592682"/>
                </a:moveTo>
                <a:lnTo>
                  <a:pt x="186296" y="5593149"/>
                </a:lnTo>
                <a:cubicBezTo>
                  <a:pt x="510155" y="5593961"/>
                  <a:pt x="893987" y="5594923"/>
                  <a:pt x="1348900" y="5596063"/>
                </a:cubicBezTo>
                <a:cubicBezTo>
                  <a:pt x="1534387" y="5590847"/>
                  <a:pt x="1709614" y="5693431"/>
                  <a:pt x="1800991" y="5851702"/>
                </a:cubicBezTo>
                <a:cubicBezTo>
                  <a:pt x="1800991" y="5851702"/>
                  <a:pt x="1800991" y="5851702"/>
                  <a:pt x="2106366" y="6380627"/>
                </a:cubicBezTo>
                <a:lnTo>
                  <a:pt x="2140430" y="6439627"/>
                </a:lnTo>
                <a:lnTo>
                  <a:pt x="0" y="6439627"/>
                </a:lnTo>
                <a:close/>
                <a:moveTo>
                  <a:pt x="693821" y="3646328"/>
                </a:moveTo>
                <a:cubicBezTo>
                  <a:pt x="693821" y="3646328"/>
                  <a:pt x="693821" y="3646328"/>
                  <a:pt x="1586357" y="3648566"/>
                </a:cubicBezTo>
                <a:cubicBezTo>
                  <a:pt x="1643220" y="3646968"/>
                  <a:pt x="1696937" y="3678416"/>
                  <a:pt x="1724950" y="3726935"/>
                </a:cubicBezTo>
                <a:cubicBezTo>
                  <a:pt x="1724950" y="3726935"/>
                  <a:pt x="1724950" y="3726935"/>
                  <a:pt x="2172189" y="4501577"/>
                </a:cubicBezTo>
                <a:cubicBezTo>
                  <a:pt x="2201168" y="4551769"/>
                  <a:pt x="2200578" y="4612341"/>
                  <a:pt x="2171729" y="4662459"/>
                </a:cubicBezTo>
                <a:cubicBezTo>
                  <a:pt x="2171729" y="4662459"/>
                  <a:pt x="2171729" y="4662459"/>
                  <a:pt x="1726432" y="5434863"/>
                </a:cubicBezTo>
                <a:cubicBezTo>
                  <a:pt x="1699249" y="5484020"/>
                  <a:pt x="1645909" y="5514815"/>
                  <a:pt x="1589746" y="5513779"/>
                </a:cubicBezTo>
                <a:cubicBezTo>
                  <a:pt x="1589746" y="5513779"/>
                  <a:pt x="1589746" y="5513779"/>
                  <a:pt x="698177" y="5513215"/>
                </a:cubicBezTo>
                <a:cubicBezTo>
                  <a:pt x="640348" y="5513140"/>
                  <a:pt x="587596" y="5483366"/>
                  <a:pt x="558617" y="5433172"/>
                </a:cubicBezTo>
                <a:cubicBezTo>
                  <a:pt x="558617" y="5433172"/>
                  <a:pt x="558617" y="5433172"/>
                  <a:pt x="111378" y="4658531"/>
                </a:cubicBezTo>
                <a:cubicBezTo>
                  <a:pt x="83365" y="4610012"/>
                  <a:pt x="82990" y="4547767"/>
                  <a:pt x="112805" y="4499321"/>
                </a:cubicBezTo>
                <a:cubicBezTo>
                  <a:pt x="112805" y="4499321"/>
                  <a:pt x="112805" y="4499321"/>
                  <a:pt x="557135" y="3725244"/>
                </a:cubicBezTo>
                <a:cubicBezTo>
                  <a:pt x="584319" y="3676088"/>
                  <a:pt x="637659" y="3645292"/>
                  <a:pt x="693821" y="3646328"/>
                </a:cubicBezTo>
                <a:close/>
                <a:moveTo>
                  <a:pt x="1975378" y="3263784"/>
                </a:moveTo>
                <a:cubicBezTo>
                  <a:pt x="1975378" y="3263784"/>
                  <a:pt x="1975378" y="3263784"/>
                  <a:pt x="2292917" y="3264581"/>
                </a:cubicBezTo>
                <a:cubicBezTo>
                  <a:pt x="2313148" y="3264012"/>
                  <a:pt x="2332259" y="3275200"/>
                  <a:pt x="2342225" y="3292462"/>
                </a:cubicBezTo>
                <a:cubicBezTo>
                  <a:pt x="2342225" y="3292462"/>
                  <a:pt x="2342225" y="3292462"/>
                  <a:pt x="2501341" y="3568059"/>
                </a:cubicBezTo>
                <a:cubicBezTo>
                  <a:pt x="2511651" y="3585916"/>
                  <a:pt x="2511441" y="3607466"/>
                  <a:pt x="2501177" y="3625297"/>
                </a:cubicBezTo>
                <a:cubicBezTo>
                  <a:pt x="2501177" y="3625297"/>
                  <a:pt x="2501177" y="3625297"/>
                  <a:pt x="2342753" y="3900096"/>
                </a:cubicBezTo>
                <a:cubicBezTo>
                  <a:pt x="2333082" y="3917585"/>
                  <a:pt x="2314104" y="3928542"/>
                  <a:pt x="2294123" y="3928173"/>
                </a:cubicBezTo>
                <a:cubicBezTo>
                  <a:pt x="2294123" y="3928173"/>
                  <a:pt x="2294123" y="3928173"/>
                  <a:pt x="1976927" y="3927972"/>
                </a:cubicBezTo>
                <a:cubicBezTo>
                  <a:pt x="1956353" y="3927946"/>
                  <a:pt x="1937585" y="3917353"/>
                  <a:pt x="1927275" y="3899495"/>
                </a:cubicBezTo>
                <a:cubicBezTo>
                  <a:pt x="1927275" y="3899495"/>
                  <a:pt x="1927275" y="3899495"/>
                  <a:pt x="1768160" y="3623899"/>
                </a:cubicBezTo>
                <a:cubicBezTo>
                  <a:pt x="1758193" y="3606636"/>
                  <a:pt x="1758060" y="3584492"/>
                  <a:pt x="1768668" y="3567256"/>
                </a:cubicBezTo>
                <a:cubicBezTo>
                  <a:pt x="1768668" y="3567256"/>
                  <a:pt x="1768668" y="3567256"/>
                  <a:pt x="1926748" y="3291861"/>
                </a:cubicBezTo>
                <a:cubicBezTo>
                  <a:pt x="1936419" y="3274372"/>
                  <a:pt x="1955397" y="3263416"/>
                  <a:pt x="1975378" y="3263784"/>
                </a:cubicBezTo>
                <a:close/>
                <a:moveTo>
                  <a:pt x="2130702" y="2828022"/>
                </a:moveTo>
                <a:cubicBezTo>
                  <a:pt x="2130702" y="2828022"/>
                  <a:pt x="2130702" y="2828022"/>
                  <a:pt x="2298374" y="2828442"/>
                </a:cubicBezTo>
                <a:cubicBezTo>
                  <a:pt x="2309057" y="2828143"/>
                  <a:pt x="2319148" y="2834050"/>
                  <a:pt x="2324410" y="2843165"/>
                </a:cubicBezTo>
                <a:cubicBezTo>
                  <a:pt x="2324410" y="2843165"/>
                  <a:pt x="2324410" y="2843165"/>
                  <a:pt x="2408429" y="2988689"/>
                </a:cubicBezTo>
                <a:cubicBezTo>
                  <a:pt x="2413873" y="2998119"/>
                  <a:pt x="2413762" y="3009498"/>
                  <a:pt x="2408342" y="3018913"/>
                </a:cubicBezTo>
                <a:cubicBezTo>
                  <a:pt x="2408342" y="3018913"/>
                  <a:pt x="2408342" y="3018913"/>
                  <a:pt x="2324689" y="3164017"/>
                </a:cubicBezTo>
                <a:cubicBezTo>
                  <a:pt x="2319583" y="3173251"/>
                  <a:pt x="2309561" y="3179037"/>
                  <a:pt x="2299011" y="3178842"/>
                </a:cubicBezTo>
                <a:cubicBezTo>
                  <a:pt x="2299011" y="3178842"/>
                  <a:pt x="2299011" y="3178842"/>
                  <a:pt x="2131520" y="3178736"/>
                </a:cubicBezTo>
                <a:cubicBezTo>
                  <a:pt x="2120657" y="3178722"/>
                  <a:pt x="2110746" y="3173129"/>
                  <a:pt x="2105302" y="3163699"/>
                </a:cubicBezTo>
                <a:cubicBezTo>
                  <a:pt x="2105302" y="3163699"/>
                  <a:pt x="2105302" y="3163699"/>
                  <a:pt x="2021284" y="3018175"/>
                </a:cubicBezTo>
                <a:cubicBezTo>
                  <a:pt x="2016021" y="3009060"/>
                  <a:pt x="2015951" y="2997367"/>
                  <a:pt x="2021552" y="2988265"/>
                </a:cubicBezTo>
                <a:cubicBezTo>
                  <a:pt x="2021552" y="2988265"/>
                  <a:pt x="2021552" y="2988265"/>
                  <a:pt x="2105024" y="2842847"/>
                </a:cubicBezTo>
                <a:cubicBezTo>
                  <a:pt x="2110131" y="2833613"/>
                  <a:pt x="2120152" y="2827827"/>
                  <a:pt x="2130702" y="2828022"/>
                </a:cubicBezTo>
                <a:close/>
                <a:moveTo>
                  <a:pt x="3794942" y="2543905"/>
                </a:moveTo>
                <a:cubicBezTo>
                  <a:pt x="3794942" y="2543905"/>
                  <a:pt x="3794942" y="2543905"/>
                  <a:pt x="6706383" y="2551204"/>
                </a:cubicBezTo>
                <a:cubicBezTo>
                  <a:pt x="6891871" y="2545988"/>
                  <a:pt x="7067096" y="2648572"/>
                  <a:pt x="7158474" y="2806842"/>
                </a:cubicBezTo>
                <a:cubicBezTo>
                  <a:pt x="7158474" y="2806842"/>
                  <a:pt x="7158474" y="2806842"/>
                  <a:pt x="8617364" y="5333715"/>
                </a:cubicBezTo>
                <a:cubicBezTo>
                  <a:pt x="8711893" y="5497443"/>
                  <a:pt x="8709969" y="5695027"/>
                  <a:pt x="8615859" y="5858514"/>
                </a:cubicBezTo>
                <a:cubicBezTo>
                  <a:pt x="8615859" y="5858514"/>
                  <a:pt x="8615859" y="5858514"/>
                  <a:pt x="8311811" y="6385912"/>
                </a:cubicBezTo>
                <a:lnTo>
                  <a:pt x="8280844" y="6439627"/>
                </a:lnTo>
                <a:lnTo>
                  <a:pt x="2237916" y="6439627"/>
                </a:lnTo>
                <a:lnTo>
                  <a:pt x="2151815" y="6290497"/>
                </a:lnTo>
                <a:cubicBezTo>
                  <a:pt x="2071676" y="6151692"/>
                  <a:pt x="1986194" y="6003633"/>
                  <a:pt x="1895013" y="5845703"/>
                </a:cubicBezTo>
                <a:cubicBezTo>
                  <a:pt x="1803636" y="5687432"/>
                  <a:pt x="1802408" y="5484390"/>
                  <a:pt x="1899669" y="5326361"/>
                </a:cubicBezTo>
                <a:cubicBezTo>
                  <a:pt x="1899669" y="5326361"/>
                  <a:pt x="1899669" y="5326361"/>
                  <a:pt x="3349069" y="2801330"/>
                </a:cubicBezTo>
                <a:cubicBezTo>
                  <a:pt x="3437742" y="2640982"/>
                  <a:pt x="3611741" y="2540524"/>
                  <a:pt x="3794942" y="2543905"/>
                </a:cubicBezTo>
                <a:close/>
                <a:moveTo>
                  <a:pt x="634940" y="2395105"/>
                </a:moveTo>
                <a:cubicBezTo>
                  <a:pt x="634940" y="2395105"/>
                  <a:pt x="634940" y="2395105"/>
                  <a:pt x="1188015" y="2396492"/>
                </a:cubicBezTo>
                <a:cubicBezTo>
                  <a:pt x="1223252" y="2395501"/>
                  <a:pt x="1256539" y="2414988"/>
                  <a:pt x="1273897" y="2445054"/>
                </a:cubicBezTo>
                <a:cubicBezTo>
                  <a:pt x="1273897" y="2445054"/>
                  <a:pt x="1273897" y="2445054"/>
                  <a:pt x="1551037" y="2925075"/>
                </a:cubicBezTo>
                <a:cubicBezTo>
                  <a:pt x="1568994" y="2956177"/>
                  <a:pt x="1568629" y="2993712"/>
                  <a:pt x="1550752" y="3024769"/>
                </a:cubicBezTo>
                <a:cubicBezTo>
                  <a:pt x="1550752" y="3024769"/>
                  <a:pt x="1550752" y="3024769"/>
                  <a:pt x="1274816" y="3503403"/>
                </a:cubicBezTo>
                <a:cubicBezTo>
                  <a:pt x="1257971" y="3533863"/>
                  <a:pt x="1224917" y="3552947"/>
                  <a:pt x="1190116" y="3552304"/>
                </a:cubicBezTo>
                <a:cubicBezTo>
                  <a:pt x="1190116" y="3552304"/>
                  <a:pt x="1190116" y="3552304"/>
                  <a:pt x="637639" y="3551955"/>
                </a:cubicBezTo>
                <a:cubicBezTo>
                  <a:pt x="601804" y="3551909"/>
                  <a:pt x="569115" y="3533458"/>
                  <a:pt x="551158" y="3502355"/>
                </a:cubicBezTo>
                <a:cubicBezTo>
                  <a:pt x="551158" y="3502355"/>
                  <a:pt x="551158" y="3502355"/>
                  <a:pt x="274018" y="3022335"/>
                </a:cubicBezTo>
                <a:cubicBezTo>
                  <a:pt x="256660" y="2992269"/>
                  <a:pt x="256426" y="2953698"/>
                  <a:pt x="274903" y="2923678"/>
                </a:cubicBezTo>
                <a:cubicBezTo>
                  <a:pt x="274903" y="2923678"/>
                  <a:pt x="274903" y="2923678"/>
                  <a:pt x="550240" y="2444007"/>
                </a:cubicBezTo>
                <a:cubicBezTo>
                  <a:pt x="567085" y="2413547"/>
                  <a:pt x="600139" y="2394463"/>
                  <a:pt x="634940" y="2395105"/>
                </a:cubicBezTo>
                <a:close/>
                <a:moveTo>
                  <a:pt x="2521339" y="1975621"/>
                </a:moveTo>
                <a:cubicBezTo>
                  <a:pt x="2521339" y="1975621"/>
                  <a:pt x="2521339" y="1975621"/>
                  <a:pt x="2985874" y="1976785"/>
                </a:cubicBezTo>
                <a:cubicBezTo>
                  <a:pt x="3015469" y="1975952"/>
                  <a:pt x="3043427" y="1992321"/>
                  <a:pt x="3058007" y="2017574"/>
                </a:cubicBezTo>
                <a:cubicBezTo>
                  <a:pt x="3058007" y="2017574"/>
                  <a:pt x="3058007" y="2017574"/>
                  <a:pt x="3290779" y="2420748"/>
                </a:cubicBezTo>
                <a:cubicBezTo>
                  <a:pt x="3305862" y="2446871"/>
                  <a:pt x="3305555" y="2478396"/>
                  <a:pt x="3290540" y="2504482"/>
                </a:cubicBezTo>
                <a:cubicBezTo>
                  <a:pt x="3290540" y="2504482"/>
                  <a:pt x="3290540" y="2504482"/>
                  <a:pt x="3058778" y="2906492"/>
                </a:cubicBezTo>
                <a:cubicBezTo>
                  <a:pt x="3044630" y="2932076"/>
                  <a:pt x="3016868" y="2948104"/>
                  <a:pt x="2987637" y="2947565"/>
                </a:cubicBezTo>
                <a:cubicBezTo>
                  <a:pt x="2987637" y="2947565"/>
                  <a:pt x="2987637" y="2947565"/>
                  <a:pt x="2523606" y="2947271"/>
                </a:cubicBezTo>
                <a:cubicBezTo>
                  <a:pt x="2493508" y="2947232"/>
                  <a:pt x="2466052" y="2931735"/>
                  <a:pt x="2450970" y="2905612"/>
                </a:cubicBezTo>
                <a:cubicBezTo>
                  <a:pt x="2450970" y="2905612"/>
                  <a:pt x="2450970" y="2905612"/>
                  <a:pt x="2218197" y="2502438"/>
                </a:cubicBezTo>
                <a:cubicBezTo>
                  <a:pt x="2203617" y="2477185"/>
                  <a:pt x="2203422" y="2444788"/>
                  <a:pt x="2218941" y="2419574"/>
                </a:cubicBezTo>
                <a:cubicBezTo>
                  <a:pt x="2218941" y="2419574"/>
                  <a:pt x="2218941" y="2419574"/>
                  <a:pt x="2450199" y="2016694"/>
                </a:cubicBezTo>
                <a:cubicBezTo>
                  <a:pt x="2464347" y="1991110"/>
                  <a:pt x="2492109" y="1975081"/>
                  <a:pt x="2521339" y="1975621"/>
                </a:cubicBezTo>
                <a:close/>
                <a:moveTo>
                  <a:pt x="3564142" y="34"/>
                </a:moveTo>
                <a:cubicBezTo>
                  <a:pt x="3564142" y="34"/>
                  <a:pt x="3564142" y="34"/>
                  <a:pt x="4738405" y="2977"/>
                </a:cubicBezTo>
                <a:cubicBezTo>
                  <a:pt x="4813218" y="874"/>
                  <a:pt x="4883890" y="42249"/>
                  <a:pt x="4920745" y="106084"/>
                </a:cubicBezTo>
                <a:cubicBezTo>
                  <a:pt x="4920745" y="106084"/>
                  <a:pt x="4920745" y="106084"/>
                  <a:pt x="5509155" y="1125240"/>
                </a:cubicBezTo>
                <a:cubicBezTo>
                  <a:pt x="5547281" y="1191277"/>
                  <a:pt x="5546507" y="1270967"/>
                  <a:pt x="5508549" y="1336906"/>
                </a:cubicBezTo>
                <a:cubicBezTo>
                  <a:pt x="5508549" y="1336906"/>
                  <a:pt x="5508549" y="1336906"/>
                  <a:pt x="4922696" y="2353119"/>
                </a:cubicBezTo>
                <a:cubicBezTo>
                  <a:pt x="4886932" y="2417792"/>
                  <a:pt x="4816753" y="2458309"/>
                  <a:pt x="4742864" y="2456945"/>
                </a:cubicBezTo>
                <a:cubicBezTo>
                  <a:pt x="4742864" y="2456945"/>
                  <a:pt x="4742864" y="2456945"/>
                  <a:pt x="3569871" y="2456203"/>
                </a:cubicBezTo>
                <a:cubicBezTo>
                  <a:pt x="3493788" y="2456106"/>
                  <a:pt x="3424385" y="2416932"/>
                  <a:pt x="3386259" y="2350896"/>
                </a:cubicBezTo>
                <a:cubicBezTo>
                  <a:pt x="3386259" y="2350896"/>
                  <a:pt x="3386259" y="2350896"/>
                  <a:pt x="2797848" y="1331739"/>
                </a:cubicBezTo>
                <a:cubicBezTo>
                  <a:pt x="2760993" y="1267904"/>
                  <a:pt x="2760499" y="1186012"/>
                  <a:pt x="2799727" y="1122274"/>
                </a:cubicBezTo>
                <a:cubicBezTo>
                  <a:pt x="2799727" y="1122274"/>
                  <a:pt x="2799727" y="1122274"/>
                  <a:pt x="3384310" y="103860"/>
                </a:cubicBezTo>
                <a:cubicBezTo>
                  <a:pt x="3420073" y="39188"/>
                  <a:pt x="3490251" y="-1330"/>
                  <a:pt x="3564142" y="34"/>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4081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7607300" y="43868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54517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2">
    <p:spTree>
      <p:nvGrpSpPr>
        <p:cNvPr id="1" name=""/>
        <p:cNvGrpSpPr/>
        <p:nvPr/>
      </p:nvGrpSpPr>
      <p:grpSpPr>
        <a:xfrm>
          <a:off x="0" y="0"/>
          <a:ext cx="0" cy="0"/>
          <a:chOff x="0" y="0"/>
          <a:chExt cx="0" cy="0"/>
        </a:xfrm>
      </p:grpSpPr>
      <p:sp>
        <p:nvSpPr>
          <p:cNvPr id="12" name="Рисунок 11">
            <a:extLst>
              <a:ext uri="{FF2B5EF4-FFF2-40B4-BE49-F238E27FC236}">
                <a16:creationId xmlns:a16="http://schemas.microsoft.com/office/drawing/2014/main" id="{7B7C90C9-77F3-4C3C-97F8-425EF81FB7A7}"/>
              </a:ext>
            </a:extLst>
          </p:cNvPr>
          <p:cNvSpPr>
            <a:spLocks noGrp="1"/>
          </p:cNvSpPr>
          <p:nvPr>
            <p:ph type="pic" sz="quarter" idx="13" hasCustomPrompt="1"/>
          </p:nvPr>
        </p:nvSpPr>
        <p:spPr>
          <a:xfrm>
            <a:off x="-1" y="0"/>
            <a:ext cx="11795125" cy="6858000"/>
          </a:xfrm>
          <a:custGeom>
            <a:avLst/>
            <a:gdLst>
              <a:gd name="connsiteX0" fmla="*/ 4729712 w 11795125"/>
              <a:gd name="connsiteY0" fmla="*/ 4417922 h 6858000"/>
              <a:gd name="connsiteX1" fmla="*/ 7234278 w 11795125"/>
              <a:gd name="connsiteY1" fmla="*/ 4419507 h 6858000"/>
              <a:gd name="connsiteX2" fmla="*/ 7626325 w 11795125"/>
              <a:gd name="connsiteY2" fmla="*/ 4644358 h 6858000"/>
              <a:gd name="connsiteX3" fmla="*/ 8882694 w 11795125"/>
              <a:gd name="connsiteY3" fmla="*/ 6820455 h 6858000"/>
              <a:gd name="connsiteX4" fmla="*/ 8898077 w 11795125"/>
              <a:gd name="connsiteY4" fmla="*/ 6858000 h 6858000"/>
              <a:gd name="connsiteX5" fmla="*/ 3070863 w 11795125"/>
              <a:gd name="connsiteY5" fmla="*/ 6858000 h 6858000"/>
              <a:gd name="connsiteX6" fmla="*/ 3094823 w 11795125"/>
              <a:gd name="connsiteY6" fmla="*/ 6809422 h 6858000"/>
              <a:gd name="connsiteX7" fmla="*/ 4345735 w 11795125"/>
              <a:gd name="connsiteY7" fmla="*/ 4639611 h 6858000"/>
              <a:gd name="connsiteX8" fmla="*/ 4729712 w 11795125"/>
              <a:gd name="connsiteY8" fmla="*/ 4417922 h 6858000"/>
              <a:gd name="connsiteX9" fmla="*/ 2031302 w 11795125"/>
              <a:gd name="connsiteY9" fmla="*/ 2039301 h 6858000"/>
              <a:gd name="connsiteX10" fmla="*/ 2747265 w 11795125"/>
              <a:gd name="connsiteY10" fmla="*/ 2039754 h 6858000"/>
              <a:gd name="connsiteX11" fmla="*/ 2859337 w 11795125"/>
              <a:gd name="connsiteY11" fmla="*/ 2104031 h 6858000"/>
              <a:gd name="connsiteX12" fmla="*/ 3218486 w 11795125"/>
              <a:gd name="connsiteY12" fmla="*/ 2726096 h 6858000"/>
              <a:gd name="connsiteX13" fmla="*/ 3217340 w 11795125"/>
              <a:gd name="connsiteY13" fmla="*/ 2853948 h 6858000"/>
              <a:gd name="connsiteX14" fmla="*/ 2860527 w 11795125"/>
              <a:gd name="connsiteY14" fmla="*/ 3475560 h 6858000"/>
              <a:gd name="connsiteX15" fmla="*/ 2750762 w 11795125"/>
              <a:gd name="connsiteY15" fmla="*/ 3538933 h 6858000"/>
              <a:gd name="connsiteX16" fmla="*/ 2034023 w 11795125"/>
              <a:gd name="connsiteY16" fmla="*/ 3537136 h 6858000"/>
              <a:gd name="connsiteX17" fmla="*/ 1922728 w 11795125"/>
              <a:gd name="connsiteY17" fmla="*/ 3474202 h 6858000"/>
              <a:gd name="connsiteX18" fmla="*/ 1563578 w 11795125"/>
              <a:gd name="connsiteY18" fmla="*/ 2852137 h 6858000"/>
              <a:gd name="connsiteX19" fmla="*/ 1563948 w 11795125"/>
              <a:gd name="connsiteY19" fmla="*/ 2722942 h 6858000"/>
              <a:gd name="connsiteX20" fmla="*/ 1921537 w 11795125"/>
              <a:gd name="connsiteY20" fmla="*/ 2102674 h 6858000"/>
              <a:gd name="connsiteX21" fmla="*/ 2031302 w 11795125"/>
              <a:gd name="connsiteY21" fmla="*/ 2039301 h 6858000"/>
              <a:gd name="connsiteX22" fmla="*/ 9343478 w 11795125"/>
              <a:gd name="connsiteY22" fmla="*/ 1795745 h 6858000"/>
              <a:gd name="connsiteX23" fmla="*/ 11620502 w 11795125"/>
              <a:gd name="connsiteY23" fmla="*/ 1797185 h 6858000"/>
              <a:gd name="connsiteX24" fmla="*/ 11795125 w 11795125"/>
              <a:gd name="connsiteY24" fmla="*/ 1797296 h 6858000"/>
              <a:gd name="connsiteX25" fmla="*/ 11795125 w 11795125"/>
              <a:gd name="connsiteY25" fmla="*/ 6858000 h 6858000"/>
              <a:gd name="connsiteX26" fmla="*/ 8996698 w 11795125"/>
              <a:gd name="connsiteY26" fmla="*/ 6858000 h 6858000"/>
              <a:gd name="connsiteX27" fmla="*/ 8963663 w 11795125"/>
              <a:gd name="connsiteY27" fmla="*/ 6815289 h 6858000"/>
              <a:gd name="connsiteX28" fmla="*/ 7707295 w 11795125"/>
              <a:gd name="connsiteY28" fmla="*/ 4639193 h 6858000"/>
              <a:gd name="connsiteX29" fmla="*/ 7708590 w 11795125"/>
              <a:gd name="connsiteY29" fmla="*/ 4187244 h 6858000"/>
              <a:gd name="connsiteX30" fmla="*/ 8959501 w 11795125"/>
              <a:gd name="connsiteY30" fmla="*/ 2017434 h 6858000"/>
              <a:gd name="connsiteX31" fmla="*/ 9343478 w 11795125"/>
              <a:gd name="connsiteY31" fmla="*/ 1795745 h 6858000"/>
              <a:gd name="connsiteX32" fmla="*/ 3102644 w 11795125"/>
              <a:gd name="connsiteY32" fmla="*/ 1739841 h 6858000"/>
              <a:gd name="connsiteX33" fmla="*/ 3385876 w 11795125"/>
              <a:gd name="connsiteY33" fmla="*/ 1740020 h 6858000"/>
              <a:gd name="connsiteX34" fmla="*/ 3430211 w 11795125"/>
              <a:gd name="connsiteY34" fmla="*/ 1765448 h 6858000"/>
              <a:gd name="connsiteX35" fmla="*/ 3572289 w 11795125"/>
              <a:gd name="connsiteY35" fmla="*/ 2011533 h 6858000"/>
              <a:gd name="connsiteX36" fmla="*/ 3571836 w 11795125"/>
              <a:gd name="connsiteY36" fmla="*/ 2062111 h 6858000"/>
              <a:gd name="connsiteX37" fmla="*/ 3430681 w 11795125"/>
              <a:gd name="connsiteY37" fmla="*/ 2308019 h 6858000"/>
              <a:gd name="connsiteX38" fmla="*/ 3387260 w 11795125"/>
              <a:gd name="connsiteY38" fmla="*/ 2333088 h 6858000"/>
              <a:gd name="connsiteX39" fmla="*/ 3103720 w 11795125"/>
              <a:gd name="connsiteY39" fmla="*/ 2332378 h 6858000"/>
              <a:gd name="connsiteX40" fmla="*/ 3059693 w 11795125"/>
              <a:gd name="connsiteY40" fmla="*/ 2307481 h 6858000"/>
              <a:gd name="connsiteX41" fmla="*/ 2917615 w 11795125"/>
              <a:gd name="connsiteY41" fmla="*/ 2061395 h 6858000"/>
              <a:gd name="connsiteX42" fmla="*/ 2917761 w 11795125"/>
              <a:gd name="connsiteY42" fmla="*/ 2010286 h 6858000"/>
              <a:gd name="connsiteX43" fmla="*/ 3059222 w 11795125"/>
              <a:gd name="connsiteY43" fmla="*/ 1764910 h 6858000"/>
              <a:gd name="connsiteX44" fmla="*/ 3102644 w 11795125"/>
              <a:gd name="connsiteY44" fmla="*/ 1739841 h 6858000"/>
              <a:gd name="connsiteX45" fmla="*/ 3522963 w 11795125"/>
              <a:gd name="connsiteY45" fmla="*/ 1598675 h 6858000"/>
              <a:gd name="connsiteX46" fmla="*/ 3625194 w 11795125"/>
              <a:gd name="connsiteY46" fmla="*/ 1598740 h 6858000"/>
              <a:gd name="connsiteX47" fmla="*/ 3641197 w 11795125"/>
              <a:gd name="connsiteY47" fmla="*/ 1607918 h 6858000"/>
              <a:gd name="connsiteX48" fmla="*/ 3692479 w 11795125"/>
              <a:gd name="connsiteY48" fmla="*/ 1696742 h 6858000"/>
              <a:gd name="connsiteX49" fmla="*/ 3692315 w 11795125"/>
              <a:gd name="connsiteY49" fmla="*/ 1714998 h 6858000"/>
              <a:gd name="connsiteX50" fmla="*/ 3641367 w 11795125"/>
              <a:gd name="connsiteY50" fmla="*/ 1803757 h 6858000"/>
              <a:gd name="connsiteX51" fmla="*/ 3625694 w 11795125"/>
              <a:gd name="connsiteY51" fmla="*/ 1812806 h 6858000"/>
              <a:gd name="connsiteX52" fmla="*/ 3523352 w 11795125"/>
              <a:gd name="connsiteY52" fmla="*/ 1812549 h 6858000"/>
              <a:gd name="connsiteX53" fmla="*/ 3507459 w 11795125"/>
              <a:gd name="connsiteY53" fmla="*/ 1803563 h 6858000"/>
              <a:gd name="connsiteX54" fmla="*/ 3456177 w 11795125"/>
              <a:gd name="connsiteY54" fmla="*/ 1714739 h 6858000"/>
              <a:gd name="connsiteX55" fmla="*/ 3456230 w 11795125"/>
              <a:gd name="connsiteY55" fmla="*/ 1696292 h 6858000"/>
              <a:gd name="connsiteX56" fmla="*/ 3507290 w 11795125"/>
              <a:gd name="connsiteY56" fmla="*/ 1607724 h 6858000"/>
              <a:gd name="connsiteX57" fmla="*/ 3522963 w 11795125"/>
              <a:gd name="connsiteY57" fmla="*/ 1598675 h 6858000"/>
              <a:gd name="connsiteX58" fmla="*/ 4199803 w 11795125"/>
              <a:gd name="connsiteY58" fmla="*/ 1370724 h 6858000"/>
              <a:gd name="connsiteX59" fmla="*/ 4537019 w 11795125"/>
              <a:gd name="connsiteY59" fmla="*/ 1370938 h 6858000"/>
              <a:gd name="connsiteX60" fmla="*/ 4589804 w 11795125"/>
              <a:gd name="connsiteY60" fmla="*/ 1401211 h 6858000"/>
              <a:gd name="connsiteX61" fmla="*/ 4758963 w 11795125"/>
              <a:gd name="connsiteY61" fmla="*/ 1694203 h 6858000"/>
              <a:gd name="connsiteX62" fmla="*/ 4758423 w 11795125"/>
              <a:gd name="connsiteY62" fmla="*/ 1754421 h 6858000"/>
              <a:gd name="connsiteX63" fmla="*/ 4590365 w 11795125"/>
              <a:gd name="connsiteY63" fmla="*/ 2047199 h 6858000"/>
              <a:gd name="connsiteX64" fmla="*/ 4538665 w 11795125"/>
              <a:gd name="connsiteY64" fmla="*/ 2077046 h 6858000"/>
              <a:gd name="connsiteX65" fmla="*/ 4201084 w 11795125"/>
              <a:gd name="connsiteY65" fmla="*/ 2076201 h 6858000"/>
              <a:gd name="connsiteX66" fmla="*/ 4148664 w 11795125"/>
              <a:gd name="connsiteY66" fmla="*/ 2046559 h 6858000"/>
              <a:gd name="connsiteX67" fmla="*/ 3979505 w 11795125"/>
              <a:gd name="connsiteY67" fmla="*/ 1753567 h 6858000"/>
              <a:gd name="connsiteX68" fmla="*/ 3979680 w 11795125"/>
              <a:gd name="connsiteY68" fmla="*/ 1692718 h 6858000"/>
              <a:gd name="connsiteX69" fmla="*/ 4148104 w 11795125"/>
              <a:gd name="connsiteY69" fmla="*/ 1400573 h 6858000"/>
              <a:gd name="connsiteX70" fmla="*/ 4199803 w 11795125"/>
              <a:gd name="connsiteY70" fmla="*/ 1370724 h 6858000"/>
              <a:gd name="connsiteX71" fmla="*/ 3525946 w 11795125"/>
              <a:gd name="connsiteY71" fmla="*/ 1141304 h 6858000"/>
              <a:gd name="connsiteX72" fmla="*/ 3719554 w 11795125"/>
              <a:gd name="connsiteY72" fmla="*/ 1141427 h 6858000"/>
              <a:gd name="connsiteX73" fmla="*/ 3749860 w 11795125"/>
              <a:gd name="connsiteY73" fmla="*/ 1158808 h 6858000"/>
              <a:gd name="connsiteX74" fmla="*/ 3846980 w 11795125"/>
              <a:gd name="connsiteY74" fmla="*/ 1327024 h 6858000"/>
              <a:gd name="connsiteX75" fmla="*/ 3846670 w 11795125"/>
              <a:gd name="connsiteY75" fmla="*/ 1361598 h 6858000"/>
              <a:gd name="connsiteX76" fmla="*/ 3750182 w 11795125"/>
              <a:gd name="connsiteY76" fmla="*/ 1529691 h 6858000"/>
              <a:gd name="connsiteX77" fmla="*/ 3720499 w 11795125"/>
              <a:gd name="connsiteY77" fmla="*/ 1546828 h 6858000"/>
              <a:gd name="connsiteX78" fmla="*/ 3526682 w 11795125"/>
              <a:gd name="connsiteY78" fmla="*/ 1546343 h 6858000"/>
              <a:gd name="connsiteX79" fmla="*/ 3496586 w 11795125"/>
              <a:gd name="connsiteY79" fmla="*/ 1529324 h 6858000"/>
              <a:gd name="connsiteX80" fmla="*/ 3399466 w 11795125"/>
              <a:gd name="connsiteY80" fmla="*/ 1361108 h 6858000"/>
              <a:gd name="connsiteX81" fmla="*/ 3399566 w 11795125"/>
              <a:gd name="connsiteY81" fmla="*/ 1326172 h 6858000"/>
              <a:gd name="connsiteX82" fmla="*/ 3496264 w 11795125"/>
              <a:gd name="connsiteY82" fmla="*/ 1158441 h 6858000"/>
              <a:gd name="connsiteX83" fmla="*/ 3525946 w 11795125"/>
              <a:gd name="connsiteY83" fmla="*/ 1141304 h 6858000"/>
              <a:gd name="connsiteX84" fmla="*/ 3955878 w 11795125"/>
              <a:gd name="connsiteY84" fmla="*/ 173494 h 6858000"/>
              <a:gd name="connsiteX85" fmla="*/ 4500068 w 11795125"/>
              <a:gd name="connsiteY85" fmla="*/ 173838 h 6858000"/>
              <a:gd name="connsiteX86" fmla="*/ 4585252 w 11795125"/>
              <a:gd name="connsiteY86" fmla="*/ 222694 h 6858000"/>
              <a:gd name="connsiteX87" fmla="*/ 4858234 w 11795125"/>
              <a:gd name="connsiteY87" fmla="*/ 695514 h 6858000"/>
              <a:gd name="connsiteX88" fmla="*/ 4857363 w 11795125"/>
              <a:gd name="connsiteY88" fmla="*/ 792690 h 6858000"/>
              <a:gd name="connsiteX89" fmla="*/ 4586156 w 11795125"/>
              <a:gd name="connsiteY89" fmla="*/ 1265167 h 6858000"/>
              <a:gd name="connsiteX90" fmla="*/ 4502727 w 11795125"/>
              <a:gd name="connsiteY90" fmla="*/ 1313334 h 6858000"/>
              <a:gd name="connsiteX91" fmla="*/ 3957947 w 11795125"/>
              <a:gd name="connsiteY91" fmla="*/ 1311968 h 6858000"/>
              <a:gd name="connsiteX92" fmla="*/ 3873354 w 11795125"/>
              <a:gd name="connsiteY92" fmla="*/ 1264134 h 6858000"/>
              <a:gd name="connsiteX93" fmla="*/ 3600372 w 11795125"/>
              <a:gd name="connsiteY93" fmla="*/ 791315 h 6858000"/>
              <a:gd name="connsiteX94" fmla="*/ 3600653 w 11795125"/>
              <a:gd name="connsiteY94" fmla="*/ 693116 h 6858000"/>
              <a:gd name="connsiteX95" fmla="*/ 3872449 w 11795125"/>
              <a:gd name="connsiteY95" fmla="*/ 221662 h 6858000"/>
              <a:gd name="connsiteX96" fmla="*/ 3955878 w 11795125"/>
              <a:gd name="connsiteY96" fmla="*/ 173494 h 6858000"/>
              <a:gd name="connsiteX97" fmla="*/ 3852283 w 11795125"/>
              <a:gd name="connsiteY97" fmla="*/ 0 h 6858000"/>
              <a:gd name="connsiteX98" fmla="*/ 6130031 w 11795125"/>
              <a:gd name="connsiteY98" fmla="*/ 0 h 6858000"/>
              <a:gd name="connsiteX99" fmla="*/ 6102465 w 11795125"/>
              <a:gd name="connsiteY99" fmla="*/ 36730 h 6858000"/>
              <a:gd name="connsiteX100" fmla="*/ 5879948 w 11795125"/>
              <a:gd name="connsiteY100" fmla="*/ 127724 h 6858000"/>
              <a:gd name="connsiteX101" fmla="*/ 4102884 w 11795125"/>
              <a:gd name="connsiteY101" fmla="*/ 123270 h 6858000"/>
              <a:gd name="connsiteX102" fmla="*/ 3877665 w 11795125"/>
              <a:gd name="connsiteY102" fmla="*/ 32818 h 6858000"/>
              <a:gd name="connsiteX103" fmla="*/ 0 w 11795125"/>
              <a:gd name="connsiteY103" fmla="*/ 0 h 6858000"/>
              <a:gd name="connsiteX104" fmla="*/ 3781476 w 11795125"/>
              <a:gd name="connsiteY104" fmla="*/ 0 h 6858000"/>
              <a:gd name="connsiteX105" fmla="*/ 3800985 w 11795125"/>
              <a:gd name="connsiteY105" fmla="*/ 47617 h 6858000"/>
              <a:gd name="connsiteX106" fmla="*/ 3766711 w 11795125"/>
              <a:gd name="connsiteY106" fmla="*/ 287889 h 6858000"/>
              <a:gd name="connsiteX107" fmla="*/ 2882037 w 11795125"/>
              <a:gd name="connsiteY107" fmla="*/ 1829098 h 6858000"/>
              <a:gd name="connsiteX108" fmla="*/ 2609888 w 11795125"/>
              <a:gd name="connsiteY108" fmla="*/ 1986223 h 6858000"/>
              <a:gd name="connsiteX109" fmla="*/ 832823 w 11795125"/>
              <a:gd name="connsiteY109" fmla="*/ 1981768 h 6858000"/>
              <a:gd name="connsiteX110" fmla="*/ 556879 w 11795125"/>
              <a:gd name="connsiteY110" fmla="*/ 1825733 h 6858000"/>
              <a:gd name="connsiteX111" fmla="*/ 79254 w 11795125"/>
              <a:gd name="connsiteY111" fmla="*/ 998462 h 6858000"/>
              <a:gd name="connsiteX112" fmla="*/ 0 w 11795125"/>
              <a:gd name="connsiteY112" fmla="*/ 8611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95125" h="6858000">
                <a:moveTo>
                  <a:pt x="4729712" y="4417922"/>
                </a:moveTo>
                <a:cubicBezTo>
                  <a:pt x="4729712" y="4417922"/>
                  <a:pt x="4729712" y="4417922"/>
                  <a:pt x="7234278" y="4419507"/>
                </a:cubicBezTo>
                <a:cubicBezTo>
                  <a:pt x="7396730" y="4419716"/>
                  <a:pt x="7544918" y="4503359"/>
                  <a:pt x="7626325" y="4644358"/>
                </a:cubicBezTo>
                <a:cubicBezTo>
                  <a:pt x="7626325" y="4644358"/>
                  <a:pt x="7626325" y="4644358"/>
                  <a:pt x="8882694" y="6820455"/>
                </a:cubicBezTo>
                <a:lnTo>
                  <a:pt x="8898077" y="6858000"/>
                </a:lnTo>
                <a:lnTo>
                  <a:pt x="3070863" y="6858000"/>
                </a:lnTo>
                <a:lnTo>
                  <a:pt x="3094823" y="6809422"/>
                </a:lnTo>
                <a:cubicBezTo>
                  <a:pt x="3094823" y="6809422"/>
                  <a:pt x="3094823" y="6809422"/>
                  <a:pt x="4345735" y="4639611"/>
                </a:cubicBezTo>
                <a:cubicBezTo>
                  <a:pt x="4422097" y="4501523"/>
                  <a:pt x="4571941" y="4415010"/>
                  <a:pt x="4729712" y="4417922"/>
                </a:cubicBezTo>
                <a:close/>
                <a:moveTo>
                  <a:pt x="2031302" y="2039301"/>
                </a:moveTo>
                <a:cubicBezTo>
                  <a:pt x="2031302" y="2039301"/>
                  <a:pt x="2031302" y="2039301"/>
                  <a:pt x="2747265" y="2039754"/>
                </a:cubicBezTo>
                <a:cubicBezTo>
                  <a:pt x="2793703" y="2039814"/>
                  <a:pt x="2836066" y="2063724"/>
                  <a:pt x="2859337" y="2104031"/>
                </a:cubicBezTo>
                <a:cubicBezTo>
                  <a:pt x="2859337" y="2104031"/>
                  <a:pt x="2859337" y="2104031"/>
                  <a:pt x="3218486" y="2726096"/>
                </a:cubicBezTo>
                <a:cubicBezTo>
                  <a:pt x="3240981" y="2765058"/>
                  <a:pt x="3241283" y="2815045"/>
                  <a:pt x="3217340" y="2853948"/>
                </a:cubicBezTo>
                <a:cubicBezTo>
                  <a:pt x="3217340" y="2853948"/>
                  <a:pt x="3217340" y="2853948"/>
                  <a:pt x="2860527" y="3475560"/>
                </a:cubicBezTo>
                <a:cubicBezTo>
                  <a:pt x="2838697" y="3515034"/>
                  <a:pt x="2795862" y="3539765"/>
                  <a:pt x="2750762" y="3538933"/>
                </a:cubicBezTo>
                <a:cubicBezTo>
                  <a:pt x="2750762" y="3538933"/>
                  <a:pt x="2750762" y="3538933"/>
                  <a:pt x="2034023" y="3537136"/>
                </a:cubicBezTo>
                <a:cubicBezTo>
                  <a:pt x="1988359" y="3538420"/>
                  <a:pt x="1945223" y="3513165"/>
                  <a:pt x="1922728" y="3474202"/>
                </a:cubicBezTo>
                <a:cubicBezTo>
                  <a:pt x="1922728" y="3474202"/>
                  <a:pt x="1922728" y="3474202"/>
                  <a:pt x="1563578" y="2852137"/>
                </a:cubicBezTo>
                <a:cubicBezTo>
                  <a:pt x="1540307" y="2811831"/>
                  <a:pt x="1540780" y="2763190"/>
                  <a:pt x="1563948" y="2722942"/>
                </a:cubicBezTo>
                <a:cubicBezTo>
                  <a:pt x="1563948" y="2722942"/>
                  <a:pt x="1563948" y="2722942"/>
                  <a:pt x="1921537" y="2102674"/>
                </a:cubicBezTo>
                <a:cubicBezTo>
                  <a:pt x="1943366" y="2063199"/>
                  <a:pt x="1986202" y="2038468"/>
                  <a:pt x="2031302" y="2039301"/>
                </a:cubicBezTo>
                <a:close/>
                <a:moveTo>
                  <a:pt x="9343478" y="1795745"/>
                </a:moveTo>
                <a:cubicBezTo>
                  <a:pt x="9343478" y="1795745"/>
                  <a:pt x="9343478" y="1795745"/>
                  <a:pt x="11620502" y="1797185"/>
                </a:cubicBezTo>
                <a:lnTo>
                  <a:pt x="11795125" y="1797296"/>
                </a:lnTo>
                <a:lnTo>
                  <a:pt x="11795125" y="6858000"/>
                </a:lnTo>
                <a:lnTo>
                  <a:pt x="8996698" y="6858000"/>
                </a:lnTo>
                <a:lnTo>
                  <a:pt x="8963663" y="6815289"/>
                </a:lnTo>
                <a:cubicBezTo>
                  <a:pt x="8963663" y="6815289"/>
                  <a:pt x="8963663" y="6815289"/>
                  <a:pt x="7707295" y="4639193"/>
                </a:cubicBezTo>
                <a:cubicBezTo>
                  <a:pt x="7625888" y="4498193"/>
                  <a:pt x="7627546" y="4328036"/>
                  <a:pt x="7708590" y="4187244"/>
                </a:cubicBezTo>
                <a:cubicBezTo>
                  <a:pt x="7708590" y="4187244"/>
                  <a:pt x="7708590" y="4187244"/>
                  <a:pt x="8959501" y="2017434"/>
                </a:cubicBezTo>
                <a:cubicBezTo>
                  <a:pt x="9035863" y="1879345"/>
                  <a:pt x="9185707" y="1792833"/>
                  <a:pt x="9343478" y="1795745"/>
                </a:cubicBezTo>
                <a:close/>
                <a:moveTo>
                  <a:pt x="3102644" y="1739841"/>
                </a:moveTo>
                <a:cubicBezTo>
                  <a:pt x="3102644" y="1739841"/>
                  <a:pt x="3102644" y="1739841"/>
                  <a:pt x="3385876" y="1740020"/>
                </a:cubicBezTo>
                <a:cubicBezTo>
                  <a:pt x="3404247" y="1740043"/>
                  <a:pt x="3421005" y="1749503"/>
                  <a:pt x="3430211" y="1765448"/>
                </a:cubicBezTo>
                <a:cubicBezTo>
                  <a:pt x="3430211" y="1765448"/>
                  <a:pt x="3430211" y="1765448"/>
                  <a:pt x="3572289" y="2011533"/>
                </a:cubicBezTo>
                <a:cubicBezTo>
                  <a:pt x="3581188" y="2026948"/>
                  <a:pt x="3581308" y="2046721"/>
                  <a:pt x="3571836" y="2062111"/>
                </a:cubicBezTo>
                <a:cubicBezTo>
                  <a:pt x="3571836" y="2062111"/>
                  <a:pt x="3571836" y="2062111"/>
                  <a:pt x="3430681" y="2308019"/>
                </a:cubicBezTo>
                <a:cubicBezTo>
                  <a:pt x="3422046" y="2323634"/>
                  <a:pt x="3405101" y="2333418"/>
                  <a:pt x="3387260" y="2333088"/>
                </a:cubicBezTo>
                <a:cubicBezTo>
                  <a:pt x="3387260" y="2333088"/>
                  <a:pt x="3387260" y="2333088"/>
                  <a:pt x="3103720" y="2332378"/>
                </a:cubicBezTo>
                <a:cubicBezTo>
                  <a:pt x="3085656" y="2332886"/>
                  <a:pt x="3068592" y="2322895"/>
                  <a:pt x="3059693" y="2307481"/>
                </a:cubicBezTo>
                <a:cubicBezTo>
                  <a:pt x="3059693" y="2307481"/>
                  <a:pt x="3059693" y="2307481"/>
                  <a:pt x="2917615" y="2061395"/>
                </a:cubicBezTo>
                <a:cubicBezTo>
                  <a:pt x="2908409" y="2045450"/>
                  <a:pt x="2908596" y="2026208"/>
                  <a:pt x="2917761" y="2010286"/>
                </a:cubicBezTo>
                <a:cubicBezTo>
                  <a:pt x="2917761" y="2010286"/>
                  <a:pt x="2917761" y="2010286"/>
                  <a:pt x="3059222" y="1764910"/>
                </a:cubicBezTo>
                <a:cubicBezTo>
                  <a:pt x="3067857" y="1749295"/>
                  <a:pt x="3084803" y="1739511"/>
                  <a:pt x="3102644" y="1739841"/>
                </a:cubicBezTo>
                <a:close/>
                <a:moveTo>
                  <a:pt x="3522963" y="1598675"/>
                </a:moveTo>
                <a:cubicBezTo>
                  <a:pt x="3522963" y="1598675"/>
                  <a:pt x="3522963" y="1598675"/>
                  <a:pt x="3625194" y="1598740"/>
                </a:cubicBezTo>
                <a:cubicBezTo>
                  <a:pt x="3631826" y="1598748"/>
                  <a:pt x="3637874" y="1602162"/>
                  <a:pt x="3641197" y="1607918"/>
                </a:cubicBezTo>
                <a:cubicBezTo>
                  <a:pt x="3641197" y="1607918"/>
                  <a:pt x="3641197" y="1607918"/>
                  <a:pt x="3692479" y="1696742"/>
                </a:cubicBezTo>
                <a:cubicBezTo>
                  <a:pt x="3695691" y="1702305"/>
                  <a:pt x="3695735" y="1709443"/>
                  <a:pt x="3692315" y="1714998"/>
                </a:cubicBezTo>
                <a:cubicBezTo>
                  <a:pt x="3692315" y="1714998"/>
                  <a:pt x="3692315" y="1714998"/>
                  <a:pt x="3641367" y="1803757"/>
                </a:cubicBezTo>
                <a:cubicBezTo>
                  <a:pt x="3638250" y="1809393"/>
                  <a:pt x="3632134" y="1812924"/>
                  <a:pt x="3625694" y="1812806"/>
                </a:cubicBezTo>
                <a:cubicBezTo>
                  <a:pt x="3625694" y="1812806"/>
                  <a:pt x="3625694" y="1812806"/>
                  <a:pt x="3523352" y="1812549"/>
                </a:cubicBezTo>
                <a:cubicBezTo>
                  <a:pt x="3516832" y="1812733"/>
                  <a:pt x="3510671" y="1809127"/>
                  <a:pt x="3507459" y="1803563"/>
                </a:cubicBezTo>
                <a:cubicBezTo>
                  <a:pt x="3507459" y="1803563"/>
                  <a:pt x="3507459" y="1803563"/>
                  <a:pt x="3456177" y="1714739"/>
                </a:cubicBezTo>
                <a:cubicBezTo>
                  <a:pt x="3452854" y="1708984"/>
                  <a:pt x="3452922" y="1702038"/>
                  <a:pt x="3456230" y="1696292"/>
                </a:cubicBezTo>
                <a:cubicBezTo>
                  <a:pt x="3456230" y="1696292"/>
                  <a:pt x="3456230" y="1696292"/>
                  <a:pt x="3507290" y="1607724"/>
                </a:cubicBezTo>
                <a:cubicBezTo>
                  <a:pt x="3510406" y="1602087"/>
                  <a:pt x="3516523" y="1598556"/>
                  <a:pt x="3522963" y="1598675"/>
                </a:cubicBezTo>
                <a:close/>
                <a:moveTo>
                  <a:pt x="4199803" y="1370724"/>
                </a:moveTo>
                <a:cubicBezTo>
                  <a:pt x="4199803" y="1370724"/>
                  <a:pt x="4199803" y="1370724"/>
                  <a:pt x="4537019" y="1370938"/>
                </a:cubicBezTo>
                <a:cubicBezTo>
                  <a:pt x="4558892" y="1370965"/>
                  <a:pt x="4578843" y="1382227"/>
                  <a:pt x="4589804" y="1401211"/>
                </a:cubicBezTo>
                <a:cubicBezTo>
                  <a:pt x="4589804" y="1401211"/>
                  <a:pt x="4589804" y="1401211"/>
                  <a:pt x="4758963" y="1694203"/>
                </a:cubicBezTo>
                <a:cubicBezTo>
                  <a:pt x="4769558" y="1712554"/>
                  <a:pt x="4769700" y="1736097"/>
                  <a:pt x="4758423" y="1754421"/>
                </a:cubicBezTo>
                <a:cubicBezTo>
                  <a:pt x="4758423" y="1754421"/>
                  <a:pt x="4758423" y="1754421"/>
                  <a:pt x="4590365" y="2047199"/>
                </a:cubicBezTo>
                <a:cubicBezTo>
                  <a:pt x="4580083" y="2065790"/>
                  <a:pt x="4559908" y="2077438"/>
                  <a:pt x="4538665" y="2077046"/>
                </a:cubicBezTo>
                <a:cubicBezTo>
                  <a:pt x="4538665" y="2077046"/>
                  <a:pt x="4538665" y="2077046"/>
                  <a:pt x="4201084" y="2076201"/>
                </a:cubicBezTo>
                <a:cubicBezTo>
                  <a:pt x="4179577" y="2076805"/>
                  <a:pt x="4159259" y="2064910"/>
                  <a:pt x="4148664" y="2046559"/>
                </a:cubicBezTo>
                <a:cubicBezTo>
                  <a:pt x="4148664" y="2046559"/>
                  <a:pt x="4148664" y="2046559"/>
                  <a:pt x="3979505" y="1753567"/>
                </a:cubicBezTo>
                <a:cubicBezTo>
                  <a:pt x="3968545" y="1734583"/>
                  <a:pt x="3968768" y="1711673"/>
                  <a:pt x="3979680" y="1692718"/>
                </a:cubicBezTo>
                <a:cubicBezTo>
                  <a:pt x="3979680" y="1692718"/>
                  <a:pt x="3979680" y="1692718"/>
                  <a:pt x="4148104" y="1400573"/>
                </a:cubicBezTo>
                <a:cubicBezTo>
                  <a:pt x="4158385" y="1381980"/>
                  <a:pt x="4178560" y="1370332"/>
                  <a:pt x="4199803" y="1370724"/>
                </a:cubicBezTo>
                <a:close/>
                <a:moveTo>
                  <a:pt x="3525946" y="1141304"/>
                </a:moveTo>
                <a:cubicBezTo>
                  <a:pt x="3525946" y="1141304"/>
                  <a:pt x="3525946" y="1141304"/>
                  <a:pt x="3719554" y="1141427"/>
                </a:cubicBezTo>
                <a:cubicBezTo>
                  <a:pt x="3732112" y="1141443"/>
                  <a:pt x="3743567" y="1147909"/>
                  <a:pt x="3749860" y="1158808"/>
                </a:cubicBezTo>
                <a:cubicBezTo>
                  <a:pt x="3749860" y="1158808"/>
                  <a:pt x="3749860" y="1158808"/>
                  <a:pt x="3846980" y="1327024"/>
                </a:cubicBezTo>
                <a:cubicBezTo>
                  <a:pt x="3853063" y="1337561"/>
                  <a:pt x="3853144" y="1351077"/>
                  <a:pt x="3846670" y="1361598"/>
                </a:cubicBezTo>
                <a:cubicBezTo>
                  <a:pt x="3846670" y="1361598"/>
                  <a:pt x="3846670" y="1361598"/>
                  <a:pt x="3750182" y="1529691"/>
                </a:cubicBezTo>
                <a:cubicBezTo>
                  <a:pt x="3744279" y="1540366"/>
                  <a:pt x="3732695" y="1547054"/>
                  <a:pt x="3720499" y="1546828"/>
                </a:cubicBezTo>
                <a:cubicBezTo>
                  <a:pt x="3720499" y="1546828"/>
                  <a:pt x="3720499" y="1546828"/>
                  <a:pt x="3526682" y="1546343"/>
                </a:cubicBezTo>
                <a:cubicBezTo>
                  <a:pt x="3514334" y="1546689"/>
                  <a:pt x="3502669" y="1539861"/>
                  <a:pt x="3496586" y="1529324"/>
                </a:cubicBezTo>
                <a:cubicBezTo>
                  <a:pt x="3496586" y="1529324"/>
                  <a:pt x="3496586" y="1529324"/>
                  <a:pt x="3399466" y="1361108"/>
                </a:cubicBezTo>
                <a:cubicBezTo>
                  <a:pt x="3393173" y="1350208"/>
                  <a:pt x="3393302" y="1337055"/>
                  <a:pt x="3399566" y="1326172"/>
                </a:cubicBezTo>
                <a:cubicBezTo>
                  <a:pt x="3399566" y="1326172"/>
                  <a:pt x="3399566" y="1326172"/>
                  <a:pt x="3496264" y="1158441"/>
                </a:cubicBezTo>
                <a:cubicBezTo>
                  <a:pt x="3502167" y="1147767"/>
                  <a:pt x="3513750" y="1141079"/>
                  <a:pt x="3525946" y="1141304"/>
                </a:cubicBezTo>
                <a:close/>
                <a:moveTo>
                  <a:pt x="3955878" y="173494"/>
                </a:moveTo>
                <a:cubicBezTo>
                  <a:pt x="3955878" y="173494"/>
                  <a:pt x="3955878" y="173494"/>
                  <a:pt x="4500068" y="173838"/>
                </a:cubicBezTo>
                <a:cubicBezTo>
                  <a:pt x="4535365" y="173884"/>
                  <a:pt x="4567564" y="192057"/>
                  <a:pt x="4585252" y="222694"/>
                </a:cubicBezTo>
                <a:cubicBezTo>
                  <a:pt x="4585252" y="222694"/>
                  <a:pt x="4585252" y="222694"/>
                  <a:pt x="4858234" y="695514"/>
                </a:cubicBezTo>
                <a:cubicBezTo>
                  <a:pt x="4875332" y="725128"/>
                  <a:pt x="4875562" y="763121"/>
                  <a:pt x="4857363" y="792690"/>
                </a:cubicBezTo>
                <a:cubicBezTo>
                  <a:pt x="4857363" y="792690"/>
                  <a:pt x="4857363" y="792690"/>
                  <a:pt x="4586156" y="1265167"/>
                </a:cubicBezTo>
                <a:cubicBezTo>
                  <a:pt x="4569564" y="1295169"/>
                  <a:pt x="4537006" y="1313967"/>
                  <a:pt x="4502727" y="1313334"/>
                </a:cubicBezTo>
                <a:cubicBezTo>
                  <a:pt x="4502727" y="1313334"/>
                  <a:pt x="4502727" y="1313334"/>
                  <a:pt x="3957947" y="1311968"/>
                </a:cubicBezTo>
                <a:cubicBezTo>
                  <a:pt x="3923239" y="1312944"/>
                  <a:pt x="3890452" y="1293749"/>
                  <a:pt x="3873354" y="1264134"/>
                </a:cubicBezTo>
                <a:cubicBezTo>
                  <a:pt x="3873354" y="1264134"/>
                  <a:pt x="3873354" y="1264134"/>
                  <a:pt x="3600372" y="791315"/>
                </a:cubicBezTo>
                <a:cubicBezTo>
                  <a:pt x="3582684" y="760678"/>
                  <a:pt x="3583043" y="723707"/>
                  <a:pt x="3600653" y="693116"/>
                </a:cubicBezTo>
                <a:cubicBezTo>
                  <a:pt x="3600653" y="693116"/>
                  <a:pt x="3600653" y="693116"/>
                  <a:pt x="3872449" y="221662"/>
                </a:cubicBezTo>
                <a:cubicBezTo>
                  <a:pt x="3889041" y="191658"/>
                  <a:pt x="3921599" y="172861"/>
                  <a:pt x="3955878" y="173494"/>
                </a:cubicBezTo>
                <a:close/>
                <a:moveTo>
                  <a:pt x="3852283" y="0"/>
                </a:moveTo>
                <a:lnTo>
                  <a:pt x="6130031" y="0"/>
                </a:lnTo>
                <a:lnTo>
                  <a:pt x="6102465" y="36730"/>
                </a:lnTo>
                <a:cubicBezTo>
                  <a:pt x="6044520" y="95168"/>
                  <a:pt x="5963814" y="129272"/>
                  <a:pt x="5879948" y="127724"/>
                </a:cubicBezTo>
                <a:cubicBezTo>
                  <a:pt x="5879948" y="127724"/>
                  <a:pt x="5879948" y="127724"/>
                  <a:pt x="4102884" y="123270"/>
                </a:cubicBezTo>
                <a:cubicBezTo>
                  <a:pt x="4017972" y="125657"/>
                  <a:pt x="3936583" y="91034"/>
                  <a:pt x="3877665" y="32818"/>
                </a:cubicBezTo>
                <a:close/>
                <a:moveTo>
                  <a:pt x="0" y="0"/>
                </a:moveTo>
                <a:lnTo>
                  <a:pt x="3781476" y="0"/>
                </a:lnTo>
                <a:lnTo>
                  <a:pt x="3800985" y="47617"/>
                </a:lnTo>
                <a:cubicBezTo>
                  <a:pt x="3821943" y="127749"/>
                  <a:pt x="3811234" y="215546"/>
                  <a:pt x="3766711" y="287889"/>
                </a:cubicBezTo>
                <a:cubicBezTo>
                  <a:pt x="3766711" y="287889"/>
                  <a:pt x="3766711" y="287889"/>
                  <a:pt x="2882037" y="1829098"/>
                </a:cubicBezTo>
                <a:cubicBezTo>
                  <a:pt x="2827913" y="1926970"/>
                  <a:pt x="2721708" y="1988287"/>
                  <a:pt x="2609888" y="1986223"/>
                </a:cubicBezTo>
                <a:cubicBezTo>
                  <a:pt x="2609888" y="1986223"/>
                  <a:pt x="2609888" y="1986223"/>
                  <a:pt x="832823" y="1981768"/>
                </a:cubicBezTo>
                <a:cubicBezTo>
                  <a:pt x="719607" y="1984952"/>
                  <a:pt x="612654" y="1922338"/>
                  <a:pt x="556879" y="1825733"/>
                </a:cubicBezTo>
                <a:cubicBezTo>
                  <a:pt x="556879" y="1825733"/>
                  <a:pt x="556879" y="1825733"/>
                  <a:pt x="79254" y="998462"/>
                </a:cubicBezTo>
                <a:lnTo>
                  <a:pt x="0" y="861190"/>
                </a:lnTo>
                <a:close/>
              </a:path>
            </a:pathLst>
          </a:custGeom>
          <a:solidFill>
            <a:schemeClr val="bg1">
              <a:lumMod val="95000"/>
            </a:schemeClr>
          </a:solidFill>
        </p:spPr>
        <p:txBody>
          <a:bodyPr wrap="square" tIns="864000" rtlCol="0">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62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481149" y="1684742"/>
            <a:ext cx="4904790" cy="433376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41629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3">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812170" y="237629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
        <p:nvSpPr>
          <p:cNvPr id="8" name="Рисунок 7">
            <a:extLst>
              <a:ext uri="{FF2B5EF4-FFF2-40B4-BE49-F238E27FC236}">
                <a16:creationId xmlns:a16="http://schemas.microsoft.com/office/drawing/2014/main" id="{01317B12-44C8-4227-9EB8-973D2226E63F}"/>
              </a:ext>
            </a:extLst>
          </p:cNvPr>
          <p:cNvSpPr>
            <a:spLocks noGrp="1"/>
          </p:cNvSpPr>
          <p:nvPr>
            <p:ph type="pic" sz="quarter" idx="34" hasCustomPrompt="1"/>
          </p:nvPr>
        </p:nvSpPr>
        <p:spPr>
          <a:xfrm>
            <a:off x="8812420" y="117614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9" name="Рисунок 8">
            <a:extLst>
              <a:ext uri="{FF2B5EF4-FFF2-40B4-BE49-F238E27FC236}">
                <a16:creationId xmlns:a16="http://schemas.microsoft.com/office/drawing/2014/main" id="{1AD2255F-36DA-4BDE-B54D-F94F14B68B6C}"/>
              </a:ext>
            </a:extLst>
          </p:cNvPr>
          <p:cNvSpPr>
            <a:spLocks noGrp="1"/>
          </p:cNvSpPr>
          <p:nvPr>
            <p:ph type="pic" sz="quarter" idx="35" hasCustomPrompt="1"/>
          </p:nvPr>
        </p:nvSpPr>
        <p:spPr>
          <a:xfrm>
            <a:off x="8812419" y="3552739"/>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Tree>
    <p:extLst>
      <p:ext uri="{BB962C8B-B14F-4D97-AF65-F5344CB8AC3E}">
        <p14:creationId xmlns:p14="http://schemas.microsoft.com/office/powerpoint/2010/main" val="282955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5">
            <a:extLst>
              <a:ext uri="{FF2B5EF4-FFF2-40B4-BE49-F238E27FC236}">
                <a16:creationId xmlns:a16="http://schemas.microsoft.com/office/drawing/2014/main" id="{CD92D281-07CD-478F-9BF5-BA7D43439A3D}"/>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1" name="Полилиния 5">
            <a:extLst>
              <a:ext uri="{FF2B5EF4-FFF2-40B4-BE49-F238E27FC236}">
                <a16:creationId xmlns:a16="http://schemas.microsoft.com/office/drawing/2014/main" id="{B2C53265-8805-42B3-82B4-151EFBC42731}"/>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3" name="Полилиния 5">
            <a:extLst>
              <a:ext uri="{FF2B5EF4-FFF2-40B4-BE49-F238E27FC236}">
                <a16:creationId xmlns:a16="http://schemas.microsoft.com/office/drawing/2014/main" id="{D0111EB4-98AF-4EB7-878B-31FD32A95141}"/>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4" name="Полилиния 5">
            <a:extLst>
              <a:ext uri="{FF2B5EF4-FFF2-40B4-BE49-F238E27FC236}">
                <a16:creationId xmlns:a16="http://schemas.microsoft.com/office/drawing/2014/main" id="{33809002-30A9-49C0-BE36-B14DD1E4D872}"/>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5" name="Полилиния 5">
            <a:extLst>
              <a:ext uri="{FF2B5EF4-FFF2-40B4-BE49-F238E27FC236}">
                <a16:creationId xmlns:a16="http://schemas.microsoft.com/office/drawing/2014/main" id="{FFD5C582-B212-4ADA-AB1B-0481AA39C3A9}"/>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2" name="Заголовок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Сравнение слева — заполнитель 1">
            <a:extLst>
              <a:ext uri="{FF2B5EF4-FFF2-40B4-BE49-F238E27FC236}">
                <a16:creationId xmlns:a16="http://schemas.microsoft.com/office/drawing/2014/main" id="{9322B50D-6A7D-41C6-BA57-613BC231DF36}"/>
              </a:ext>
            </a:extLst>
          </p:cNvPr>
          <p:cNvSpPr>
            <a:spLocks noGrp="1"/>
          </p:cNvSpPr>
          <p:nvPr>
            <p:ph type="body" idx="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4" name="Объект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2" name="Сравнение слева — заполнитель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1516359"/>
            <a:ext cx="5472000" cy="358775"/>
          </a:xfrm>
        </p:spPr>
        <p:txBody>
          <a:bodyPr rtlCol="0"/>
          <a:lstStyle>
            <a:lvl1pPr marL="0" indent="0">
              <a:buNone/>
              <a:defRPr sz="2400" b="1"/>
            </a:lvl1pPr>
          </a:lstStyle>
          <a:p>
            <a:pPr lvl="0" rtl="0"/>
            <a:r>
              <a:rPr lang="ru-RU" noProof="0"/>
              <a:t>Образец текста</a:t>
            </a:r>
          </a:p>
        </p:txBody>
      </p:sp>
      <p:sp>
        <p:nvSpPr>
          <p:cNvPr id="8" name="Текст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020359"/>
            <a:ext cx="5472113" cy="4170891"/>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Нижний колонтитул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Большое фото">
    <p:spTree>
      <p:nvGrpSpPr>
        <p:cNvPr id="1" name=""/>
        <p:cNvGrpSpPr/>
        <p:nvPr/>
      </p:nvGrpSpPr>
      <p:grpSpPr>
        <a:xfrm>
          <a:off x="0" y="0"/>
          <a:ext cx="0" cy="0"/>
          <a:chOff x="0" y="0"/>
          <a:chExt cx="0" cy="0"/>
        </a:xfrm>
      </p:grpSpPr>
      <p:sp>
        <p:nvSpPr>
          <p:cNvPr id="7" name="Рисунок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0"/>
            <a:ext cx="11771313" cy="619125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2" name="Номер слайда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ru-RU" noProof="0" smtClean="0"/>
              <a:pPr rtl="0"/>
              <a:t>‹#›</a:t>
            </a:fld>
            <a:endParaRPr lang="ru-RU" noProof="0" dirty="0"/>
          </a:p>
        </p:txBody>
      </p:sp>
      <p:sp>
        <p:nvSpPr>
          <p:cNvPr id="6" name="Заголовок 1">
            <a:extLst>
              <a:ext uri="{FF2B5EF4-FFF2-40B4-BE49-F238E27FC236}">
                <a16:creationId xmlns:a16="http://schemas.microsoft.com/office/drawing/2014/main" id="{BBC3BEE7-44AC-45BC-B4E7-93E3454EB83C}"/>
              </a:ext>
            </a:extLst>
          </p:cNvPr>
          <p:cNvSpPr>
            <a:spLocks noGrp="1"/>
          </p:cNvSpPr>
          <p:nvPr>
            <p:ph type="ctrTitle" hasCustomPrompt="1"/>
          </p:nvPr>
        </p:nvSpPr>
        <p:spPr>
          <a:xfrm>
            <a:off x="420687" y="5066452"/>
            <a:ext cx="4459766" cy="539345"/>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108000" rIns="180000" bIns="0" rtlCol="0" anchor="t"/>
          <a:lstStyle>
            <a:lvl1pPr algn="l">
              <a:lnSpc>
                <a:spcPct val="100000"/>
              </a:lnSpc>
              <a:defRPr sz="1800" b="0" spc="0">
                <a:solidFill>
                  <a:schemeClr val="bg1">
                    <a:lumMod val="95000"/>
                  </a:schemeClr>
                </a:solidFill>
                <a:latin typeface="+mn-lt"/>
              </a:defRPr>
            </a:lvl1pPr>
          </a:lstStyle>
          <a:p>
            <a:pPr rtl="0"/>
            <a:r>
              <a:rPr lang="ru-RU" noProof="0" dirty="0"/>
              <a:t>Введите подпись</a:t>
            </a:r>
          </a:p>
        </p:txBody>
      </p:sp>
    </p:spTree>
    <p:extLst>
      <p:ext uri="{BB962C8B-B14F-4D97-AF65-F5344CB8AC3E}">
        <p14:creationId xmlns:p14="http://schemas.microsoft.com/office/powerpoint/2010/main" val="19877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Слайд с благодарностью">
    <p:spTree>
      <p:nvGrpSpPr>
        <p:cNvPr id="1" name=""/>
        <p:cNvGrpSpPr/>
        <p:nvPr/>
      </p:nvGrpSpPr>
      <p:grpSpPr>
        <a:xfrm>
          <a:off x="0" y="0"/>
          <a:ext cx="0" cy="0"/>
          <a:chOff x="0" y="0"/>
          <a:chExt cx="0" cy="0"/>
        </a:xfrm>
      </p:grpSpPr>
      <p:sp>
        <p:nvSpPr>
          <p:cNvPr id="13" name="Прямоугольник 12">
            <a:extLst>
              <a:ext uri="{FF2B5EF4-FFF2-40B4-BE49-F238E27FC236}">
                <a16:creationId xmlns:a16="http://schemas.microsoft.com/office/drawing/2014/main" id="{DD31C544-1372-4B34-8149-B6058B8CC577}"/>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4" name="Прямоугольник 13">
            <a:extLst>
              <a:ext uri="{FF2B5EF4-FFF2-40B4-BE49-F238E27FC236}">
                <a16:creationId xmlns:a16="http://schemas.microsoft.com/office/drawing/2014/main" id="{7B2598CA-3443-4098-80E7-1F16DC9A13CC}"/>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2" name="Рисунок 11">
            <a:extLst>
              <a:ext uri="{FF2B5EF4-FFF2-40B4-BE49-F238E27FC236}">
                <a16:creationId xmlns:a16="http://schemas.microsoft.com/office/drawing/2014/main" id="{BE421EAA-68E8-4AED-BA2F-01A6AC66859D}"/>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834640"/>
            <a:ext cx="4459766" cy="2720356"/>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Спасибо за внимание!</a:t>
            </a:r>
          </a:p>
        </p:txBody>
      </p:sp>
      <p:sp>
        <p:nvSpPr>
          <p:cNvPr id="7" name="Текст 5">
            <a:extLst>
              <a:ext uri="{FF2B5EF4-FFF2-40B4-BE49-F238E27FC236}">
                <a16:creationId xmlns:a16="http://schemas.microsoft.com/office/drawing/2014/main" id="{D907C852-B0E0-4C2E-88CE-B543605961EE}"/>
              </a:ext>
            </a:extLst>
          </p:cNvPr>
          <p:cNvSpPr>
            <a:spLocks noGrp="1"/>
          </p:cNvSpPr>
          <p:nvPr>
            <p:ph type="body" sz="quarter" idx="15" hasCustomPrompt="1"/>
          </p:nvPr>
        </p:nvSpPr>
        <p:spPr>
          <a:xfrm>
            <a:off x="8034849" y="3859066"/>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Полное имя</a:t>
            </a:r>
          </a:p>
        </p:txBody>
      </p:sp>
      <p:sp>
        <p:nvSpPr>
          <p:cNvPr id="8" name="Текст 6">
            <a:extLst>
              <a:ext uri="{FF2B5EF4-FFF2-40B4-BE49-F238E27FC236}">
                <a16:creationId xmlns:a16="http://schemas.microsoft.com/office/drawing/2014/main" id="{D84C0BEF-F601-4B10-8AEE-4859FE996B34}"/>
              </a:ext>
            </a:extLst>
          </p:cNvPr>
          <p:cNvSpPr>
            <a:spLocks noGrp="1"/>
          </p:cNvSpPr>
          <p:nvPr>
            <p:ph type="body" sz="quarter" idx="16" hasCustomPrompt="1"/>
          </p:nvPr>
        </p:nvSpPr>
        <p:spPr>
          <a:xfrm>
            <a:off x="8034849" y="4220189"/>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Номер телефона</a:t>
            </a:r>
          </a:p>
        </p:txBody>
      </p:sp>
      <p:sp>
        <p:nvSpPr>
          <p:cNvPr id="9" name="Текст 7">
            <a:extLst>
              <a:ext uri="{FF2B5EF4-FFF2-40B4-BE49-F238E27FC236}">
                <a16:creationId xmlns:a16="http://schemas.microsoft.com/office/drawing/2014/main" id="{83A6EF9B-EF2F-4949-9CC4-C16BF8DC85A0}"/>
              </a:ext>
            </a:extLst>
          </p:cNvPr>
          <p:cNvSpPr>
            <a:spLocks noGrp="1"/>
          </p:cNvSpPr>
          <p:nvPr>
            <p:ph type="body" sz="quarter" idx="17" hasCustomPrompt="1"/>
          </p:nvPr>
        </p:nvSpPr>
        <p:spPr>
          <a:xfrm>
            <a:off x="8034849" y="4581312"/>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Электронная почта или контакт в социальной сети</a:t>
            </a:r>
          </a:p>
        </p:txBody>
      </p:sp>
      <p:sp>
        <p:nvSpPr>
          <p:cNvPr id="10" name="Текст 8">
            <a:extLst>
              <a:ext uri="{FF2B5EF4-FFF2-40B4-BE49-F238E27FC236}">
                <a16:creationId xmlns:a16="http://schemas.microsoft.com/office/drawing/2014/main" id="{BE8CA170-9CA9-448E-B07A-E01AB84F7FD3}"/>
              </a:ext>
            </a:extLst>
          </p:cNvPr>
          <p:cNvSpPr>
            <a:spLocks noGrp="1"/>
          </p:cNvSpPr>
          <p:nvPr>
            <p:ph type="body" sz="quarter" idx="18" hasCustomPrompt="1"/>
          </p:nvPr>
        </p:nvSpPr>
        <p:spPr>
          <a:xfrm>
            <a:off x="8034849" y="4942435"/>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Веб-сайт компании</a:t>
            </a:r>
          </a:p>
        </p:txBody>
      </p:sp>
    </p:spTree>
    <p:extLst>
      <p:ext uri="{BB962C8B-B14F-4D97-AF65-F5344CB8AC3E}">
        <p14:creationId xmlns:p14="http://schemas.microsoft.com/office/powerpoint/2010/main" val="1632891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6" name="Текст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столб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Текст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1" name="Текст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столбцов">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Текст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3" name="Текст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5" name="Текст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7" name="Текст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Нижний колонтитул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3" name="Номер слайда 2">
            <a:extLst>
              <a:ext uri="{FF2B5EF4-FFF2-40B4-BE49-F238E27FC236}">
                <a16:creationId xmlns:a16="http://schemas.microsoft.com/office/drawing/2014/main" id="{A95CDFA7-DEA3-4BBE-8D70-0AF654A1E6FF}"/>
              </a:ext>
            </a:extLst>
          </p:cNvPr>
          <p:cNvSpPr>
            <a:spLocks noGrp="1"/>
          </p:cNvSpPr>
          <p:nvPr>
            <p:ph type="sldNum" sz="quarter" idx="13"/>
          </p:nvPr>
        </p:nvSpPr>
        <p:spPr>
          <a:xfrm>
            <a:off x="11727656" y="6277243"/>
            <a:ext cx="464344" cy="400188"/>
          </a:xfrm>
        </p:spPr>
        <p:txBody>
          <a:bodyPr rtlCol="0"/>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70E81F30-8FC8-4841-8404-4DC79218B945}"/>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5" name="Прямоугольник: Скругленные углы 24">
            <a:extLst>
              <a:ext uri="{FF2B5EF4-FFF2-40B4-BE49-F238E27FC236}">
                <a16:creationId xmlns:a16="http://schemas.microsoft.com/office/drawing/2014/main" id="{83D29F65-481C-4C80-BB65-121E5AED26B5}"/>
              </a:ext>
            </a:extLst>
          </p:cNvPr>
          <p:cNvSpPr/>
          <p:nvPr userDrawn="1"/>
        </p:nvSpPr>
        <p:spPr>
          <a:xfrm>
            <a:off x="11844618" y="6249961"/>
            <a:ext cx="230420" cy="460402"/>
          </a:xfrm>
          <a:prstGeom prst="roundRect">
            <a:avLst>
              <a:gd name="adj" fmla="val 7366"/>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9" name="Прямоугольник 8">
            <a:extLst>
              <a:ext uri="{FF2B5EF4-FFF2-40B4-BE49-F238E27FC236}">
                <a16:creationId xmlns:a16="http://schemas.microsoft.com/office/drawing/2014/main" id="{4BC39664-EB8B-4A32-915A-D4308F792772}"/>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5" name="Прямоугольник 14">
            <a:extLst>
              <a:ext uri="{FF2B5EF4-FFF2-40B4-BE49-F238E27FC236}">
                <a16:creationId xmlns:a16="http://schemas.microsoft.com/office/drawing/2014/main" id="{AC6C03AE-289A-4BCC-971C-3400028C8764}"/>
              </a:ext>
            </a:extLst>
          </p:cNvPr>
          <p:cNvSpPr/>
          <p:nvPr userDrawn="1"/>
        </p:nvSpPr>
        <p:spPr>
          <a:xfrm rot="5400000">
            <a:off x="8694713" y="3406143"/>
            <a:ext cx="6857999" cy="45720"/>
          </a:xfrm>
          <a:prstGeom prst="rect">
            <a:avLst/>
          </a:prstGeom>
          <a:gradFill flip="none" rotWithShape="1">
            <a:gsLst>
              <a:gs pos="0">
                <a:schemeClr val="bg1">
                  <a:lumMod val="95000"/>
                  <a:alpha val="0"/>
                </a:schemeClr>
              </a:gs>
              <a:gs pos="100000">
                <a:schemeClr val="bg1">
                  <a:lumMod val="65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ru-RU" noProof="0" dirty="0"/>
              <a:t>Щелкните, чтобы изменить заголовок</a:t>
            </a:r>
          </a:p>
        </p:txBody>
      </p:sp>
      <p:sp>
        <p:nvSpPr>
          <p:cNvPr id="3" name="Текст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Нижний колонтитул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1483"/>
            <a:ext cx="5484930" cy="20153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5ECA3099-A94F-4C3E-BC29-780EDD38F722}"/>
              </a:ext>
            </a:extLst>
          </p:cNvPr>
          <p:cNvSpPr>
            <a:spLocks noGrp="1"/>
          </p:cNvSpPr>
          <p:nvPr>
            <p:ph type="sldNum" sz="quarter" idx="4"/>
          </p:nvPr>
        </p:nvSpPr>
        <p:spPr>
          <a:xfrm>
            <a:off x="11727656" y="6277243"/>
            <a:ext cx="464344" cy="400188"/>
          </a:xfrm>
          <a:prstGeom prst="roundRect">
            <a:avLst>
              <a:gd name="adj" fmla="val 9526"/>
            </a:avLst>
          </a:prstGeom>
          <a:gradFill>
            <a:gsLst>
              <a:gs pos="20000">
                <a:schemeClr val="tx1">
                  <a:lumMod val="75000"/>
                  <a:lumOff val="25000"/>
                </a:schemeClr>
              </a:gs>
              <a:gs pos="82000">
                <a:schemeClr val="tx1"/>
              </a:gs>
            </a:gsLst>
            <a:lin ang="3000000" scaled="0"/>
          </a:gradFill>
          <a:ln w="6350">
            <a:solidFill>
              <a:schemeClr val="accent1"/>
            </a:solidFill>
          </a:ln>
        </p:spPr>
        <p:txBody>
          <a:bodyPr vert="horz" lIns="0" tIns="0" rIns="0" bIns="0" rtlCol="0" anchor="ctr"/>
          <a:lstStyle>
            <a:lvl1pPr algn="ctr">
              <a:defRPr sz="1200" i="1">
                <a:solidFill>
                  <a:schemeClr val="bg1"/>
                </a:solidFill>
                <a:latin typeface="Times New Roman" panose="02020603050405020304" pitchFamily="18" charset="0"/>
                <a:cs typeface="Times New Roman" panose="02020603050405020304" pitchFamily="18" charset="0"/>
              </a:defRPr>
            </a:lvl1pPr>
          </a:lstStyle>
          <a:p>
            <a:pPr rtl="0"/>
            <a:fld id="{19B51A1E-902D-48AF-9020-955120F399B6}" type="slidenum">
              <a:rPr lang="ru-RU" noProof="0" smtClean="0"/>
              <a:pPr rtl="0"/>
              <a:t>‹#›</a:t>
            </a:fld>
            <a:endParaRPr lang="ru-RU"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4" r:id="rId1"/>
    <p:sldLayoutId id="2147483649" r:id="rId2"/>
    <p:sldLayoutId id="2147483662" r:id="rId3"/>
    <p:sldLayoutId id="2147483663" r:id="rId4"/>
    <p:sldLayoutId id="2147483658" r:id="rId5"/>
    <p:sldLayoutId id="2147483665" r:id="rId6"/>
    <p:sldLayoutId id="2147483666" r:id="rId7"/>
    <p:sldLayoutId id="2147483659" r:id="rId8"/>
    <p:sldLayoutId id="2147483660" r:id="rId9"/>
    <p:sldLayoutId id="2147483664" r:id="rId10"/>
    <p:sldLayoutId id="2147483650" r:id="rId11"/>
    <p:sldLayoutId id="2147483652" r:id="rId12"/>
    <p:sldLayoutId id="2147483656" r:id="rId13"/>
    <p:sldLayoutId id="2147483657" r:id="rId14"/>
    <p:sldLayoutId id="2147483655"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4.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Рисунок 6" descr="Изображение слайда">
            <a:extLst>
              <a:ext uri="{FF2B5EF4-FFF2-40B4-BE49-F238E27FC236}">
                <a16:creationId xmlns:a16="http://schemas.microsoft.com/office/drawing/2014/main" id="{FE5D908F-BAEF-2843-BC2F-691696E72E11}"/>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25" name="Надпись 24" descr="Акцент слайда для поля заголовка">
            <a:extLst>
              <a:ext uri="{FF2B5EF4-FFF2-40B4-BE49-F238E27FC236}">
                <a16:creationId xmlns:a16="http://schemas.microsoft.com/office/drawing/2014/main" id="{7EF238CB-AB58-4787-8F9C-A1C16929A2FA}"/>
              </a:ext>
              <a:ext uri="{C183D7F6-B498-43B3-948B-1728B52AA6E4}">
                <adec:decorative xmlns:adec="http://schemas.microsoft.com/office/drawing/2017/decorative" val="1"/>
              </a:ext>
            </a:extLst>
          </p:cNvPr>
          <p:cNvSpPr txBox="1">
            <a:spLocks/>
          </p:cNvSpPr>
          <p:nvPr/>
        </p:nvSpPr>
        <p:spPr>
          <a:xfrm flipH="1">
            <a:off x="-1" y="3914775"/>
            <a:ext cx="1481849" cy="2200275"/>
          </a:xfrm>
          <a:custGeom>
            <a:avLst/>
            <a:gdLst>
              <a:gd name="connsiteX0" fmla="*/ 1494549 w 1494549"/>
              <a:gd name="connsiteY0" fmla="*/ 0 h 2200275"/>
              <a:gd name="connsiteX1" fmla="*/ 100333 w 1494549"/>
              <a:gd name="connsiteY1" fmla="*/ 0 h 2200275"/>
              <a:gd name="connsiteX2" fmla="*/ 0 w 1494549"/>
              <a:gd name="connsiteY2" fmla="*/ 100333 h 2200275"/>
              <a:gd name="connsiteX3" fmla="*/ 0 w 1494549"/>
              <a:gd name="connsiteY3" fmla="*/ 2099942 h 2200275"/>
              <a:gd name="connsiteX4" fmla="*/ 100333 w 1494549"/>
              <a:gd name="connsiteY4" fmla="*/ 2200275 h 2200275"/>
              <a:gd name="connsiteX5" fmla="*/ 1494549 w 1494549"/>
              <a:gd name="connsiteY5" fmla="*/ 220027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4549" h="2200275">
                <a:moveTo>
                  <a:pt x="1494549" y="0"/>
                </a:moveTo>
                <a:lnTo>
                  <a:pt x="100333" y="0"/>
                </a:lnTo>
                <a:cubicBezTo>
                  <a:pt x="44921" y="0"/>
                  <a:pt x="0" y="44921"/>
                  <a:pt x="0" y="100333"/>
                </a:cubicBezTo>
                <a:lnTo>
                  <a:pt x="0" y="2099942"/>
                </a:lnTo>
                <a:cubicBezTo>
                  <a:pt x="0" y="2155354"/>
                  <a:pt x="44921" y="2200275"/>
                  <a:pt x="100333" y="2200275"/>
                </a:cubicBezTo>
                <a:lnTo>
                  <a:pt x="1494549" y="2200275"/>
                </a:ln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948293" y="2261062"/>
            <a:ext cx="4459766" cy="3368209"/>
          </a:xfrm>
          <a:gradFill>
            <a:gsLst>
              <a:gs pos="100000">
                <a:schemeClr val="tx1">
                  <a:lumMod val="95000"/>
                  <a:lumOff val="5000"/>
                </a:schemeClr>
              </a:gs>
              <a:gs pos="0">
                <a:schemeClr val="tx1">
                  <a:lumMod val="75000"/>
                  <a:lumOff val="25000"/>
                </a:schemeClr>
              </a:gs>
            </a:gsLst>
          </a:gradFill>
          <a:ln>
            <a:solidFill>
              <a:schemeClr val="bg1">
                <a:lumMod val="50000"/>
              </a:schemeClr>
            </a:solidFill>
          </a:ln>
        </p:spPr>
        <p:txBody>
          <a:bodyPr rtlCol="0"/>
          <a:lstStyle/>
          <a:p>
            <a:pPr>
              <a:lnSpc>
                <a:spcPts val="4800"/>
              </a:lnSpc>
            </a:pPr>
            <a:r>
              <a:rPr lang="ru-RU" sz="3600" dirty="0"/>
              <a:t>Сегментация и </a:t>
            </a:r>
            <a:r>
              <a:rPr lang="ru-RU" sz="3600" dirty="0" err="1"/>
              <a:t>детекция</a:t>
            </a:r>
            <a:endParaRPr lang="ru-RU" sz="36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a:xfrm>
            <a:off x="1130300" y="4624645"/>
            <a:ext cx="4000500" cy="690752"/>
          </a:xfrm>
        </p:spPr>
        <p:txBody>
          <a:bodyPr rtlCol="0"/>
          <a:lstStyle/>
          <a:p>
            <a:r>
              <a:rPr lang="ru-RU" dirty="0"/>
              <a:t>Методы обработки и распознавания изображений</a:t>
            </a:r>
          </a:p>
        </p:txBody>
      </p:sp>
      <p:sp>
        <p:nvSpPr>
          <p:cNvPr id="20" name="Равнобедренный треугольник 19" descr="Тень на слайде для поля заголовка">
            <a:extLst>
              <a:ext uri="{FF2B5EF4-FFF2-40B4-BE49-F238E27FC236}">
                <a16:creationId xmlns:a16="http://schemas.microsoft.com/office/drawing/2014/main" id="{545D50A1-D634-4325-B06C-5450FDF7B818}"/>
              </a:ext>
              <a:ext uri="{C183D7F6-B498-43B3-948B-1728B52AA6E4}">
                <adec:decorative xmlns:adec="http://schemas.microsoft.com/office/drawing/2017/decorative" val="1"/>
              </a:ext>
            </a:extLst>
          </p:cNvPr>
          <p:cNvSpPr/>
          <p:nvPr/>
        </p:nvSpPr>
        <p:spPr>
          <a:xfrm rot="10800000" flipH="1">
            <a:off x="1000837" y="562927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Классификация изображений</a:t>
            </a:r>
            <a:endParaRPr lang="en-US"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a:t>
            </a:fld>
            <a:endParaRPr lang="ru-RU" noProof="0" dirty="0"/>
          </a:p>
        </p:txBody>
      </p:sp>
      <p:pic>
        <p:nvPicPr>
          <p:cNvPr id="4" name="Объект 3"/>
          <p:cNvPicPr>
            <a:picLocks noGrp="1" noChangeAspect="1"/>
          </p:cNvPicPr>
          <p:nvPr>
            <p:ph idx="1"/>
          </p:nvPr>
        </p:nvPicPr>
        <p:blipFill>
          <a:blip r:embed="rId2"/>
          <a:stretch>
            <a:fillRect/>
          </a:stretch>
        </p:blipFill>
        <p:spPr>
          <a:xfrm>
            <a:off x="431800" y="2180013"/>
            <a:ext cx="11328400" cy="3342524"/>
          </a:xfrm>
          <a:prstGeom prst="rect">
            <a:avLst/>
          </a:prstGeom>
        </p:spPr>
      </p:pic>
    </p:spTree>
    <p:extLst>
      <p:ext uri="{BB962C8B-B14F-4D97-AF65-F5344CB8AC3E}">
        <p14:creationId xmlns:p14="http://schemas.microsoft.com/office/powerpoint/2010/main" val="2371750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Но хочется другого</a:t>
            </a:r>
          </a:p>
        </p:txBody>
      </p:sp>
      <p:sp>
        <p:nvSpPr>
          <p:cNvPr id="4" name="Объект 3"/>
          <p:cNvSpPr>
            <a:spLocks noGrp="1"/>
          </p:cNvSpPr>
          <p:nvPr>
            <p:ph idx="1"/>
          </p:nvPr>
        </p:nvSpPr>
        <p:spPr>
          <a:xfrm>
            <a:off x="432000" y="1039091"/>
            <a:ext cx="11328000" cy="5152159"/>
          </a:xfrm>
        </p:spPr>
        <p:txBody>
          <a:bodyPr/>
          <a:lstStyle/>
          <a:p>
            <a:pPr marL="514350" indent="-514350">
              <a:buNone/>
            </a:pPr>
            <a:br>
              <a:rPr lang="ru-RU" sz="2800" dirty="0"/>
            </a:br>
            <a:endParaRPr lang="en-US" sz="2800" dirty="0"/>
          </a:p>
          <a:p>
            <a:pPr marL="0" indent="0">
              <a:buNone/>
            </a:pPr>
            <a:endParaRPr lang="en-US" sz="2800" dirty="0"/>
          </a:p>
          <a:p>
            <a:pPr marL="0" indent="0">
              <a:buNone/>
            </a:pPr>
            <a:br>
              <a:rPr lang="ru-RU" sz="2800" dirty="0"/>
            </a:b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a:t>
            </a:fld>
            <a:endParaRPr lang="ru-RU" noProof="0" dirty="0"/>
          </a:p>
        </p:txBody>
      </p:sp>
      <p:pic>
        <p:nvPicPr>
          <p:cNvPr id="3" name="Рисунок 2"/>
          <p:cNvPicPr>
            <a:picLocks noChangeAspect="1"/>
          </p:cNvPicPr>
          <p:nvPr/>
        </p:nvPicPr>
        <p:blipFill>
          <a:blip r:embed="rId2"/>
          <a:stretch>
            <a:fillRect/>
          </a:stretch>
        </p:blipFill>
        <p:spPr>
          <a:xfrm>
            <a:off x="1257300" y="1885950"/>
            <a:ext cx="9677400" cy="3086100"/>
          </a:xfrm>
          <a:prstGeom prst="rect">
            <a:avLst/>
          </a:prstGeom>
        </p:spPr>
      </p:pic>
    </p:spTree>
    <p:extLst>
      <p:ext uri="{BB962C8B-B14F-4D97-AF65-F5344CB8AC3E}">
        <p14:creationId xmlns:p14="http://schemas.microsoft.com/office/powerpoint/2010/main" val="2371750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r>
              <a:rPr lang="ru-RU" dirty="0"/>
              <a:t>Семантическая сегментация</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4</a:t>
            </a:fld>
            <a:endParaRPr lang="ru-RU" dirty="0"/>
          </a:p>
        </p:txBody>
      </p:sp>
    </p:spTree>
    <p:extLst>
      <p:ext uri="{BB962C8B-B14F-4D97-AF65-F5344CB8AC3E}">
        <p14:creationId xmlns:p14="http://schemas.microsoft.com/office/powerpoint/2010/main" val="4091674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lstStyle/>
          <a:p>
            <a:pPr marL="514350" indent="-514350">
              <a:buNone/>
            </a:pPr>
            <a:r>
              <a:rPr lang="ru-RU" sz="2800" dirty="0"/>
              <a:t>Задача нахождения объектов на изображении — задача машинного обучения, в рамках которой выполняется определение наличия или отсутствия объекта определённого домена на изображении, нахождение границ этого объекта в системе координат пикселей исходного изображения. В зависимости от алгоритма обучения, объект может характеризоваться координатами ограничивающей рамки, ключевыми точками, контуром объекта.</a:t>
            </a:r>
          </a:p>
          <a:p>
            <a:pPr marL="514350" indent="-514350">
              <a:buNone/>
            </a:pPr>
            <a:r>
              <a:rPr lang="ru-RU" sz="2800" dirty="0"/>
              <a:t>Задача нахождения объектов на изображении может быть поставлена различным образом и включает в себя класс других задач, помогающих определить, какие объекты находятся на изображении и где они расположены в сетке пикселей исходного изображения.</a:t>
            </a:r>
            <a:br>
              <a:rPr lang="ru-RU" sz="2800" dirty="0"/>
            </a:br>
            <a:endParaRPr lang="en-US" sz="2800" dirty="0"/>
          </a:p>
          <a:p>
            <a:pPr marL="0" indent="0">
              <a:buNone/>
            </a:pPr>
            <a:endParaRPr lang="en-US" sz="2800" dirty="0"/>
          </a:p>
          <a:p>
            <a:pPr marL="0" indent="0">
              <a:buNone/>
            </a:pPr>
            <a:br>
              <a:rPr lang="ru-RU" sz="2800" dirty="0"/>
            </a:b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5</a:t>
            </a:fld>
            <a:endParaRPr lang="ru-RU" noProof="0" dirty="0"/>
          </a:p>
        </p:txBody>
      </p:sp>
    </p:spTree>
    <p:extLst>
      <p:ext uri="{BB962C8B-B14F-4D97-AF65-F5344CB8AC3E}">
        <p14:creationId xmlns:p14="http://schemas.microsoft.com/office/powerpoint/2010/main" val="2371750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Для семантической классификации мы выделяем каждый пиксель изображения, при этом каждый сегмент изображения соотносится с определенным классом. Например, на снимке с городским пейзажем модель выделяет здания, дороги, деревья и небо, причисляя каждый пиксель к своему классу. Это помогает машине «видеть» изображение так, как это делает человек, идентифицируя отдельные объекты и области. В результате машина распознает важные контексты на цифровых изображениях: пейзажи, фотографии людей, животных.</a:t>
            </a:r>
          </a:p>
          <a:p>
            <a:pPr marL="0" indent="0">
              <a:buNone/>
            </a:pPr>
            <a:r>
              <a:rPr lang="ru-RU" sz="2800" dirty="0"/>
              <a:t>Задачи сегментации изображений делятся на три основные группы:</a:t>
            </a:r>
            <a:endParaRPr lang="en-US" sz="2800" dirty="0"/>
          </a:p>
          <a:p>
            <a:pPr marL="0" indent="0">
              <a:buNone/>
            </a:pPr>
            <a:br>
              <a:rPr lang="ru-RU" sz="2800" dirty="0"/>
            </a:b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6</a:t>
            </a:fld>
            <a:endParaRPr lang="ru-RU" noProof="0" dirty="0"/>
          </a:p>
        </p:txBody>
      </p:sp>
    </p:spTree>
    <p:extLst>
      <p:ext uri="{BB962C8B-B14F-4D97-AF65-F5344CB8AC3E}">
        <p14:creationId xmlns:p14="http://schemas.microsoft.com/office/powerpoint/2010/main" val="1066156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Семантическая сегментация</a:t>
            </a:r>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Этот тип сегментации классифицирует каждый пиксель изображения, но не различает разные экземпляры одного и того же объекта. Например, все автомобили на изображении будут отнесены к одной категории «автомобиль», без деления на отдельные экземпляры.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7</a:t>
            </a:fld>
            <a:endParaRPr lang="ru-RU" noProof="0" dirty="0"/>
          </a:p>
        </p:txBody>
      </p:sp>
      <p:pic>
        <p:nvPicPr>
          <p:cNvPr id="3" name="Рисунок 2"/>
          <p:cNvPicPr>
            <a:picLocks noChangeAspect="1"/>
          </p:cNvPicPr>
          <p:nvPr/>
        </p:nvPicPr>
        <p:blipFill>
          <a:blip r:embed="rId2"/>
          <a:stretch>
            <a:fillRect/>
          </a:stretch>
        </p:blipFill>
        <p:spPr>
          <a:xfrm>
            <a:off x="2506720" y="2762250"/>
            <a:ext cx="6829425" cy="3429000"/>
          </a:xfrm>
          <a:prstGeom prst="rect">
            <a:avLst/>
          </a:prstGeom>
        </p:spPr>
      </p:pic>
    </p:spTree>
    <p:extLst>
      <p:ext uri="{BB962C8B-B14F-4D97-AF65-F5344CB8AC3E}">
        <p14:creationId xmlns:p14="http://schemas.microsoft.com/office/powerpoint/2010/main" val="237175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Семантическая сегментация</a:t>
            </a:r>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Например, если в исходном изображении человек переходит дорогу, то для каждого пикселя необходимо вывести, является ли этот пиксель частью человеческого тела, профиля дороги, знака дорожного движения, неба, или какого-то другого типа. Существенный недостаток применения одной лишь семантической сегментации относительно задач, связанных с распознаванием объектов — маркировка пикселей по принадлежности только к типу объекта, что не создаёт различия между объектами как таковыми. Например, если назвать "объектом" связную область пикселей, характеризующих одинаковый тип, то два объекта, перегораживающих друг друга на исходном изображении, будут определены как один объект, что в корне неверно.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8</a:t>
            </a:fld>
            <a:endParaRPr lang="ru-RU" noProof="0" dirty="0"/>
          </a:p>
        </p:txBody>
      </p:sp>
    </p:spTree>
    <p:extLst>
      <p:ext uri="{BB962C8B-B14F-4D97-AF65-F5344CB8AC3E}">
        <p14:creationId xmlns:p14="http://schemas.microsoft.com/office/powerpoint/2010/main" val="2363221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Instance</a:t>
            </a:r>
            <a:r>
              <a:rPr lang="ru-RU" dirty="0"/>
              <a:t> </a:t>
            </a:r>
            <a:r>
              <a:rPr lang="ru-RU" dirty="0" err="1"/>
              <a:t>Segmentation</a:t>
            </a:r>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Задача семантической сегментации изображения с дифференцированием объектов называется задачей сегментации экземпляров (англ. </a:t>
            </a:r>
            <a:r>
              <a:rPr lang="ru-RU" sz="2800" dirty="0" err="1"/>
              <a:t>instance</a:t>
            </a:r>
            <a:r>
              <a:rPr lang="ru-RU" sz="2800" dirty="0"/>
              <a:t> </a:t>
            </a:r>
            <a:r>
              <a:rPr lang="ru-RU" sz="2800" dirty="0" err="1"/>
              <a:t>segmentation</a:t>
            </a:r>
            <a:r>
              <a:rPr lang="ru-RU" sz="2800" dirty="0"/>
              <a:t>). Модели, решающие задачу сегментации экземпляров, применяются, в том числе, для подсчёта людей в массовых скоплениях, для автомобилей с автоматическим управлением.</a:t>
            </a:r>
          </a:p>
          <a:p>
            <a:pPr>
              <a:buNone/>
            </a:pPr>
            <a:r>
              <a:rPr lang="ru-RU" sz="2800" dirty="0"/>
              <a:t>Она не только определяет класс объекта, но и различает разные экземпляры одного класса. Например, каждый автомобиль на изображении будет выделен как отдельный объект, что особенно важно для задач, связанных с подсчётом и идентификацией объектов.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9</a:t>
            </a:fld>
            <a:endParaRPr lang="ru-RU" noProof="0" dirty="0"/>
          </a:p>
        </p:txBody>
      </p:sp>
    </p:spTree>
    <p:extLst>
      <p:ext uri="{BB962C8B-B14F-4D97-AF65-F5344CB8AC3E}">
        <p14:creationId xmlns:p14="http://schemas.microsoft.com/office/powerpoint/2010/main" val="328835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Instance</a:t>
            </a:r>
            <a:r>
              <a:rPr lang="ru-RU" dirty="0"/>
              <a:t> </a:t>
            </a:r>
            <a:r>
              <a:rPr lang="ru-RU" dirty="0" err="1"/>
              <a:t>Segmentation</a:t>
            </a:r>
            <a:endParaRPr lang="en-US" dirty="0"/>
          </a:p>
        </p:txBody>
      </p:sp>
      <p:pic>
        <p:nvPicPr>
          <p:cNvPr id="3" name="Объект 2"/>
          <p:cNvPicPr>
            <a:picLocks noGrp="1" noChangeAspect="1"/>
          </p:cNvPicPr>
          <p:nvPr>
            <p:ph idx="1"/>
          </p:nvPr>
        </p:nvPicPr>
        <p:blipFill>
          <a:blip r:embed="rId2"/>
          <a:stretch>
            <a:fillRect/>
          </a:stretch>
        </p:blipFill>
        <p:spPr>
          <a:xfrm>
            <a:off x="2828925" y="1996281"/>
            <a:ext cx="6534150" cy="3238500"/>
          </a:xfrm>
          <a:prstGeom prst="rect">
            <a:avLst/>
          </a:prstGeom>
        </p:spPr>
      </p:pic>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10</a:t>
            </a:fld>
            <a:endParaRPr lang="ru-RU" noProof="0" dirty="0"/>
          </a:p>
        </p:txBody>
      </p:sp>
    </p:spTree>
    <p:extLst>
      <p:ext uri="{BB962C8B-B14F-4D97-AF65-F5344CB8AC3E}">
        <p14:creationId xmlns:p14="http://schemas.microsoft.com/office/powerpoint/2010/main" val="2884001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Паноптическая</a:t>
            </a:r>
            <a:r>
              <a:rPr lang="ru-RU" dirty="0"/>
              <a:t> сегментация</a:t>
            </a:r>
            <a:endParaRPr lang="en-US" dirty="0"/>
          </a:p>
        </p:txBody>
      </p:sp>
      <p:sp>
        <p:nvSpPr>
          <p:cNvPr id="4" name="Объект 3"/>
          <p:cNvSpPr>
            <a:spLocks noGrp="1"/>
          </p:cNvSpPr>
          <p:nvPr>
            <p:ph idx="1"/>
          </p:nvPr>
        </p:nvSpPr>
        <p:spPr>
          <a:xfrm>
            <a:off x="432000" y="1039091"/>
            <a:ext cx="11328000" cy="5152159"/>
          </a:xfrm>
        </p:spPr>
        <p:txBody>
          <a:bodyPr/>
          <a:lstStyle/>
          <a:p>
            <a:pPr marL="514350" indent="-514350">
              <a:buNone/>
            </a:pPr>
            <a:r>
              <a:rPr lang="ru-RU" sz="2800" dirty="0"/>
              <a:t>Метод </a:t>
            </a:r>
            <a:r>
              <a:rPr lang="ru-RU" sz="2800" dirty="0" err="1"/>
              <a:t>Panoptic</a:t>
            </a:r>
            <a:r>
              <a:rPr lang="ru-RU" sz="2800" dirty="0"/>
              <a:t> </a:t>
            </a:r>
            <a:r>
              <a:rPr lang="ru-RU" sz="2800" dirty="0" err="1"/>
              <a:t>Segmentation</a:t>
            </a:r>
            <a:r>
              <a:rPr lang="ru-RU" sz="2800" dirty="0"/>
              <a:t> объединяет семантическую и </a:t>
            </a:r>
            <a:r>
              <a:rPr lang="ru-RU" sz="2800" dirty="0" err="1"/>
              <a:t>Instance</a:t>
            </a:r>
            <a:r>
              <a:rPr lang="ru-RU" sz="2800" dirty="0"/>
              <a:t> сегментацию, предоставляя полное понимание изображения. </a:t>
            </a:r>
            <a:r>
              <a:rPr lang="ru-RU" sz="2800" dirty="0" err="1"/>
              <a:t>Паноптическая</a:t>
            </a:r>
            <a:r>
              <a:rPr lang="ru-RU" sz="2800" dirty="0"/>
              <a:t> сегментация распознаёт как отдельные экземпляры объектов, так и не подающиеся подсчету области, такие как небо, земля или океан. Это позволяет более точно и комплексно анализировать сцены.</a:t>
            </a:r>
            <a:br>
              <a:rPr lang="ru-RU" sz="2800" dirty="0"/>
            </a:br>
            <a:br>
              <a:rPr lang="ru-RU" sz="2800" dirty="0"/>
            </a:br>
            <a:endParaRPr lang="en-US" sz="2800" dirty="0"/>
          </a:p>
          <a:p>
            <a:pPr marL="0" indent="0">
              <a:buNone/>
            </a:pPr>
            <a:endParaRPr lang="en-US" sz="2800" dirty="0"/>
          </a:p>
          <a:p>
            <a:pPr marL="0" indent="0">
              <a:buNone/>
            </a:pPr>
            <a:br>
              <a:rPr lang="ru-RU" sz="2800" dirty="0"/>
            </a:b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11</a:t>
            </a:fld>
            <a:endParaRPr lang="ru-RU" noProof="0" dirty="0"/>
          </a:p>
        </p:txBody>
      </p:sp>
      <p:pic>
        <p:nvPicPr>
          <p:cNvPr id="3" name="Рисунок 2"/>
          <p:cNvPicPr>
            <a:picLocks noChangeAspect="1"/>
          </p:cNvPicPr>
          <p:nvPr/>
        </p:nvPicPr>
        <p:blipFill>
          <a:blip r:embed="rId2"/>
          <a:stretch>
            <a:fillRect/>
          </a:stretch>
        </p:blipFill>
        <p:spPr>
          <a:xfrm>
            <a:off x="4633826" y="3210262"/>
            <a:ext cx="6648450" cy="3267075"/>
          </a:xfrm>
          <a:prstGeom prst="rect">
            <a:avLst/>
          </a:prstGeom>
        </p:spPr>
      </p:pic>
    </p:spTree>
    <p:extLst>
      <p:ext uri="{BB962C8B-B14F-4D97-AF65-F5344CB8AC3E}">
        <p14:creationId xmlns:p14="http://schemas.microsoft.com/office/powerpoint/2010/main" val="2371750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 также…</a:t>
            </a:r>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Задача классификации с локализацией (англ. </a:t>
            </a:r>
            <a:r>
              <a:rPr lang="ru-RU" sz="2800" dirty="0" err="1"/>
              <a:t>classification</a:t>
            </a:r>
            <a:r>
              <a:rPr lang="ru-RU" sz="2800" dirty="0"/>
              <a:t> </a:t>
            </a:r>
            <a:r>
              <a:rPr lang="ru-RU" sz="2800" dirty="0" err="1"/>
              <a:t>and</a:t>
            </a:r>
            <a:r>
              <a:rPr lang="ru-RU" sz="2800" dirty="0"/>
              <a:t> </a:t>
            </a:r>
            <a:r>
              <a:rPr lang="ru-RU" sz="2800" dirty="0" err="1"/>
              <a:t>localization</a:t>
            </a:r>
            <a:r>
              <a:rPr lang="ru-RU" sz="2800" dirty="0"/>
              <a:t>) — задача, в которой в дополнение к предсказанию метки категории класса определяется рамка, ограничивающая местоположение экземпляра одиночного объекта на картинке. Как правило, рамка имеет прямоугольную форму, её стороны ориентированы параллельно осям исходного изображения, а площадь является минимальной при условии полного нахождения экземпляра объекта внутри этой рамки. Такую прямоугольную рамку называют термином "ограничивающая рамка" (англ. </a:t>
            </a:r>
            <a:r>
              <a:rPr lang="ru-RU" sz="2800" dirty="0" err="1"/>
              <a:t>bounding</a:t>
            </a:r>
            <a:r>
              <a:rPr lang="ru-RU" sz="2800" dirty="0"/>
              <a:t> </a:t>
            </a:r>
            <a:r>
              <a:rPr lang="ru-RU" sz="2800" dirty="0" err="1"/>
              <a:t>box</a:t>
            </a:r>
            <a:r>
              <a:rPr lang="ru-RU" sz="2800" dirty="0"/>
              <a:t>). Ограничивающую рамку можно задать как при помощи центра, ширины и высоты, так и при помощи четырёх сторон. Модель в данном случается одновременно обучается как верной классификации, так и максимально точному определению границ рамки.</a:t>
            </a:r>
            <a:endParaRPr lang="en-US" sz="2800" dirty="0"/>
          </a:p>
          <a:p>
            <a:pPr marL="0" indent="0">
              <a:buNone/>
            </a:pPr>
            <a:br>
              <a:rPr lang="ru-RU" sz="2800" dirty="0"/>
            </a:b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12</a:t>
            </a:fld>
            <a:endParaRPr lang="ru-RU" noProof="0" dirty="0"/>
          </a:p>
        </p:txBody>
      </p:sp>
    </p:spTree>
    <p:extLst>
      <p:ext uri="{BB962C8B-B14F-4D97-AF65-F5344CB8AC3E}">
        <p14:creationId xmlns:p14="http://schemas.microsoft.com/office/powerpoint/2010/main" val="1062479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 также…</a:t>
            </a:r>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Задача детекции объектов (англ. </a:t>
            </a:r>
            <a:r>
              <a:rPr lang="ru-RU" sz="2800" dirty="0" err="1"/>
              <a:t>object</a:t>
            </a:r>
            <a:r>
              <a:rPr lang="ru-RU" sz="2800" dirty="0"/>
              <a:t> </a:t>
            </a:r>
            <a:r>
              <a:rPr lang="ru-RU" sz="2800" dirty="0" err="1"/>
              <a:t>detection</a:t>
            </a:r>
            <a:r>
              <a:rPr lang="ru-RU" sz="2800" dirty="0"/>
              <a:t>) — задача, в рамках которой необходимо выделить несколько объектов на изображении посредством нахождения координат их ограничивающих рамок и классификации этих ограничивающих рамок из множества заранее известных классов. В отличие от классификации с локализацией, число объектов, которые находятся на изображении, заведомо неизвестно.</a:t>
            </a:r>
          </a:p>
          <a:p>
            <a:pPr>
              <a:buNone/>
            </a:pPr>
            <a:endParaRPr lang="ru-RU" sz="2800" dirty="0"/>
          </a:p>
          <a:p>
            <a:pPr>
              <a:buNone/>
            </a:pPr>
            <a:r>
              <a:rPr lang="ru-RU" sz="2800" dirty="0"/>
              <a:t>Несмотря на различия в уровне детализации, каждый из видов разметки по-своему полезен в конкретных задачах.</a:t>
            </a:r>
            <a:br>
              <a:rPr lang="ru-RU" sz="2800" dirty="0"/>
            </a:br>
            <a:endParaRPr lang="en-US" sz="2800" dirty="0"/>
          </a:p>
          <a:p>
            <a:pPr>
              <a:buNone/>
            </a:pP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13</a:t>
            </a:fld>
            <a:endParaRPr lang="ru-RU" noProof="0" dirty="0"/>
          </a:p>
        </p:txBody>
      </p:sp>
    </p:spTree>
    <p:extLst>
      <p:ext uri="{BB962C8B-B14F-4D97-AF65-F5344CB8AC3E}">
        <p14:creationId xmlns:p14="http://schemas.microsoft.com/office/powerpoint/2010/main" val="352387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r>
              <a:rPr lang="ru-RU" dirty="0"/>
              <a:t>Сферы применения</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14</a:t>
            </a:fld>
            <a:endParaRPr lang="ru-RU" dirty="0"/>
          </a:p>
        </p:txBody>
      </p:sp>
    </p:spTree>
    <p:extLst>
      <p:ext uri="{BB962C8B-B14F-4D97-AF65-F5344CB8AC3E}">
        <p14:creationId xmlns:p14="http://schemas.microsoft.com/office/powerpoint/2010/main" val="974288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Правильно размеченные изображения позволяют моделям эффективно различать объекты и фоны, а также корректно определять границы и классы объектов на изображении. В результате задачи по семантической сегментации улучшают способность систем компьютерного зрения правильно воспринимать визуальную информацию. Это особенно важно в системах автопилота или медицинской диагностике, где малейшая ошибка может привести к трагическим последствиям.</a:t>
            </a:r>
          </a:p>
          <a:p>
            <a:pPr>
              <a:buNone/>
            </a:pPr>
            <a:r>
              <a:rPr lang="ru-RU" sz="2800" dirty="0"/>
              <a:t>Разметка для семантической сегментации помогает не просто классифицировать объекты, но и точно определить, где именно находится каждый объект, его границы и форма. Это даёт возможность машине понимать, где начинается и заканчивается каждый элемент сцены, что важно для более сложных задач анализа изображения.</a:t>
            </a: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15</a:t>
            </a:fld>
            <a:endParaRPr lang="ru-RU" noProof="0" dirty="0"/>
          </a:p>
        </p:txBody>
      </p:sp>
    </p:spTree>
    <p:extLst>
      <p:ext uri="{BB962C8B-B14F-4D97-AF65-F5344CB8AC3E}">
        <p14:creationId xmlns:p14="http://schemas.microsoft.com/office/powerpoint/2010/main" val="664243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Семантическая сегментация уже сейчас активно используется в различных индустриях:</a:t>
            </a:r>
          </a:p>
          <a:p>
            <a:pPr>
              <a:buNone/>
            </a:pPr>
            <a:r>
              <a:rPr lang="ru-RU" sz="2800" dirty="0"/>
              <a:t>Автономные автомобили: Технологии автопилота используют семантическую сегментацию для распознавания дорог, пешеходов, транспортных средств. Это помогает автомобилю «видеть» дорожную обстановку и принимать верные решения в реальном времени, минимизируя риски аварий. </a:t>
            </a: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16</a:t>
            </a:fld>
            <a:endParaRPr lang="ru-RU" noProof="0" dirty="0"/>
          </a:p>
        </p:txBody>
      </p:sp>
    </p:spTree>
    <p:extLst>
      <p:ext uri="{BB962C8B-B14F-4D97-AF65-F5344CB8AC3E}">
        <p14:creationId xmlns:p14="http://schemas.microsoft.com/office/powerpoint/2010/main" val="1309243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Медицина: Семантическая сегментация используется для обработки медицинских изображений, таких как МРТ или КТ. Она помогает разделить изображение на различные сегменты, соответствующие тканям или органам, что улучшает диагностику и повышает точность медицинских заключений.</a:t>
            </a:r>
          </a:p>
          <a:p>
            <a:pPr>
              <a:buNone/>
            </a:pPr>
            <a:r>
              <a:rPr lang="ru-RU" sz="2800" dirty="0"/>
              <a:t>В случае рентгеновских или других медицинских снимков, модели сегментации помогают выделить области интереса, такие как опухоли. Анализ медицинских изображений имеет большое значение, так как автоматизирует работу клиницистов.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17</a:t>
            </a:fld>
            <a:endParaRPr lang="ru-RU" noProof="0" dirty="0"/>
          </a:p>
        </p:txBody>
      </p:sp>
    </p:spTree>
    <p:extLst>
      <p:ext uri="{BB962C8B-B14F-4D97-AF65-F5344CB8AC3E}">
        <p14:creationId xmlns:p14="http://schemas.microsoft.com/office/powerpoint/2010/main" val="3332713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Например, </a:t>
            </a:r>
            <a:r>
              <a:rPr lang="ru-RU" sz="2800" dirty="0" err="1"/>
              <a:t>Kvasir</a:t>
            </a:r>
            <a:r>
              <a:rPr lang="ru-RU" sz="2800" dirty="0"/>
              <a:t>-SEG — это открытый набор данных с изображениями полипов ЖКТ и соответствующими масками сегментации. Модели, такие как FCB-SwinV2 </a:t>
            </a:r>
            <a:r>
              <a:rPr lang="ru-RU" sz="2800" dirty="0" err="1"/>
              <a:t>Transformer</a:t>
            </a:r>
            <a:r>
              <a:rPr lang="ru-RU" sz="2800" dirty="0"/>
              <a:t> для сегментации, разработанные Керром Фицджеральдом и Богданом </a:t>
            </a:r>
            <a:r>
              <a:rPr lang="ru-RU" sz="2800" dirty="0" err="1"/>
              <a:t>Матушевским</a:t>
            </a:r>
            <a:r>
              <a:rPr lang="ru-RU" sz="2800" dirty="0"/>
              <a:t>, могут способствовать раннему обнаружению полипов, которые потенциально могут перерасти в рак.</a:t>
            </a:r>
          </a:p>
          <a:p>
            <a:pPr>
              <a:buNone/>
            </a:pP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spTree>
    <p:extLst>
      <p:ext uri="{BB962C8B-B14F-4D97-AF65-F5344CB8AC3E}">
        <p14:creationId xmlns:p14="http://schemas.microsoft.com/office/powerpoint/2010/main" val="2638710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Геоинформационные системы: Анализ спутниковых снимков с помощью семантической сегментации позволяет выделить участки земли, водоемы, лесные массивы, городские территории. Это помогает при создании карт и в мониторинге изменений в окружающей среде.</a:t>
            </a:r>
          </a:p>
          <a:p>
            <a:pPr>
              <a:buNone/>
            </a:pPr>
            <a:r>
              <a:rPr lang="ru-RU" sz="2800" dirty="0"/>
              <a:t>Агропромышленный комплекс: </a:t>
            </a:r>
            <a:r>
              <a:rPr lang="ru-RU" sz="2800" dirty="0" err="1"/>
              <a:t>Дроны</a:t>
            </a:r>
            <a:r>
              <a:rPr lang="ru-RU" sz="2800" dirty="0"/>
              <a:t> с камерами используют семантическую сегментацию для анализа сельскохозяйственных полей. Это помогает фермеру отслеживать состояние посевов, выявлять участки с болезнями или вредителями, тем самым повышая эффективность управления полями.</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spTree>
    <p:extLst>
      <p:ext uri="{BB962C8B-B14F-4D97-AF65-F5344CB8AC3E}">
        <p14:creationId xmlns:p14="http://schemas.microsoft.com/office/powerpoint/2010/main" val="350458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Поиск изображений по виртуальной базе: Как уже упоминалось, семантическая сегментация — это задача разделения изображения на сегменты, имеющие общие признаки. Это понимание позволяет разрабатывать алгоритмы поиска, которые находят изображения, схожие с исходным, и открывает возможности для создания систем визуального поиска, которые находят изображения на основе содержимого, а не только метаданных или текстовых описаний.</a:t>
            </a:r>
          </a:p>
          <a:p>
            <a:pPr>
              <a:buNone/>
            </a:pPr>
            <a:r>
              <a:rPr lang="ru-RU" sz="2800" dirty="0"/>
              <a:t>Например, если необходимо найти изображения зданий с определенными архитектурными элементами, алгоритм сегментации выделяет и идентифицирует эти особенности на других изображениях.</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20</a:t>
            </a:fld>
            <a:endParaRPr lang="ru-RU" noProof="0" dirty="0"/>
          </a:p>
        </p:txBody>
      </p:sp>
    </p:spTree>
    <p:extLst>
      <p:ext uri="{BB962C8B-B14F-4D97-AF65-F5344CB8AC3E}">
        <p14:creationId xmlns:p14="http://schemas.microsoft.com/office/powerpoint/2010/main" val="3073100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Сельское хозяйство: В сельском хозяйстве семантическая сегментация позволяет анализировать состояние посевов на основе изображений с дронов или спутников. Сегментация помогает выделять здоровые и пораженные участки растений, что позволяет фермерам быстро реагировать на угрозы, болезни или вредителей. А еще с помощью сегментации можно оценивать площадь посевов и прогнозировать урожайность, чтобы повысить производительность.</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21</a:t>
            </a:fld>
            <a:endParaRPr lang="ru-RU" noProof="0" dirty="0"/>
          </a:p>
        </p:txBody>
      </p:sp>
    </p:spTree>
    <p:extLst>
      <p:ext uri="{BB962C8B-B14F-4D97-AF65-F5344CB8AC3E}">
        <p14:creationId xmlns:p14="http://schemas.microsoft.com/office/powerpoint/2010/main" val="718644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r>
              <a:rPr lang="ru-RU" dirty="0"/>
              <a:t>Метрики</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22</a:t>
            </a:fld>
            <a:endParaRPr lang="ru-RU" dirty="0"/>
          </a:p>
        </p:txBody>
      </p:sp>
    </p:spTree>
    <p:extLst>
      <p:ext uri="{BB962C8B-B14F-4D97-AF65-F5344CB8AC3E}">
        <p14:creationId xmlns:p14="http://schemas.microsoft.com/office/powerpoint/2010/main" val="839972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marL="514350" indent="-514350">
              <a:buNone/>
            </a:pPr>
            <a:r>
              <a:rPr lang="ru-RU" sz="2800" dirty="0"/>
              <a:t>В задачах классификации с локализацией и детекции объектов для определения достоверности местоположения ограничивающей рамки в качестве метрики чаще всего используется отношение площадей ограничивающих рамок (англ. </a:t>
            </a:r>
            <a:r>
              <a:rPr lang="ru-RU" sz="2800" dirty="0" err="1"/>
              <a:t>Intersection</a:t>
            </a:r>
            <a:r>
              <a:rPr lang="ru-RU" sz="2800" dirty="0"/>
              <a:t> </a:t>
            </a:r>
            <a:r>
              <a:rPr lang="ru-RU" sz="2800" dirty="0" err="1"/>
              <a:t>over</a:t>
            </a:r>
            <a:r>
              <a:rPr lang="ru-RU" sz="2800" dirty="0"/>
              <a:t> </a:t>
            </a:r>
            <a:r>
              <a:rPr lang="ru-RU" sz="2800" dirty="0" err="1"/>
              <a:t>Union</a:t>
            </a:r>
            <a:r>
              <a:rPr lang="ru-RU" sz="2800" dirty="0"/>
              <a:t>):</a:t>
            </a:r>
          </a:p>
          <a:p>
            <a:pPr marL="514350" indent="-514350">
              <a:buNone/>
            </a:pPr>
            <a:endParaRPr lang="ru-RU" sz="2800" dirty="0"/>
          </a:p>
          <a:p>
            <a:pPr marL="514350" indent="-514350">
              <a:buNone/>
            </a:pPr>
            <a:endParaRPr lang="ru-RU" sz="2800" dirty="0"/>
          </a:p>
          <a:p>
            <a:pPr marL="514350" indent="-514350">
              <a:buNone/>
            </a:pPr>
            <a:r>
              <a:rPr lang="ru-RU" sz="2800" dirty="0"/>
              <a:t>где A  и B — предсказанная ограничивающая рамка и настоящая ограничивающая рамка соответственно. </a:t>
            </a:r>
            <a:r>
              <a:rPr lang="ru-RU" sz="2800" dirty="0" err="1"/>
              <a:t>IoU</a:t>
            </a:r>
            <a:r>
              <a:rPr lang="ru-RU" sz="2800" dirty="0"/>
              <a:t> равно нулю в случае непересекающихся ограничивающих рамок и равно единице в случае идеального наложения.</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p:pic>
        <p:nvPicPr>
          <p:cNvPr id="6" name="Рисунок 5"/>
          <p:cNvPicPr>
            <a:picLocks noChangeAspect="1"/>
          </p:cNvPicPr>
          <p:nvPr/>
        </p:nvPicPr>
        <p:blipFill>
          <a:blip r:embed="rId2"/>
          <a:stretch>
            <a:fillRect/>
          </a:stretch>
        </p:blipFill>
        <p:spPr>
          <a:xfrm>
            <a:off x="4642138" y="2652886"/>
            <a:ext cx="2290676" cy="995130"/>
          </a:xfrm>
          <a:prstGeom prst="rect">
            <a:avLst/>
          </a:prstGeom>
        </p:spPr>
      </p:pic>
    </p:spTree>
    <p:extLst>
      <p:ext uri="{BB962C8B-B14F-4D97-AF65-F5344CB8AC3E}">
        <p14:creationId xmlns:p14="http://schemas.microsoft.com/office/powerpoint/2010/main" val="1335928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24</a:t>
            </a:fld>
            <a:endParaRPr lang="ru-RU" noProof="0" dirty="0"/>
          </a:p>
        </p:txBody>
      </p:sp>
      <p:pic>
        <p:nvPicPr>
          <p:cNvPr id="2050" name="Picture 2" descr="Файл:IoUs-RU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98914" y="1697585"/>
            <a:ext cx="6773223" cy="2799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750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4" name="Объект 3"/>
          <p:cNvSpPr>
            <a:spLocks noGrp="1"/>
          </p:cNvSpPr>
          <p:nvPr>
            <p:ph idx="1"/>
          </p:nvPr>
        </p:nvSpPr>
        <p:spPr>
          <a:xfrm>
            <a:off x="432000" y="1039091"/>
            <a:ext cx="11328000" cy="5152159"/>
          </a:xfrm>
        </p:spPr>
        <p:txBody>
          <a:bodyPr/>
          <a:lstStyle/>
          <a:p>
            <a:pPr marL="514350" indent="-514350">
              <a:buNone/>
            </a:pPr>
            <a:r>
              <a:rPr lang="ru-RU" sz="2800" dirty="0"/>
              <a:t>В задачах детекции объектов в качестве метрики зачастую используется </a:t>
            </a:r>
            <a:r>
              <a:rPr lang="ru-RU" sz="2800" dirty="0" err="1"/>
              <a:t>mAP</a:t>
            </a:r>
            <a:r>
              <a:rPr lang="ru-RU" sz="2800" dirty="0"/>
              <a:t> (англ. </a:t>
            </a:r>
            <a:r>
              <a:rPr lang="ru-RU" sz="2800" dirty="0" err="1"/>
              <a:t>mean</a:t>
            </a:r>
            <a:r>
              <a:rPr lang="ru-RU" sz="2800" dirty="0"/>
              <a:t> </a:t>
            </a:r>
            <a:r>
              <a:rPr lang="ru-RU" sz="2800" dirty="0" err="1"/>
              <a:t>average</a:t>
            </a:r>
            <a:r>
              <a:rPr lang="ru-RU" sz="2800" dirty="0"/>
              <a:t> </a:t>
            </a:r>
            <a:r>
              <a:rPr lang="ru-RU" sz="2800" dirty="0" err="1"/>
              <a:t>precision</a:t>
            </a:r>
            <a:r>
              <a:rPr lang="ru-RU" sz="2800" dirty="0"/>
              <a:t>) — усреднённая по всем категориям величина средней точности (англ. </a:t>
            </a:r>
            <a:r>
              <a:rPr lang="ru-RU" sz="2800" dirty="0" err="1"/>
              <a:t>average</a:t>
            </a:r>
            <a:r>
              <a:rPr lang="ru-RU" sz="2800" dirty="0"/>
              <a:t> </a:t>
            </a:r>
            <a:r>
              <a:rPr lang="ru-RU" sz="2800" dirty="0" err="1"/>
              <a:t>precision</a:t>
            </a:r>
            <a:r>
              <a:rPr lang="ru-RU" sz="2800" dirty="0"/>
              <a:t>, AP)</a:t>
            </a:r>
          </a:p>
          <a:p>
            <a:pPr marL="514350" indent="-514350">
              <a:buNone/>
            </a:pPr>
            <a:endParaRPr lang="ru-RU" sz="2800" dirty="0"/>
          </a:p>
          <a:p>
            <a:pPr marL="514350" indent="-514350">
              <a:buNone/>
            </a:pPr>
            <a:r>
              <a:rPr lang="ru-RU" sz="2800" dirty="0"/>
              <a:t>где p — точность, r — полнота из предположения, что ограничивающая рамка определена верно, если IoU≥0.5. Поскольку точность и полнота находятся в промежутке от 0 до 1, то AP, а следовательно, и </a:t>
            </a:r>
            <a:r>
              <a:rPr lang="ru-RU" sz="2800" dirty="0" err="1"/>
              <a:t>mAP</a:t>
            </a:r>
            <a:r>
              <a:rPr lang="ru-RU" sz="2800" dirty="0"/>
              <a:t> также находится в пределах от 0 до 1. На практике, AP часто считают по точкам, значения полноты которых равномерно распределены в промежутке [0;1]:</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25</a:t>
            </a:fld>
            <a:endParaRPr lang="ru-RU" noProof="0" dirty="0"/>
          </a:p>
        </p:txBody>
      </p:sp>
      <p:pic>
        <p:nvPicPr>
          <p:cNvPr id="3" name="Рисунок 2"/>
          <p:cNvPicPr>
            <a:picLocks noChangeAspect="1"/>
          </p:cNvPicPr>
          <p:nvPr/>
        </p:nvPicPr>
        <p:blipFill>
          <a:blip r:embed="rId2"/>
          <a:stretch>
            <a:fillRect/>
          </a:stretch>
        </p:blipFill>
        <p:spPr>
          <a:xfrm>
            <a:off x="4904335" y="2297948"/>
            <a:ext cx="1579591" cy="467203"/>
          </a:xfrm>
          <a:prstGeom prst="rect">
            <a:avLst/>
          </a:prstGeom>
        </p:spPr>
      </p:pic>
      <p:pic>
        <p:nvPicPr>
          <p:cNvPr id="7" name="Рисунок 6"/>
          <p:cNvPicPr>
            <a:picLocks noChangeAspect="1"/>
          </p:cNvPicPr>
          <p:nvPr/>
        </p:nvPicPr>
        <p:blipFill>
          <a:blip r:embed="rId3"/>
          <a:stretch>
            <a:fillRect/>
          </a:stretch>
        </p:blipFill>
        <p:spPr>
          <a:xfrm>
            <a:off x="3018384" y="5397037"/>
            <a:ext cx="5331167" cy="969303"/>
          </a:xfrm>
          <a:prstGeom prst="rect">
            <a:avLst/>
          </a:prstGeom>
        </p:spPr>
      </p:pic>
    </p:spTree>
    <p:extLst>
      <p:ext uri="{BB962C8B-B14F-4D97-AF65-F5344CB8AC3E}">
        <p14:creationId xmlns:p14="http://schemas.microsoft.com/office/powerpoint/2010/main" val="2297723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26</a:t>
            </a:fld>
            <a:endParaRPr lang="ru-RU" noProof="0" dirty="0"/>
          </a:p>
        </p:txBody>
      </p:sp>
      <p:pic>
        <p:nvPicPr>
          <p:cNvPr id="4098" name="Picture 2" descr="Файл:P(r).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1724819"/>
            <a:ext cx="76200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223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r>
              <a:rPr lang="ru-RU" dirty="0"/>
              <a:t>Датасеты</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27</a:t>
            </a:fld>
            <a:endParaRPr lang="ru-RU" dirty="0"/>
          </a:p>
        </p:txBody>
      </p:sp>
    </p:spTree>
    <p:extLst>
      <p:ext uri="{BB962C8B-B14F-4D97-AF65-F5344CB8AC3E}">
        <p14:creationId xmlns:p14="http://schemas.microsoft.com/office/powerpoint/2010/main" val="3996341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Создание точных моделей для сегментации изображений невозможно без качественных датасетов, в которых каждый пиксель представляет определенный объект или класс. Однако такая сегментация требует намного более детализированных и объемных наборов данных по сравнению с обычными задачами машинного обучения. Здесь важна не только правильная разметка, но и разнообразие данных, особенно когда от модели зависит безопасность, как в случае с автопилотами. Давайте рассмотрим популярные открытые датасеты, используемые для этих целей, и их значение для обучения точных алгоритмов.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28</a:t>
            </a:fld>
            <a:endParaRPr lang="ru-RU" noProof="0" dirty="0"/>
          </a:p>
        </p:txBody>
      </p:sp>
    </p:spTree>
    <p:extLst>
      <p:ext uri="{BB962C8B-B14F-4D97-AF65-F5344CB8AC3E}">
        <p14:creationId xmlns:p14="http://schemas.microsoft.com/office/powerpoint/2010/main" val="2371750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lstStyle/>
          <a:p>
            <a:pPr marL="0" indent="0">
              <a:buNone/>
            </a:pPr>
            <a:r>
              <a:rPr lang="ru-RU" sz="2800" dirty="0"/>
              <a:t>Существуют многочисленные открытые датасеты для таких задач, они охватывают разнообразные семантические классы и предоставляющие тысячи примеров с детальными аннотациями. Например, в задаче обучения автопилота распознаванию пешеходов, велосипедов и автомобилей критически важно, чтобы система чётко различала все объекты, иначе возможны аварии или ложные срабатывания. Точность и надёжность здесь имеют решающее значение.</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29</a:t>
            </a:fld>
            <a:endParaRPr lang="ru-RU" noProof="0" dirty="0"/>
          </a:p>
        </p:txBody>
      </p:sp>
    </p:spTree>
    <p:extLst>
      <p:ext uri="{BB962C8B-B14F-4D97-AF65-F5344CB8AC3E}">
        <p14:creationId xmlns:p14="http://schemas.microsoft.com/office/powerpoint/2010/main" val="70413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normAutofit fontScale="92500"/>
          </a:bodyPr>
          <a:lstStyle/>
          <a:p>
            <a:pPr marL="0" indent="0">
              <a:buNone/>
            </a:pPr>
            <a:r>
              <a:rPr lang="ru-RU" sz="2800" dirty="0"/>
              <a:t>PASCAL VOC 2012 (</a:t>
            </a:r>
            <a:r>
              <a:rPr lang="ru-RU" sz="2800" dirty="0" err="1"/>
              <a:t>Pattern</a:t>
            </a:r>
            <a:r>
              <a:rPr lang="ru-RU" sz="2800" dirty="0"/>
              <a:t> </a:t>
            </a:r>
            <a:r>
              <a:rPr lang="ru-RU" sz="2800" dirty="0" err="1"/>
              <a:t>Analysis</a:t>
            </a:r>
            <a:r>
              <a:rPr lang="ru-RU" sz="2800" dirty="0"/>
              <a:t>, </a:t>
            </a:r>
            <a:r>
              <a:rPr lang="ru-RU" sz="2800" dirty="0" err="1"/>
              <a:t>Statistical</a:t>
            </a:r>
            <a:r>
              <a:rPr lang="ru-RU" sz="2800" dirty="0"/>
              <a:t> </a:t>
            </a:r>
            <a:r>
              <a:rPr lang="ru-RU" sz="2800" dirty="0" err="1"/>
              <a:t>Modelling</a:t>
            </a:r>
            <a:r>
              <a:rPr lang="ru-RU" sz="2800" dirty="0"/>
              <a:t> </a:t>
            </a:r>
            <a:r>
              <a:rPr lang="ru-RU" sz="2800" dirty="0" err="1"/>
              <a:t>and</a:t>
            </a:r>
            <a:r>
              <a:rPr lang="ru-RU" sz="2800" dirty="0"/>
              <a:t> </a:t>
            </a:r>
            <a:r>
              <a:rPr lang="ru-RU" sz="2800" dirty="0" err="1"/>
              <a:t>Computational</a:t>
            </a:r>
            <a:r>
              <a:rPr lang="ru-RU" sz="2800" dirty="0"/>
              <a:t> </a:t>
            </a:r>
            <a:r>
              <a:rPr lang="ru-RU" sz="2800" dirty="0" err="1"/>
              <a:t>Learning</a:t>
            </a:r>
            <a:r>
              <a:rPr lang="ru-RU" sz="2800" dirty="0"/>
              <a:t>: </a:t>
            </a:r>
            <a:r>
              <a:rPr lang="ru-RU" sz="2800" dirty="0" err="1"/>
              <a:t>Visual</a:t>
            </a:r>
            <a:r>
              <a:rPr lang="ru-RU" sz="2800" dirty="0"/>
              <a:t> </a:t>
            </a:r>
            <a:r>
              <a:rPr lang="ru-RU" sz="2800" dirty="0" err="1"/>
              <a:t>Object</a:t>
            </a:r>
            <a:r>
              <a:rPr lang="ru-RU" sz="2800" dirty="0"/>
              <a:t> </a:t>
            </a:r>
            <a:r>
              <a:rPr lang="ru-RU" sz="2800" dirty="0" err="1"/>
              <a:t>Classes</a:t>
            </a:r>
            <a:r>
              <a:rPr lang="ru-RU" sz="2800" dirty="0"/>
              <a:t> ) — содержит 11530 изображений 20 классов с 27450 регионами предложений и 6929 сегментациями</a:t>
            </a:r>
          </a:p>
          <a:p>
            <a:pPr marL="0" indent="0">
              <a:buNone/>
            </a:pPr>
            <a:r>
              <a:rPr lang="ru-RU" sz="2800" dirty="0"/>
              <a:t>MS COCO 2017 (Microsoft </a:t>
            </a:r>
            <a:r>
              <a:rPr lang="ru-RU" sz="2800" dirty="0" err="1"/>
              <a:t>Common</a:t>
            </a:r>
            <a:r>
              <a:rPr lang="ru-RU" sz="2800" dirty="0"/>
              <a:t> </a:t>
            </a:r>
            <a:r>
              <a:rPr lang="ru-RU" sz="2800" dirty="0" err="1"/>
              <a:t>Objects</a:t>
            </a:r>
            <a:r>
              <a:rPr lang="ru-RU" sz="2800" dirty="0"/>
              <a:t> </a:t>
            </a:r>
            <a:r>
              <a:rPr lang="ru-RU" sz="2800" dirty="0" err="1"/>
              <a:t>in</a:t>
            </a:r>
            <a:r>
              <a:rPr lang="ru-RU" sz="2800" dirty="0"/>
              <a:t> </a:t>
            </a:r>
            <a:r>
              <a:rPr lang="ru-RU" sz="2800" dirty="0" err="1"/>
              <a:t>Context</a:t>
            </a:r>
            <a:r>
              <a:rPr lang="ru-RU" sz="2800" dirty="0"/>
              <a:t>) — 118000 изображений в тренировочной выборке, 5000 изображений в валидационной выборке, 41000 изображений в тестовой выборке. Набор данных содержит 80 классов, на которых можно определить вложенность</a:t>
            </a:r>
          </a:p>
          <a:p>
            <a:pPr marL="0" indent="0">
              <a:buNone/>
            </a:pPr>
            <a:r>
              <a:rPr lang="ru-RU" sz="2800" dirty="0" err="1"/>
              <a:t>ImageNet</a:t>
            </a:r>
            <a:r>
              <a:rPr lang="ru-RU" sz="2800" dirty="0"/>
              <a:t> — 400000 изображений 200 классов с 350000 размеченными ограничивающими рамками</a:t>
            </a:r>
          </a:p>
          <a:p>
            <a:pPr marL="0" indent="0">
              <a:buNone/>
            </a:pPr>
            <a:r>
              <a:rPr lang="ru-RU" sz="2800" dirty="0" err="1"/>
              <a:t>Google</a:t>
            </a:r>
            <a:r>
              <a:rPr lang="ru-RU" sz="2800" dirty="0"/>
              <a:t> </a:t>
            </a:r>
            <a:r>
              <a:rPr lang="ru-RU" sz="2800" dirty="0" err="1"/>
              <a:t>Open</a:t>
            </a:r>
            <a:r>
              <a:rPr lang="ru-RU" sz="2800" dirty="0"/>
              <a:t> </a:t>
            </a:r>
            <a:r>
              <a:rPr lang="ru-RU" sz="2800" dirty="0" err="1"/>
              <a:t>Images</a:t>
            </a:r>
            <a:r>
              <a:rPr lang="ru-RU" sz="2800" dirty="0"/>
              <a:t> — в шестой версии февраля 2020 года содержит свыше 1743000 изображений в тестовой выборке, свыше 41000 изображений в валидационной выборке и свыше 125000 изображений в тестовой выборке. Суммарно на изображениях размечено около 16000000 ограничивающих рамок</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30</a:t>
            </a:fld>
            <a:endParaRPr lang="ru-RU" noProof="0" dirty="0"/>
          </a:p>
        </p:txBody>
      </p:sp>
    </p:spTree>
    <p:extLst>
      <p:ext uri="{BB962C8B-B14F-4D97-AF65-F5344CB8AC3E}">
        <p14:creationId xmlns:p14="http://schemas.microsoft.com/office/powerpoint/2010/main" val="944414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r>
              <a:rPr lang="ru-RU" dirty="0"/>
              <a:t>Подходы к решению задачи детекции объектов</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31</a:t>
            </a:fld>
            <a:endParaRPr lang="ru-RU" dirty="0"/>
          </a:p>
        </p:txBody>
      </p:sp>
    </p:spTree>
    <p:extLst>
      <p:ext uri="{BB962C8B-B14F-4D97-AF65-F5344CB8AC3E}">
        <p14:creationId xmlns:p14="http://schemas.microsoft.com/office/powerpoint/2010/main" val="1412770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Объект 3"/>
          <p:cNvSpPr>
            <a:spLocks noGrp="1"/>
          </p:cNvSpPr>
          <p:nvPr>
            <p:ph idx="1"/>
          </p:nvPr>
        </p:nvSpPr>
        <p:spPr>
          <a:xfrm>
            <a:off x="432000" y="1039091"/>
            <a:ext cx="11328000" cy="5152159"/>
          </a:xfrm>
        </p:spPr>
        <p:txBody>
          <a:bodyPr>
            <a:normAutofit/>
          </a:bodyPr>
          <a:lstStyle/>
          <a:p>
            <a:pPr marL="0" indent="0">
              <a:buNone/>
            </a:pPr>
            <a:r>
              <a:rPr lang="ru-RU" sz="2800" dirty="0"/>
              <a:t>Для отличных результатов в семантической сегментации архитектура модели играет ключевую роль. Не каждая нейронная сеть способна эффективно выполнять эту задачу. Модели вроде </a:t>
            </a:r>
            <a:r>
              <a:rPr lang="ru-RU" sz="2800" dirty="0" err="1"/>
              <a:t>Fully</a:t>
            </a:r>
            <a:r>
              <a:rPr lang="ru-RU" sz="2800" dirty="0"/>
              <a:t> </a:t>
            </a:r>
            <a:r>
              <a:rPr lang="ru-RU" sz="2800" dirty="0" err="1"/>
              <a:t>Convolutional</a:t>
            </a:r>
            <a:r>
              <a:rPr lang="ru-RU" sz="2800" dirty="0"/>
              <a:t> Networks (FCN), U-Net и </a:t>
            </a:r>
            <a:r>
              <a:rPr lang="ru-RU" sz="2800" dirty="0" err="1"/>
              <a:t>DeepLab</a:t>
            </a:r>
            <a:r>
              <a:rPr lang="ru-RU" sz="2800" dirty="0"/>
              <a:t> были специально разработаны для того, чтобы обрабатывать каждую деталь изображения на уровне пикселей.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32</a:t>
            </a:fld>
            <a:endParaRPr lang="ru-RU" noProof="0" dirty="0"/>
          </a:p>
        </p:txBody>
      </p:sp>
    </p:spTree>
    <p:extLst>
      <p:ext uri="{BB962C8B-B14F-4D97-AF65-F5344CB8AC3E}">
        <p14:creationId xmlns:p14="http://schemas.microsoft.com/office/powerpoint/2010/main" val="3242341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3849-22ED-853F-79CF-5A7CE57807A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BC8A97-592A-4801-C9F9-E3E5745D0999}"/>
              </a:ext>
            </a:extLst>
          </p:cNvPr>
          <p:cNvSpPr>
            <a:spLocks noGrp="1"/>
          </p:cNvSpPr>
          <p:nvPr>
            <p:ph type="title"/>
          </p:nvPr>
        </p:nvSpPr>
        <p:spPr/>
        <p:txBody>
          <a:bodyPr/>
          <a:lstStyle/>
          <a:p>
            <a:endParaRPr lang="ru-RU" dirty="0"/>
          </a:p>
        </p:txBody>
      </p:sp>
      <p:sp>
        <p:nvSpPr>
          <p:cNvPr id="4" name="Объект 3">
            <a:extLst>
              <a:ext uri="{FF2B5EF4-FFF2-40B4-BE49-F238E27FC236}">
                <a16:creationId xmlns:a16="http://schemas.microsoft.com/office/drawing/2014/main" id="{F8762916-EA54-E8D1-32C9-C230A3D6B4E5}"/>
              </a:ext>
            </a:extLst>
          </p:cNvPr>
          <p:cNvSpPr>
            <a:spLocks noGrp="1"/>
          </p:cNvSpPr>
          <p:nvPr>
            <p:ph idx="1"/>
          </p:nvPr>
        </p:nvSpPr>
        <p:spPr>
          <a:xfrm>
            <a:off x="432000" y="1039091"/>
            <a:ext cx="11328000" cy="5152159"/>
          </a:xfrm>
        </p:spPr>
        <p:txBody>
          <a:bodyPr>
            <a:normAutofit/>
          </a:bodyPr>
          <a:lstStyle/>
          <a:p>
            <a:pPr marL="0" indent="0">
              <a:buNone/>
            </a:pPr>
            <a:r>
              <a:rPr lang="ru-RU" sz="2800" dirty="0"/>
              <a:t>Одним из наивных подходов на основе свёрточных нейронных сетей может быть использование в качестве ядра каноничных изображений классов, которые необходимо найти на изображении, и дальнейшее использование скользящего окна для вычисления свёртки. Такой подход называется сопоставлением с шаблоном (англ. </a:t>
            </a:r>
            <a:r>
              <a:rPr lang="ru-RU" sz="2800" dirty="0" err="1"/>
              <a:t>template</a:t>
            </a:r>
            <a:r>
              <a:rPr lang="ru-RU" sz="2800" dirty="0"/>
              <a:t> </a:t>
            </a:r>
            <a:r>
              <a:rPr lang="ru-RU" sz="2800" dirty="0" err="1"/>
              <a:t>matching</a:t>
            </a:r>
            <a:r>
              <a:rPr lang="ru-RU" sz="2800" dirty="0"/>
              <a:t>). В случае, когда вместо шаблона используется натренированный классификатор, для достижения наилучшего результата необходимо осуществить полный перебор ограничивающих рамок с порогом уверенности в правдивости классификации за счёт того, что объекты могут быть разных масштабов и находиться в разных местах изображений. Однако, на изображении разрешения W×H  суммарное число ограничивающих рамок равно</a:t>
            </a:r>
          </a:p>
        </p:txBody>
      </p:sp>
      <p:sp>
        <p:nvSpPr>
          <p:cNvPr id="5" name="Номер слайда 4">
            <a:extLst>
              <a:ext uri="{FF2B5EF4-FFF2-40B4-BE49-F238E27FC236}">
                <a16:creationId xmlns:a16="http://schemas.microsoft.com/office/drawing/2014/main" id="{87CF6C01-2DF8-4C6C-8EC9-E0286B89D6ED}"/>
              </a:ext>
            </a:extLst>
          </p:cNvPr>
          <p:cNvSpPr>
            <a:spLocks noGrp="1"/>
          </p:cNvSpPr>
          <p:nvPr>
            <p:ph type="sldNum" sz="quarter" idx="33"/>
          </p:nvPr>
        </p:nvSpPr>
        <p:spPr/>
        <p:txBody>
          <a:bodyPr/>
          <a:lstStyle/>
          <a:p>
            <a:pPr rtl="0"/>
            <a:fld id="{19B51A1E-902D-48AF-9020-955120F399B6}" type="slidenum">
              <a:rPr lang="ru-RU" noProof="0" smtClean="0"/>
              <a:pPr rtl="0"/>
              <a:t>33</a:t>
            </a:fld>
            <a:endParaRPr lang="ru-RU" noProof="0" dirty="0"/>
          </a:p>
        </p:txBody>
      </p:sp>
      <p:pic>
        <p:nvPicPr>
          <p:cNvPr id="3" name="Рисунок 2">
            <a:extLst>
              <a:ext uri="{FF2B5EF4-FFF2-40B4-BE49-F238E27FC236}">
                <a16:creationId xmlns:a16="http://schemas.microsoft.com/office/drawing/2014/main" id="{F3131B9A-54A7-4FD0-DEAF-D877D368B4EB}"/>
              </a:ext>
            </a:extLst>
          </p:cNvPr>
          <p:cNvPicPr>
            <a:picLocks noChangeAspect="1"/>
          </p:cNvPicPr>
          <p:nvPr/>
        </p:nvPicPr>
        <p:blipFill>
          <a:blip r:embed="rId2"/>
          <a:stretch>
            <a:fillRect/>
          </a:stretch>
        </p:blipFill>
        <p:spPr>
          <a:xfrm>
            <a:off x="1642013" y="5762893"/>
            <a:ext cx="8220075" cy="514350"/>
          </a:xfrm>
          <a:prstGeom prst="rect">
            <a:avLst/>
          </a:prstGeom>
        </p:spPr>
      </p:pic>
    </p:spTree>
    <p:extLst>
      <p:ext uri="{BB962C8B-B14F-4D97-AF65-F5344CB8AC3E}">
        <p14:creationId xmlns:p14="http://schemas.microsoft.com/office/powerpoint/2010/main" val="796045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1B3E4-7E05-4A77-C67B-F43AF3309F0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DF3F8A-05F2-99D1-79BF-A81202AA5F9D}"/>
              </a:ext>
            </a:extLst>
          </p:cNvPr>
          <p:cNvSpPr>
            <a:spLocks noGrp="1"/>
          </p:cNvSpPr>
          <p:nvPr>
            <p:ph type="title"/>
          </p:nvPr>
        </p:nvSpPr>
        <p:spPr/>
        <p:txBody>
          <a:bodyPr/>
          <a:lstStyle/>
          <a:p>
            <a:endParaRPr lang="ru-RU" dirty="0"/>
          </a:p>
        </p:txBody>
      </p:sp>
      <p:sp>
        <p:nvSpPr>
          <p:cNvPr id="4" name="Объект 3">
            <a:extLst>
              <a:ext uri="{FF2B5EF4-FFF2-40B4-BE49-F238E27FC236}">
                <a16:creationId xmlns:a16="http://schemas.microsoft.com/office/drawing/2014/main" id="{4B25EE10-1679-B851-1C66-CE97173CD40B}"/>
              </a:ext>
            </a:extLst>
          </p:cNvPr>
          <p:cNvSpPr>
            <a:spLocks noGrp="1"/>
          </p:cNvSpPr>
          <p:nvPr>
            <p:ph idx="1"/>
          </p:nvPr>
        </p:nvSpPr>
        <p:spPr>
          <a:xfrm>
            <a:off x="432000" y="1039091"/>
            <a:ext cx="11328000" cy="5152159"/>
          </a:xfrm>
        </p:spPr>
        <p:txBody>
          <a:bodyPr>
            <a:normAutofit fontScale="92500" lnSpcReduction="20000"/>
          </a:bodyPr>
          <a:lstStyle/>
          <a:p>
            <a:pPr marL="0" indent="0">
              <a:buNone/>
            </a:pPr>
            <a:r>
              <a:rPr lang="ru-RU" sz="2800" dirty="0"/>
              <a:t>Поэтому полный перебор - неэффективный метод, занимающий очень большое количество времени.</a:t>
            </a:r>
          </a:p>
          <a:p>
            <a:pPr marL="0" indent="0">
              <a:buNone/>
            </a:pPr>
            <a:r>
              <a:rPr lang="ru-RU" sz="2800" dirty="0"/>
              <a:t>Для уменьшения количества рассматриваемых ограничивающих рамок выделяют два основных параллельно развивающихся подхода:</a:t>
            </a:r>
          </a:p>
          <a:p>
            <a:pPr marL="0" indent="0">
              <a:buNone/>
            </a:pPr>
            <a:r>
              <a:rPr lang="ru-RU" sz="2800" dirty="0"/>
              <a:t>Двухэтапные методы (англ. </a:t>
            </a:r>
            <a:r>
              <a:rPr lang="ru-RU" sz="2800" dirty="0" err="1"/>
              <a:t>two-stage</a:t>
            </a:r>
            <a:r>
              <a:rPr lang="ru-RU" sz="2800" dirty="0"/>
              <a:t> </a:t>
            </a:r>
            <a:r>
              <a:rPr lang="ru-RU" sz="2800" dirty="0" err="1"/>
              <a:t>methods</a:t>
            </a:r>
            <a:r>
              <a:rPr lang="ru-RU" sz="2800" dirty="0"/>
              <a:t>), они же "методы, основанные на регионах" (англ. </a:t>
            </a:r>
            <a:r>
              <a:rPr lang="ru-RU" sz="2800" dirty="0" err="1"/>
              <a:t>region-based</a:t>
            </a:r>
            <a:r>
              <a:rPr lang="ru-RU" sz="2800" dirty="0"/>
              <a:t> </a:t>
            </a:r>
            <a:r>
              <a:rPr lang="ru-RU" sz="2800" dirty="0" err="1"/>
              <a:t>methods</a:t>
            </a:r>
            <a:r>
              <a:rPr lang="ru-RU" sz="2800" dirty="0"/>
              <a:t>) — подход, разделённый на два этапа. На первом этапе селективным поиском или с помощью специального слоя нейронной сети выделяются регионы интереса (англ. </a:t>
            </a:r>
            <a:r>
              <a:rPr lang="ru-RU" sz="2800" dirty="0" err="1"/>
              <a:t>regions</a:t>
            </a:r>
            <a:r>
              <a:rPr lang="ru-RU" sz="2800" dirty="0"/>
              <a:t> </a:t>
            </a:r>
            <a:r>
              <a:rPr lang="ru-RU" sz="2800" dirty="0" err="1"/>
              <a:t>of</a:t>
            </a:r>
            <a:r>
              <a:rPr lang="ru-RU" sz="2800" dirty="0"/>
              <a:t> </a:t>
            </a:r>
            <a:r>
              <a:rPr lang="ru-RU" sz="2800" dirty="0" err="1"/>
              <a:t>interest</a:t>
            </a:r>
            <a:r>
              <a:rPr lang="ru-RU" sz="2800" dirty="0"/>
              <a:t>, </a:t>
            </a:r>
            <a:r>
              <a:rPr lang="ru-RU" sz="2800" dirty="0" err="1"/>
              <a:t>RoI</a:t>
            </a:r>
            <a:r>
              <a:rPr lang="ru-RU" sz="2800" dirty="0"/>
              <a:t>) — области , с высокой вероятностью содержащие внутри себя объекты. На втором этапе выбранные регионы рассматриваются классификатором для определения принадлежности исходным классам и регрессором, уточняющим местоположение ограничивающих рамок.</a:t>
            </a:r>
          </a:p>
          <a:p>
            <a:pPr marL="0" indent="0">
              <a:buNone/>
            </a:pPr>
            <a:r>
              <a:rPr lang="ru-RU" sz="2800" dirty="0"/>
              <a:t>Одноэтапные методы (англ. </a:t>
            </a:r>
            <a:r>
              <a:rPr lang="ru-RU" sz="2800" dirty="0" err="1"/>
              <a:t>one-stage</a:t>
            </a:r>
            <a:r>
              <a:rPr lang="ru-RU" sz="2800" dirty="0"/>
              <a:t> </a:t>
            </a:r>
            <a:r>
              <a:rPr lang="ru-RU" sz="2800" dirty="0" err="1"/>
              <a:t>methods</a:t>
            </a:r>
            <a:r>
              <a:rPr lang="ru-RU" sz="2800" dirty="0"/>
              <a:t>) — подход, не использующий отдельный алгоритм для генерации регионов, вместо этого предсказывая координаты определённого количества ограничивающих рамок с различными характеристиками, такими, как результаты классификации и степень уверенности и в дальнейшем корректируя местоположение рамок.</a:t>
            </a:r>
          </a:p>
        </p:txBody>
      </p:sp>
      <p:sp>
        <p:nvSpPr>
          <p:cNvPr id="5" name="Номер слайда 4">
            <a:extLst>
              <a:ext uri="{FF2B5EF4-FFF2-40B4-BE49-F238E27FC236}">
                <a16:creationId xmlns:a16="http://schemas.microsoft.com/office/drawing/2014/main" id="{E9B024A0-EDBB-15A5-C27D-B27E21F75E63}"/>
              </a:ext>
            </a:extLst>
          </p:cNvPr>
          <p:cNvSpPr>
            <a:spLocks noGrp="1"/>
          </p:cNvSpPr>
          <p:nvPr>
            <p:ph type="sldNum" sz="quarter" idx="33"/>
          </p:nvPr>
        </p:nvSpPr>
        <p:spPr/>
        <p:txBody>
          <a:bodyPr/>
          <a:lstStyle/>
          <a:p>
            <a:pPr rtl="0"/>
            <a:fld id="{19B51A1E-902D-48AF-9020-955120F399B6}" type="slidenum">
              <a:rPr lang="ru-RU" noProof="0" smtClean="0"/>
              <a:pPr rtl="0"/>
              <a:t>34</a:t>
            </a:fld>
            <a:endParaRPr lang="ru-RU" noProof="0" dirty="0"/>
          </a:p>
        </p:txBody>
      </p:sp>
    </p:spTree>
    <p:extLst>
      <p:ext uri="{BB962C8B-B14F-4D97-AF65-F5344CB8AC3E}">
        <p14:creationId xmlns:p14="http://schemas.microsoft.com/office/powerpoint/2010/main" val="1959717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FBF1-AC89-0A26-6FA9-5A66E0A2AA33}"/>
            </a:ext>
          </a:extLst>
        </p:cNvPr>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849AE4E1-9C1E-3A9A-331B-EBDF5D5B1973}"/>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2EBDA094-7CA4-4DBF-3BD6-8A6209E73EF1}"/>
              </a:ext>
              <a:ext uri="{C183D7F6-B498-43B3-948B-1728B52AA6E4}">
                <adec:decorative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47F15DF5-6D1C-A38D-A742-153A215C4B1C}"/>
              </a:ext>
              <a:ext uri="{C183D7F6-B498-43B3-948B-1728B52AA6E4}">
                <adec:decorative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1118D652-380F-F943-447A-65C781BC5AA0}"/>
              </a:ext>
            </a:extLst>
          </p:cNvPr>
          <p:cNvSpPr>
            <a:spLocks noGrp="1"/>
          </p:cNvSpPr>
          <p:nvPr>
            <p:ph type="ctrTitle"/>
          </p:nvPr>
        </p:nvSpPr>
        <p:spPr>
          <a:xfrm>
            <a:off x="7425293" y="2408157"/>
            <a:ext cx="4459766" cy="3146839"/>
          </a:xfrm>
        </p:spPr>
        <p:txBody>
          <a:bodyPr rtlCol="0"/>
          <a:lstStyle/>
          <a:p>
            <a:r>
              <a:rPr lang="ru-RU" dirty="0"/>
              <a:t>Двухэтапные методы</a:t>
            </a:r>
          </a:p>
        </p:txBody>
      </p:sp>
      <p:sp>
        <p:nvSpPr>
          <p:cNvPr id="4" name="Подзаголовок 3">
            <a:extLst>
              <a:ext uri="{FF2B5EF4-FFF2-40B4-BE49-F238E27FC236}">
                <a16:creationId xmlns:a16="http://schemas.microsoft.com/office/drawing/2014/main" id="{087E549A-75A8-2F0E-C132-56227858B1C9}"/>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1C7A07DE-707B-1379-759D-4A9F2270DE29}"/>
              </a:ext>
              <a:ext uri="{C183D7F6-B498-43B3-948B-1728B52AA6E4}">
                <adec:decorative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69204A4A-D248-744C-E47D-D1735FA8DC6C}"/>
              </a:ext>
              <a:ext uri="{C183D7F6-B498-43B3-948B-1728B52AA6E4}">
                <adec:decorative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652C811D-D58E-7F97-E574-F8AFBA71E6F9}"/>
              </a:ext>
            </a:extLst>
          </p:cNvPr>
          <p:cNvSpPr>
            <a:spLocks noGrp="1"/>
          </p:cNvSpPr>
          <p:nvPr>
            <p:ph type="sldNum" sz="quarter" idx="12"/>
          </p:nvPr>
        </p:nvSpPr>
        <p:spPr/>
        <p:txBody>
          <a:bodyPr rtlCol="0"/>
          <a:lstStyle/>
          <a:p>
            <a:pPr rtl="0"/>
            <a:fld id="{19B51A1E-902D-48AF-9020-955120F399B6}" type="slidenum">
              <a:rPr lang="ru-RU" smtClean="0"/>
              <a:pPr rtl="0"/>
              <a:t>35</a:t>
            </a:fld>
            <a:endParaRPr lang="ru-RU" dirty="0"/>
          </a:p>
        </p:txBody>
      </p:sp>
    </p:spTree>
    <p:extLst>
      <p:ext uri="{BB962C8B-B14F-4D97-AF65-F5344CB8AC3E}">
        <p14:creationId xmlns:p14="http://schemas.microsoft.com/office/powerpoint/2010/main" val="2127958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56F26-D3A2-ECB1-5C74-8848D08FAFF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45C53C-E5E3-9233-362E-146AC7DBBD6B}"/>
              </a:ext>
            </a:extLst>
          </p:cNvPr>
          <p:cNvSpPr>
            <a:spLocks noGrp="1"/>
          </p:cNvSpPr>
          <p:nvPr>
            <p:ph type="title"/>
          </p:nvPr>
        </p:nvSpPr>
        <p:spPr/>
        <p:txBody>
          <a:bodyPr/>
          <a:lstStyle/>
          <a:p>
            <a:r>
              <a:rPr lang="cs-CZ" dirty="0"/>
              <a:t>Fully Convolutional Networks</a:t>
            </a:r>
            <a:endParaRPr lang="ru-RU" dirty="0"/>
          </a:p>
        </p:txBody>
      </p:sp>
      <p:sp>
        <p:nvSpPr>
          <p:cNvPr id="4" name="Объект 3">
            <a:extLst>
              <a:ext uri="{FF2B5EF4-FFF2-40B4-BE49-F238E27FC236}">
                <a16:creationId xmlns:a16="http://schemas.microsoft.com/office/drawing/2014/main" id="{DE9D54C8-1754-AAF4-F7AB-B94D6A2272EC}"/>
              </a:ext>
            </a:extLst>
          </p:cNvPr>
          <p:cNvSpPr>
            <a:spLocks noGrp="1"/>
          </p:cNvSpPr>
          <p:nvPr>
            <p:ph idx="1"/>
          </p:nvPr>
        </p:nvSpPr>
        <p:spPr>
          <a:xfrm>
            <a:off x="432000" y="1039091"/>
            <a:ext cx="11328000" cy="5152159"/>
          </a:xfrm>
        </p:spPr>
        <p:txBody>
          <a:bodyPr>
            <a:normAutofit/>
          </a:bodyPr>
          <a:lstStyle/>
          <a:p>
            <a:pPr marL="0" indent="0">
              <a:buNone/>
            </a:pPr>
            <a:r>
              <a:rPr lang="ru-RU" sz="2800" dirty="0"/>
              <a:t>FCN – это нейронная сеть, разработанная для семантической сегментации, которая использует сверточные слои для извлечения информации о каждом пикселе. В отличие от стандартных CNN, которые используют плоские слои для выдачи единичных меток, FCN заменяет их на свёрточные блоки, извлекая больше данных о изображении.</a:t>
            </a:r>
          </a:p>
          <a:p>
            <a:pPr marL="0" indent="0">
              <a:buNone/>
            </a:pPr>
            <a:r>
              <a:rPr lang="ru-RU" sz="2800" dirty="0"/>
              <a:t>Увеличение и уменьшение изображения: По мере накопления свёрточных слоёв размер изображения уменьшается, теряя пространственную и пиксельную информацию. В конце процесса происходит "восстановление" изображения до исходного размера через </a:t>
            </a:r>
            <a:r>
              <a:rPr lang="ru-RU" sz="2800" dirty="0" err="1"/>
              <a:t>апсемплинг</a:t>
            </a:r>
            <a:r>
              <a:rPr lang="ru-RU" sz="2800" dirty="0"/>
              <a:t>.</a:t>
            </a:r>
          </a:p>
          <a:p>
            <a:pPr marL="0" indent="0">
              <a:buNone/>
            </a:pPr>
            <a:r>
              <a:rPr lang="ru-RU" sz="2800" dirty="0"/>
              <a:t>Макс-пулинг: Этот метод выбирает наибольшие элементы в анализируемой области, сохраняя самые важные признаки для создания карты признаков.</a:t>
            </a:r>
          </a:p>
        </p:txBody>
      </p:sp>
      <p:sp>
        <p:nvSpPr>
          <p:cNvPr id="5" name="Номер слайда 4">
            <a:extLst>
              <a:ext uri="{FF2B5EF4-FFF2-40B4-BE49-F238E27FC236}">
                <a16:creationId xmlns:a16="http://schemas.microsoft.com/office/drawing/2014/main" id="{ECD48482-8771-8A13-5B4A-D3E16A52F981}"/>
              </a:ext>
            </a:extLst>
          </p:cNvPr>
          <p:cNvSpPr>
            <a:spLocks noGrp="1"/>
          </p:cNvSpPr>
          <p:nvPr>
            <p:ph type="sldNum" sz="quarter" idx="33"/>
          </p:nvPr>
        </p:nvSpPr>
        <p:spPr/>
        <p:txBody>
          <a:bodyPr/>
          <a:lstStyle/>
          <a:p>
            <a:pPr rtl="0"/>
            <a:fld id="{19B51A1E-902D-48AF-9020-955120F399B6}" type="slidenum">
              <a:rPr lang="ru-RU" noProof="0" smtClean="0"/>
              <a:pPr rtl="0"/>
              <a:t>36</a:t>
            </a:fld>
            <a:endParaRPr lang="ru-RU" noProof="0" dirty="0"/>
          </a:p>
        </p:txBody>
      </p:sp>
    </p:spTree>
    <p:extLst>
      <p:ext uri="{BB962C8B-B14F-4D97-AF65-F5344CB8AC3E}">
        <p14:creationId xmlns:p14="http://schemas.microsoft.com/office/powerpoint/2010/main" val="2180256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U-</a:t>
            </a:r>
            <a:r>
              <a:rPr lang="ru-RU" dirty="0" err="1"/>
              <a:t>Nets</a:t>
            </a:r>
            <a:endParaRPr lang="ru-RU" dirty="0"/>
          </a:p>
        </p:txBody>
      </p:sp>
      <p:sp>
        <p:nvSpPr>
          <p:cNvPr id="4" name="Объект 3"/>
          <p:cNvSpPr>
            <a:spLocks noGrp="1"/>
          </p:cNvSpPr>
          <p:nvPr>
            <p:ph idx="1"/>
          </p:nvPr>
        </p:nvSpPr>
        <p:spPr>
          <a:xfrm>
            <a:off x="432000" y="1039091"/>
            <a:ext cx="11328000" cy="5152159"/>
          </a:xfrm>
        </p:spPr>
        <p:txBody>
          <a:bodyPr/>
          <a:lstStyle/>
          <a:p>
            <a:pPr>
              <a:buNone/>
            </a:pPr>
            <a:r>
              <a:rPr lang="ru-RU" sz="2800" dirty="0"/>
              <a:t>Архитектура U-Net, предложенная в 2015 году, улучшает результаты сегментации по сравнению с FCN. Она включает два компонента: энкодер, который понижает разрешение изображения, и декодер, который восстанавливает его через </a:t>
            </a:r>
            <a:r>
              <a:rPr lang="ru-RU" sz="2800" dirty="0" err="1"/>
              <a:t>деконволюцию</a:t>
            </a:r>
            <a:r>
              <a:rPr lang="ru-RU" sz="2800" dirty="0"/>
              <a:t>. U-Net часто используется в медицине для распознавания опухолей.</a:t>
            </a:r>
          </a:p>
          <a:p>
            <a:pPr>
              <a:buNone/>
            </a:pPr>
            <a:r>
              <a:rPr lang="ru-RU" sz="2800" dirty="0"/>
              <a:t>Прямые связи: Это важное новшество в U-Net, позволяющее соединять выходные данные одного слоя с другим, не смежным. Оно уменьшает потерю данных при понижении разрешения, повышая точность финального результата.</a:t>
            </a:r>
            <a:br>
              <a:rPr lang="ru-RU" sz="2800" dirty="0"/>
            </a:br>
            <a:endParaRPr lang="en-US" sz="2800" dirty="0"/>
          </a:p>
          <a:p>
            <a:pPr marL="0" indent="0">
              <a:buNone/>
            </a:pPr>
            <a:endParaRPr lang="en-US" sz="2800" dirty="0"/>
          </a:p>
          <a:p>
            <a:pPr marL="0" indent="0">
              <a:buNone/>
            </a:pPr>
            <a:br>
              <a:rPr lang="ru-RU" sz="2800" dirty="0"/>
            </a:br>
            <a:br>
              <a:rPr lang="ru-RU" sz="2800" dirty="0"/>
            </a:br>
            <a:r>
              <a:rPr lang="ru-RU" sz="2800" dirty="0"/>
              <a:t> </a:t>
            </a:r>
            <a:br>
              <a:rPr lang="ru-RU" sz="2800" dirty="0"/>
            </a:br>
            <a:endParaRPr lang="ru-RU" sz="28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37</a:t>
            </a:fld>
            <a:endParaRPr lang="ru-RU" noProof="0" dirty="0"/>
          </a:p>
        </p:txBody>
      </p:sp>
    </p:spTree>
    <p:extLst>
      <p:ext uri="{BB962C8B-B14F-4D97-AF65-F5344CB8AC3E}">
        <p14:creationId xmlns:p14="http://schemas.microsoft.com/office/powerpoint/2010/main" val="2371750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Region</a:t>
            </a:r>
            <a:r>
              <a:rPr lang="ru-RU" dirty="0"/>
              <a:t>-CNN</a:t>
            </a:r>
            <a:endParaRPr lang="en-US" dirty="0"/>
          </a:p>
        </p:txBody>
      </p:sp>
      <p:sp>
        <p:nvSpPr>
          <p:cNvPr id="4" name="Объект 3"/>
          <p:cNvSpPr>
            <a:spLocks noGrp="1"/>
          </p:cNvSpPr>
          <p:nvPr>
            <p:ph idx="1"/>
          </p:nvPr>
        </p:nvSpPr>
        <p:spPr>
          <a:xfrm>
            <a:off x="432000" y="1039091"/>
            <a:ext cx="11328000" cy="5152159"/>
          </a:xfrm>
        </p:spPr>
        <p:txBody>
          <a:bodyPr>
            <a:normAutofit/>
          </a:bodyPr>
          <a:lstStyle/>
          <a:p>
            <a:pPr marL="514350" indent="-514350">
              <a:buNone/>
            </a:pPr>
            <a:r>
              <a:rPr lang="ru-RU" sz="2800" dirty="0" err="1"/>
              <a:t>Region</a:t>
            </a:r>
            <a:r>
              <a:rPr lang="ru-RU" sz="2800" dirty="0"/>
              <a:t>-CNN (R-CNN, </a:t>
            </a:r>
            <a:r>
              <a:rPr lang="ru-RU" sz="2800" dirty="0" err="1"/>
              <a:t>Region-based</a:t>
            </a:r>
            <a:r>
              <a:rPr lang="ru-RU" sz="2800" dirty="0"/>
              <a:t> </a:t>
            </a:r>
            <a:r>
              <a:rPr lang="ru-RU" sz="2800" dirty="0" err="1"/>
              <a:t>Convolutional</a:t>
            </a:r>
            <a:r>
              <a:rPr lang="ru-RU" sz="2800" dirty="0"/>
              <a:t> Network) — алгоритм, основанный на свёрточных нейронных сетях. Вместо того, чтобы использовать для поиска изображений скользящие окна фиксированного размера, на первом шаге алгоритм пытается найти селективным поиском "регионы" — прямоугольные рамки разных размеров, которые, предположительно, содержат объект. Это обеспечивает более быстрое и эффективное нахождение объектов независимо от размера объекта, расстояния до камеры, угла зрения.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38</a:t>
            </a:fld>
            <a:endParaRPr lang="ru-RU" noProof="0" dirty="0"/>
          </a:p>
        </p:txBody>
      </p:sp>
    </p:spTree>
    <p:extLst>
      <p:ext uri="{BB962C8B-B14F-4D97-AF65-F5344CB8AC3E}">
        <p14:creationId xmlns:p14="http://schemas.microsoft.com/office/powerpoint/2010/main" val="2371750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1644-6F05-8BEA-0452-E91ED0BC51C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ACA5B9-1124-D546-1DA6-C22EDC4801CA}"/>
              </a:ext>
            </a:extLst>
          </p:cNvPr>
          <p:cNvSpPr>
            <a:spLocks noGrp="1"/>
          </p:cNvSpPr>
          <p:nvPr>
            <p:ph type="title"/>
          </p:nvPr>
        </p:nvSpPr>
        <p:spPr/>
        <p:txBody>
          <a:bodyPr/>
          <a:lstStyle/>
          <a:p>
            <a:r>
              <a:rPr lang="ru-RU" dirty="0" err="1"/>
              <a:t>Region</a:t>
            </a:r>
            <a:r>
              <a:rPr lang="ru-RU" dirty="0"/>
              <a:t>-CNN</a:t>
            </a:r>
            <a:endParaRPr lang="en-US" dirty="0"/>
          </a:p>
        </p:txBody>
      </p:sp>
      <p:sp>
        <p:nvSpPr>
          <p:cNvPr id="4" name="Объект 3">
            <a:extLst>
              <a:ext uri="{FF2B5EF4-FFF2-40B4-BE49-F238E27FC236}">
                <a16:creationId xmlns:a16="http://schemas.microsoft.com/office/drawing/2014/main" id="{0ECD2E85-14D7-E96A-701A-613398ADA817}"/>
              </a:ext>
            </a:extLst>
          </p:cNvPr>
          <p:cNvSpPr>
            <a:spLocks noGrp="1"/>
          </p:cNvSpPr>
          <p:nvPr>
            <p:ph idx="1"/>
          </p:nvPr>
        </p:nvSpPr>
        <p:spPr>
          <a:xfrm>
            <a:off x="432000" y="1039091"/>
            <a:ext cx="11328000" cy="5152159"/>
          </a:xfrm>
        </p:spPr>
        <p:txBody>
          <a:bodyPr>
            <a:normAutofit fontScale="92500" lnSpcReduction="10000"/>
          </a:bodyPr>
          <a:lstStyle/>
          <a:p>
            <a:pPr marL="514350" indent="-514350">
              <a:buNone/>
            </a:pPr>
            <a:r>
              <a:rPr lang="ru-RU" sz="2800" dirty="0"/>
              <a:t>Суммарное количество регионов для каждого изображения, сгенерированных на первом шаге, примерно равно двум тысячам. Найденные регионы при помощи аффинных преобразований приобретают размер, который нужно подать на вход CNN. Также вместо аффинных преобразований можно использовать </a:t>
            </a:r>
            <a:r>
              <a:rPr lang="ru-RU" sz="2800" dirty="0" err="1"/>
              <a:t>паддинги</a:t>
            </a:r>
            <a:r>
              <a:rPr lang="ru-RU" sz="2800" dirty="0"/>
              <a:t>, либо расширять ограничивающие рамки до размеров, необходимых для входа CNN. В качестве CNN зачастую используется архитектура </a:t>
            </a:r>
            <a:r>
              <a:rPr lang="ru-RU" sz="2800" dirty="0" err="1"/>
              <a:t>CaffeNet</a:t>
            </a:r>
            <a:r>
              <a:rPr lang="ru-RU" sz="2800" dirty="0"/>
              <a:t>, извлекающая для каждого региона порядка 4096 признаков. На последнем этапе вектора признаков регионов обрабатываются SVM, проводящими классификацию объектов, по одной SVM на каждый домен.</a:t>
            </a:r>
          </a:p>
          <a:p>
            <a:pPr marL="514350" indent="-514350">
              <a:buNone/>
            </a:pPr>
            <a:r>
              <a:rPr lang="ru-RU" sz="2800" dirty="0"/>
              <a:t>Селективный поиск, в свою очередь, тоже можно обучать с помощью линейной регрессии параметров региона — ширины, высоты, центра. Этот метод, названный </a:t>
            </a:r>
            <a:r>
              <a:rPr lang="ru-RU" sz="2800" dirty="0" err="1"/>
              <a:t>bounding-box</a:t>
            </a:r>
            <a:r>
              <a:rPr lang="ru-RU" sz="2800" dirty="0"/>
              <a:t> </a:t>
            </a:r>
            <a:r>
              <a:rPr lang="ru-RU" sz="2800" dirty="0" err="1"/>
              <a:t>regression</a:t>
            </a:r>
            <a:r>
              <a:rPr lang="ru-RU" sz="2800" dirty="0"/>
              <a:t>, позволяет более точно выделить объект. В качестве данных для регрессии используются признаки, полученные в результате работы CNN.</a:t>
            </a:r>
          </a:p>
        </p:txBody>
      </p:sp>
      <p:sp>
        <p:nvSpPr>
          <p:cNvPr id="5" name="Номер слайда 4">
            <a:extLst>
              <a:ext uri="{FF2B5EF4-FFF2-40B4-BE49-F238E27FC236}">
                <a16:creationId xmlns:a16="http://schemas.microsoft.com/office/drawing/2014/main" id="{1585B343-967E-0593-CA8C-EDFA97F3D7A4}"/>
              </a:ext>
            </a:extLst>
          </p:cNvPr>
          <p:cNvSpPr>
            <a:spLocks noGrp="1"/>
          </p:cNvSpPr>
          <p:nvPr>
            <p:ph type="sldNum" sz="quarter" idx="33"/>
          </p:nvPr>
        </p:nvSpPr>
        <p:spPr/>
        <p:txBody>
          <a:bodyPr/>
          <a:lstStyle/>
          <a:p>
            <a:pPr rtl="0"/>
            <a:fld id="{19B51A1E-902D-48AF-9020-955120F399B6}" type="slidenum">
              <a:rPr lang="ru-RU" noProof="0" smtClean="0"/>
              <a:pPr rtl="0"/>
              <a:t>39</a:t>
            </a:fld>
            <a:endParaRPr lang="ru-RU" noProof="0" dirty="0"/>
          </a:p>
        </p:txBody>
      </p:sp>
    </p:spTree>
    <p:extLst>
      <p:ext uri="{BB962C8B-B14F-4D97-AF65-F5344CB8AC3E}">
        <p14:creationId xmlns:p14="http://schemas.microsoft.com/office/powerpoint/2010/main" val="3950043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E6308-06F2-F27A-A269-AC492BB993A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047690-BCC7-D5DD-02C9-07588929F996}"/>
              </a:ext>
            </a:extLst>
          </p:cNvPr>
          <p:cNvSpPr>
            <a:spLocks noGrp="1"/>
          </p:cNvSpPr>
          <p:nvPr>
            <p:ph type="title"/>
          </p:nvPr>
        </p:nvSpPr>
        <p:spPr/>
        <p:txBody>
          <a:bodyPr/>
          <a:lstStyle/>
          <a:p>
            <a:r>
              <a:rPr lang="ru-RU" dirty="0" err="1"/>
              <a:t>Region</a:t>
            </a:r>
            <a:r>
              <a:rPr lang="ru-RU" dirty="0"/>
              <a:t>-CNN</a:t>
            </a:r>
            <a:endParaRPr lang="en-US" dirty="0"/>
          </a:p>
        </p:txBody>
      </p:sp>
      <p:sp>
        <p:nvSpPr>
          <p:cNvPr id="5" name="Номер слайда 4">
            <a:extLst>
              <a:ext uri="{FF2B5EF4-FFF2-40B4-BE49-F238E27FC236}">
                <a16:creationId xmlns:a16="http://schemas.microsoft.com/office/drawing/2014/main" id="{2CA6B3C8-4916-8D0F-F2EC-871989BCCC38}"/>
              </a:ext>
            </a:extLst>
          </p:cNvPr>
          <p:cNvSpPr>
            <a:spLocks noGrp="1"/>
          </p:cNvSpPr>
          <p:nvPr>
            <p:ph type="sldNum" sz="quarter" idx="33"/>
          </p:nvPr>
        </p:nvSpPr>
        <p:spPr/>
        <p:txBody>
          <a:bodyPr/>
          <a:lstStyle/>
          <a:p>
            <a:pPr rtl="0"/>
            <a:fld id="{19B51A1E-902D-48AF-9020-955120F399B6}" type="slidenum">
              <a:rPr lang="ru-RU" noProof="0" smtClean="0"/>
              <a:pPr rtl="0"/>
              <a:t>40</a:t>
            </a:fld>
            <a:endParaRPr lang="ru-RU" noProof="0" dirty="0"/>
          </a:p>
        </p:txBody>
      </p:sp>
      <p:pic>
        <p:nvPicPr>
          <p:cNvPr id="1026" name="Picture 2">
            <a:extLst>
              <a:ext uri="{FF2B5EF4-FFF2-40B4-BE49-F238E27FC236}">
                <a16:creationId xmlns:a16="http://schemas.microsoft.com/office/drawing/2014/main" id="{A4998259-66B9-71B3-4758-20B1BC053D8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1462" y="1560352"/>
            <a:ext cx="10883016" cy="4026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8545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marL="514350" indent="-514350"/>
            <a:r>
              <a:rPr lang="ru-RU" dirty="0"/>
              <a:t>Fast R-CNN</a:t>
            </a:r>
          </a:p>
        </p:txBody>
      </p:sp>
      <p:sp>
        <p:nvSpPr>
          <p:cNvPr id="4" name="Объект 3"/>
          <p:cNvSpPr>
            <a:spLocks noGrp="1"/>
          </p:cNvSpPr>
          <p:nvPr>
            <p:ph idx="1"/>
          </p:nvPr>
        </p:nvSpPr>
        <p:spPr>
          <a:xfrm>
            <a:off x="432000" y="1039091"/>
            <a:ext cx="11328000" cy="5152159"/>
          </a:xfrm>
        </p:spPr>
        <p:txBody>
          <a:bodyPr/>
          <a:lstStyle/>
          <a:p>
            <a:pPr marL="514350" indent="-514350">
              <a:buNone/>
            </a:pPr>
            <a:r>
              <a:rPr lang="ru-RU" sz="2800" dirty="0"/>
              <a:t>За счёт того, что в R-CNN для каждого из 2000 регионов классификация производится отдельно, обучение сети занимает большой объём времени. Оригинальной версии алгоритма R-CNN для обработки каждого тестового изображения требовалось порядка 47 секунд, поэтому его авторы предложили алгоритм, улучшающий производительность — Fast R-CNN. Его характерной особенностью является подача на вход CNN не отдельных регионов, а всего изображения сразу для получения общей карты признаков. Предложенные регионы накладываются на общую карту признаков, и в результате количество операций свёртки существенно уменьшается.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41</a:t>
            </a:fld>
            <a:endParaRPr lang="ru-RU" noProof="0" dirty="0"/>
          </a:p>
        </p:txBody>
      </p:sp>
    </p:spTree>
    <p:extLst>
      <p:ext uri="{BB962C8B-B14F-4D97-AF65-F5344CB8AC3E}">
        <p14:creationId xmlns:p14="http://schemas.microsoft.com/office/powerpoint/2010/main" val="2371750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97AA3-172E-8053-1EE9-1AC70ED3591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5DC7DE-8617-7B8C-7A3D-7E2AC0F31101}"/>
              </a:ext>
            </a:extLst>
          </p:cNvPr>
          <p:cNvSpPr>
            <a:spLocks noGrp="1"/>
          </p:cNvSpPr>
          <p:nvPr>
            <p:ph type="title"/>
          </p:nvPr>
        </p:nvSpPr>
        <p:spPr/>
        <p:txBody>
          <a:bodyPr/>
          <a:lstStyle/>
          <a:p>
            <a:pPr marL="514350" indent="-514350"/>
            <a:r>
              <a:rPr lang="ru-RU" dirty="0"/>
              <a:t>Fast R-CNN</a:t>
            </a:r>
          </a:p>
        </p:txBody>
      </p:sp>
      <p:sp>
        <p:nvSpPr>
          <p:cNvPr id="4" name="Объект 3">
            <a:extLst>
              <a:ext uri="{FF2B5EF4-FFF2-40B4-BE49-F238E27FC236}">
                <a16:creationId xmlns:a16="http://schemas.microsoft.com/office/drawing/2014/main" id="{29BBB15C-F972-5186-765F-2B92CA4026CA}"/>
              </a:ext>
            </a:extLst>
          </p:cNvPr>
          <p:cNvSpPr>
            <a:spLocks noGrp="1"/>
          </p:cNvSpPr>
          <p:nvPr>
            <p:ph idx="1"/>
          </p:nvPr>
        </p:nvSpPr>
        <p:spPr>
          <a:xfrm>
            <a:off x="432000" y="1039091"/>
            <a:ext cx="11328000" cy="5152159"/>
          </a:xfrm>
        </p:spPr>
        <p:txBody>
          <a:bodyPr/>
          <a:lstStyle/>
          <a:p>
            <a:pPr marL="514350" indent="-514350">
              <a:buNone/>
            </a:pPr>
            <a:r>
              <a:rPr lang="ru-RU" sz="2800" dirty="0"/>
              <a:t>Поскольку регионы имеют разный размер, необходимо привести признаки к фиксированному размеру при помощи операции </a:t>
            </a:r>
            <a:r>
              <a:rPr lang="ru-RU" sz="2800" dirty="0" err="1"/>
              <a:t>RoIPooling</a:t>
            </a:r>
            <a:r>
              <a:rPr lang="ru-RU" sz="2800" dirty="0"/>
              <a:t> (</a:t>
            </a:r>
            <a:r>
              <a:rPr lang="ru-RU" sz="2800" dirty="0" err="1"/>
              <a:t>Region</a:t>
            </a:r>
            <a:r>
              <a:rPr lang="ru-RU" sz="2800" dirty="0"/>
              <a:t> </a:t>
            </a:r>
            <a:r>
              <a:rPr lang="ru-RU" sz="2800" dirty="0" err="1"/>
              <a:t>of</a:t>
            </a:r>
            <a:r>
              <a:rPr lang="ru-RU" sz="2800" dirty="0"/>
              <a:t> </a:t>
            </a:r>
            <a:r>
              <a:rPr lang="ru-RU" sz="2800" dirty="0" err="1"/>
              <a:t>interest</a:t>
            </a:r>
            <a:r>
              <a:rPr lang="ru-RU" sz="2800" dirty="0"/>
              <a:t> </a:t>
            </a:r>
            <a:r>
              <a:rPr lang="ru-RU" sz="2800" dirty="0" err="1"/>
              <a:t>pooling</a:t>
            </a:r>
            <a:r>
              <a:rPr lang="ru-RU" sz="2800" dirty="0"/>
              <a:t>). В рамках </a:t>
            </a:r>
            <a:r>
              <a:rPr lang="ru-RU" sz="2800" dirty="0" err="1"/>
              <a:t>RoIPooling</a:t>
            </a:r>
            <a:r>
              <a:rPr lang="ru-RU" sz="2800" dirty="0"/>
              <a:t> регион делится на сетку, размерность ячеек которой совпадает с размерностью выхода, после чего по ячейкам сетки проводится выбор максимального значения. Полученные регионы фиксированного размера далее являются входом для </a:t>
            </a:r>
            <a:r>
              <a:rPr lang="ru-RU" sz="2800" dirty="0" err="1"/>
              <a:t>полносвязного</a:t>
            </a:r>
            <a:r>
              <a:rPr lang="ru-RU" sz="2800" dirty="0"/>
              <a:t> слоя, который и осуществляет как классификацию, так и линейную регрессию для сдвига границ его рамок. Стоит отметить, что в Fast R-CNN используется совместное обучение SVM для классификации, CNN и </a:t>
            </a:r>
            <a:r>
              <a:rPr lang="ru-RU" sz="2800" dirty="0" err="1"/>
              <a:t>bounding</a:t>
            </a:r>
            <a:r>
              <a:rPr lang="ru-RU" sz="2800" dirty="0"/>
              <a:t> </a:t>
            </a:r>
            <a:r>
              <a:rPr lang="ru-RU" sz="2800" dirty="0" err="1"/>
              <a:t>box</a:t>
            </a:r>
            <a:r>
              <a:rPr lang="ru-RU" sz="2800" dirty="0"/>
              <a:t> регрессора вместо независимого их обучения —для этого используется совместная функция потерь.</a:t>
            </a:r>
          </a:p>
        </p:txBody>
      </p:sp>
      <p:sp>
        <p:nvSpPr>
          <p:cNvPr id="5" name="Номер слайда 4">
            <a:extLst>
              <a:ext uri="{FF2B5EF4-FFF2-40B4-BE49-F238E27FC236}">
                <a16:creationId xmlns:a16="http://schemas.microsoft.com/office/drawing/2014/main" id="{F9C21C9C-9060-068E-704D-E8C87778F252}"/>
              </a:ext>
            </a:extLst>
          </p:cNvPr>
          <p:cNvSpPr>
            <a:spLocks noGrp="1"/>
          </p:cNvSpPr>
          <p:nvPr>
            <p:ph type="sldNum" sz="quarter" idx="33"/>
          </p:nvPr>
        </p:nvSpPr>
        <p:spPr/>
        <p:txBody>
          <a:bodyPr/>
          <a:lstStyle/>
          <a:p>
            <a:pPr rtl="0"/>
            <a:fld id="{19B51A1E-902D-48AF-9020-955120F399B6}" type="slidenum">
              <a:rPr lang="ru-RU" noProof="0" smtClean="0"/>
              <a:pPr rtl="0"/>
              <a:t>42</a:t>
            </a:fld>
            <a:endParaRPr lang="ru-RU" noProof="0" dirty="0"/>
          </a:p>
        </p:txBody>
      </p:sp>
    </p:spTree>
    <p:extLst>
      <p:ext uri="{BB962C8B-B14F-4D97-AF65-F5344CB8AC3E}">
        <p14:creationId xmlns:p14="http://schemas.microsoft.com/office/powerpoint/2010/main" val="4094359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2922-EB1D-D7FF-F11D-D068559BD27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118923-206C-AE0F-7225-15D50FA90873}"/>
              </a:ext>
            </a:extLst>
          </p:cNvPr>
          <p:cNvSpPr>
            <a:spLocks noGrp="1"/>
          </p:cNvSpPr>
          <p:nvPr>
            <p:ph type="title"/>
          </p:nvPr>
        </p:nvSpPr>
        <p:spPr/>
        <p:txBody>
          <a:bodyPr/>
          <a:lstStyle/>
          <a:p>
            <a:pPr marL="514350" indent="-514350"/>
            <a:r>
              <a:rPr lang="ru-RU" dirty="0"/>
              <a:t>Fast R-CNN</a:t>
            </a:r>
          </a:p>
        </p:txBody>
      </p:sp>
      <p:sp>
        <p:nvSpPr>
          <p:cNvPr id="5" name="Номер слайда 4">
            <a:extLst>
              <a:ext uri="{FF2B5EF4-FFF2-40B4-BE49-F238E27FC236}">
                <a16:creationId xmlns:a16="http://schemas.microsoft.com/office/drawing/2014/main" id="{1065BE10-4B40-9D82-FE0A-6F2B93906A6C}"/>
              </a:ext>
            </a:extLst>
          </p:cNvPr>
          <p:cNvSpPr>
            <a:spLocks noGrp="1"/>
          </p:cNvSpPr>
          <p:nvPr>
            <p:ph type="sldNum" sz="quarter" idx="33"/>
          </p:nvPr>
        </p:nvSpPr>
        <p:spPr/>
        <p:txBody>
          <a:bodyPr/>
          <a:lstStyle/>
          <a:p>
            <a:pPr rtl="0"/>
            <a:fld id="{19B51A1E-902D-48AF-9020-955120F399B6}" type="slidenum">
              <a:rPr lang="ru-RU" noProof="0" smtClean="0"/>
              <a:pPr rtl="0"/>
              <a:t>43</a:t>
            </a:fld>
            <a:endParaRPr lang="ru-RU" noProof="0" dirty="0"/>
          </a:p>
        </p:txBody>
      </p:sp>
      <p:pic>
        <p:nvPicPr>
          <p:cNvPr id="2050" name="Picture 2">
            <a:extLst>
              <a:ext uri="{FF2B5EF4-FFF2-40B4-BE49-F238E27FC236}">
                <a16:creationId xmlns:a16="http://schemas.microsoft.com/office/drawing/2014/main" id="{0D355D9D-B784-987F-0A3D-E2348B7375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1731" y="1468073"/>
            <a:ext cx="11009866" cy="4211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39810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A02C4-E6E5-477A-1194-8859E5BF85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2FA00B-44E2-522F-61C9-0863E0D32DA7}"/>
              </a:ext>
            </a:extLst>
          </p:cNvPr>
          <p:cNvSpPr>
            <a:spLocks noGrp="1"/>
          </p:cNvSpPr>
          <p:nvPr>
            <p:ph type="title"/>
          </p:nvPr>
        </p:nvSpPr>
        <p:spPr/>
        <p:txBody>
          <a:bodyPr/>
          <a:lstStyle/>
          <a:p>
            <a:pPr marL="514350" indent="-514350"/>
            <a:r>
              <a:rPr lang="ru-RU" dirty="0" err="1"/>
              <a:t>Faster</a:t>
            </a:r>
            <a:r>
              <a:rPr lang="ru-RU" dirty="0"/>
              <a:t> R-CNN</a:t>
            </a:r>
          </a:p>
        </p:txBody>
      </p:sp>
      <p:sp>
        <p:nvSpPr>
          <p:cNvPr id="4" name="Объект 3">
            <a:extLst>
              <a:ext uri="{FF2B5EF4-FFF2-40B4-BE49-F238E27FC236}">
                <a16:creationId xmlns:a16="http://schemas.microsoft.com/office/drawing/2014/main" id="{DAB98C2F-E566-0B47-3E70-69AE6812A0B8}"/>
              </a:ext>
            </a:extLst>
          </p:cNvPr>
          <p:cNvSpPr>
            <a:spLocks noGrp="1"/>
          </p:cNvSpPr>
          <p:nvPr>
            <p:ph idx="1"/>
          </p:nvPr>
        </p:nvSpPr>
        <p:spPr>
          <a:xfrm>
            <a:off x="432000" y="1039091"/>
            <a:ext cx="11328000" cy="5152159"/>
          </a:xfrm>
        </p:spPr>
        <p:txBody>
          <a:bodyPr/>
          <a:lstStyle/>
          <a:p>
            <a:pPr marL="514350" indent="-514350">
              <a:buNone/>
            </a:pPr>
            <a:r>
              <a:rPr lang="ru-RU" sz="2800" dirty="0"/>
              <a:t>Fast R-CNN, как и оригинальный алгоритм R-CNN, использует для нахождения регионов селективный поиск. Несмотря на то, что за счёт единоразовой свёртки время обучения на одном тестовом изображении алгоритмом снизилось с 49 до 2.3 секунд, селективный поиск, который выполняет предложения регионов, является узким местом в производительности Fast R-CNN. Авторы алгоритма </a:t>
            </a:r>
            <a:r>
              <a:rPr lang="ru-RU" sz="2800" dirty="0" err="1"/>
              <a:t>Faster</a:t>
            </a:r>
            <a:r>
              <a:rPr lang="ru-RU" sz="2800" dirty="0"/>
              <a:t> R-CNN, призванного решить эту проблему, предложили вычислять регионы с помощью отдельного модуля </a:t>
            </a:r>
            <a:r>
              <a:rPr lang="ru-RU" sz="2800" dirty="0" err="1"/>
              <a:t>Region</a:t>
            </a:r>
            <a:r>
              <a:rPr lang="ru-RU" sz="2800" dirty="0"/>
              <a:t> </a:t>
            </a:r>
            <a:r>
              <a:rPr lang="ru-RU" sz="2800" dirty="0" err="1"/>
              <a:t>Proposal</a:t>
            </a:r>
            <a:r>
              <a:rPr lang="ru-RU" sz="2800" dirty="0"/>
              <a:t> Network (RPN). RPN является свёрточной сетью, выполняющей роль генератора регионов по признакам исходного изображения. Сгенерированные регионы передаются в два полносвязных слоя — </a:t>
            </a:r>
            <a:r>
              <a:rPr lang="ru-RU" sz="2800" dirty="0" err="1"/>
              <a:t>box-regression-layer</a:t>
            </a:r>
            <a:r>
              <a:rPr lang="ru-RU" sz="2800" dirty="0"/>
              <a:t> (сокр. </a:t>
            </a:r>
            <a:r>
              <a:rPr lang="ru-RU" sz="2800" dirty="0" err="1"/>
              <a:t>reg</a:t>
            </a:r>
            <a:r>
              <a:rPr lang="ru-RU" sz="2800" dirty="0"/>
              <a:t> </a:t>
            </a:r>
            <a:r>
              <a:rPr lang="ru-RU" sz="2800" dirty="0" err="1"/>
              <a:t>layer</a:t>
            </a:r>
            <a:r>
              <a:rPr lang="ru-RU" sz="2800" dirty="0"/>
              <a:t>), прогнозирующий значения смещения для ограничивающих рамок, и </a:t>
            </a:r>
            <a:r>
              <a:rPr lang="ru-RU" sz="2800" dirty="0" err="1"/>
              <a:t>box-classification-layer</a:t>
            </a:r>
            <a:r>
              <a:rPr lang="ru-RU" sz="2800" dirty="0"/>
              <a:t> (сокр. </a:t>
            </a:r>
            <a:r>
              <a:rPr lang="ru-RU" sz="2800" dirty="0" err="1"/>
              <a:t>cls</a:t>
            </a:r>
            <a:r>
              <a:rPr lang="ru-RU" sz="2800" dirty="0"/>
              <a:t> </a:t>
            </a:r>
            <a:r>
              <a:rPr lang="ru-RU" sz="2800" dirty="0" err="1"/>
              <a:t>layer</a:t>
            </a:r>
            <a:r>
              <a:rPr lang="ru-RU" sz="2800" dirty="0"/>
              <a:t>), классифицирующий изображения в пределах предлагаемой области. </a:t>
            </a:r>
          </a:p>
        </p:txBody>
      </p:sp>
      <p:sp>
        <p:nvSpPr>
          <p:cNvPr id="5" name="Номер слайда 4">
            <a:extLst>
              <a:ext uri="{FF2B5EF4-FFF2-40B4-BE49-F238E27FC236}">
                <a16:creationId xmlns:a16="http://schemas.microsoft.com/office/drawing/2014/main" id="{A446208E-06EF-20EB-F4A0-A36906563BC5}"/>
              </a:ext>
            </a:extLst>
          </p:cNvPr>
          <p:cNvSpPr>
            <a:spLocks noGrp="1"/>
          </p:cNvSpPr>
          <p:nvPr>
            <p:ph type="sldNum" sz="quarter" idx="33"/>
          </p:nvPr>
        </p:nvSpPr>
        <p:spPr/>
        <p:txBody>
          <a:bodyPr/>
          <a:lstStyle/>
          <a:p>
            <a:pPr rtl="0"/>
            <a:fld id="{19B51A1E-902D-48AF-9020-955120F399B6}" type="slidenum">
              <a:rPr lang="ru-RU" noProof="0" smtClean="0"/>
              <a:pPr rtl="0"/>
              <a:t>44</a:t>
            </a:fld>
            <a:endParaRPr lang="ru-RU" noProof="0" dirty="0"/>
          </a:p>
        </p:txBody>
      </p:sp>
    </p:spTree>
    <p:extLst>
      <p:ext uri="{BB962C8B-B14F-4D97-AF65-F5344CB8AC3E}">
        <p14:creationId xmlns:p14="http://schemas.microsoft.com/office/powerpoint/2010/main" val="25480988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81EA5-BDC7-98C6-6EEA-6929AF9E4A5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589A3-AF1C-7C14-BC31-2FDB976B20B8}"/>
              </a:ext>
            </a:extLst>
          </p:cNvPr>
          <p:cNvSpPr>
            <a:spLocks noGrp="1"/>
          </p:cNvSpPr>
          <p:nvPr>
            <p:ph type="title"/>
          </p:nvPr>
        </p:nvSpPr>
        <p:spPr/>
        <p:txBody>
          <a:bodyPr/>
          <a:lstStyle/>
          <a:p>
            <a:pPr marL="514350" indent="-514350"/>
            <a:r>
              <a:rPr lang="ru-RU" dirty="0" err="1"/>
              <a:t>Faster</a:t>
            </a:r>
            <a:r>
              <a:rPr lang="ru-RU" dirty="0"/>
              <a:t> R-CNN</a:t>
            </a:r>
          </a:p>
        </p:txBody>
      </p:sp>
      <p:sp>
        <p:nvSpPr>
          <p:cNvPr id="4" name="Объект 3">
            <a:extLst>
              <a:ext uri="{FF2B5EF4-FFF2-40B4-BE49-F238E27FC236}">
                <a16:creationId xmlns:a16="http://schemas.microsoft.com/office/drawing/2014/main" id="{EE54670A-A2A9-1578-0693-AD9CE7158D88}"/>
              </a:ext>
            </a:extLst>
          </p:cNvPr>
          <p:cNvSpPr>
            <a:spLocks noGrp="1"/>
          </p:cNvSpPr>
          <p:nvPr>
            <p:ph idx="1"/>
          </p:nvPr>
        </p:nvSpPr>
        <p:spPr>
          <a:xfrm>
            <a:off x="432000" y="1039091"/>
            <a:ext cx="11328000" cy="5152159"/>
          </a:xfrm>
        </p:spPr>
        <p:txBody>
          <a:bodyPr/>
          <a:lstStyle/>
          <a:p>
            <a:pPr marL="514350" indent="-514350">
              <a:buNone/>
            </a:pPr>
            <a:r>
              <a:rPr lang="ru-RU" sz="2800" dirty="0"/>
              <a:t>Также важную роль играют ключевые рамки (англ. </a:t>
            </a:r>
            <a:r>
              <a:rPr lang="ru-RU" sz="2800" dirty="0" err="1"/>
              <a:t>anchor</a:t>
            </a:r>
            <a:r>
              <a:rPr lang="ru-RU" sz="2800" dirty="0"/>
              <a:t> </a:t>
            </a:r>
            <a:r>
              <a:rPr lang="ru-RU" sz="2800" dirty="0" err="1"/>
              <a:t>boxes</a:t>
            </a:r>
            <a:r>
              <a:rPr lang="ru-RU" sz="2800" dirty="0"/>
              <a:t>) — рамки с различными положениями и размерами для скользящего окна. Ключевые рамки имеют зафиксированное положение и различную форму и масштаб. Для одного и того же масштаба выбирается, как правило, три ключевые рамки — квадратной формы; прямоугольной формы, ориентированной горизонтально; прямоугольной формы, ориентированной вертикально. Учитывая масштаб ключевой рамки, производится его перемещение скользящим окном для генерации регионов. Для сгенерированных таким образом регионов рассчитываются вероятности нахождения объекта внутри рамки </a:t>
            </a:r>
            <a:r>
              <a:rPr lang="ru-RU" sz="2800" dirty="0" err="1"/>
              <a:t>cls</a:t>
            </a:r>
            <a:r>
              <a:rPr lang="ru-RU" sz="2800" dirty="0"/>
              <a:t>-слоем, а за сдвиг местоположения отвечает </a:t>
            </a:r>
            <a:r>
              <a:rPr lang="ru-RU" sz="2800" dirty="0" err="1"/>
              <a:t>reg</a:t>
            </a:r>
            <a:r>
              <a:rPr lang="ru-RU" sz="2800" dirty="0"/>
              <a:t>-слой. </a:t>
            </a:r>
          </a:p>
        </p:txBody>
      </p:sp>
      <p:sp>
        <p:nvSpPr>
          <p:cNvPr id="5" name="Номер слайда 4">
            <a:extLst>
              <a:ext uri="{FF2B5EF4-FFF2-40B4-BE49-F238E27FC236}">
                <a16:creationId xmlns:a16="http://schemas.microsoft.com/office/drawing/2014/main" id="{59D3BAB7-8FEE-9E28-F5EA-2A340A6FF7C7}"/>
              </a:ext>
            </a:extLst>
          </p:cNvPr>
          <p:cNvSpPr>
            <a:spLocks noGrp="1"/>
          </p:cNvSpPr>
          <p:nvPr>
            <p:ph type="sldNum" sz="quarter" idx="33"/>
          </p:nvPr>
        </p:nvSpPr>
        <p:spPr/>
        <p:txBody>
          <a:bodyPr/>
          <a:lstStyle/>
          <a:p>
            <a:pPr rtl="0"/>
            <a:fld id="{19B51A1E-902D-48AF-9020-955120F399B6}" type="slidenum">
              <a:rPr lang="ru-RU" noProof="0" smtClean="0"/>
              <a:pPr rtl="0"/>
              <a:t>45</a:t>
            </a:fld>
            <a:endParaRPr lang="ru-RU" noProof="0" dirty="0"/>
          </a:p>
        </p:txBody>
      </p:sp>
    </p:spTree>
    <p:extLst>
      <p:ext uri="{BB962C8B-B14F-4D97-AF65-F5344CB8AC3E}">
        <p14:creationId xmlns:p14="http://schemas.microsoft.com/office/powerpoint/2010/main" val="5447306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84ABC-33CC-F768-F08F-B6279944A0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1CCEFE-081E-DADC-8126-D63773106822}"/>
              </a:ext>
            </a:extLst>
          </p:cNvPr>
          <p:cNvSpPr>
            <a:spLocks noGrp="1"/>
          </p:cNvSpPr>
          <p:nvPr>
            <p:ph type="title"/>
          </p:nvPr>
        </p:nvSpPr>
        <p:spPr/>
        <p:txBody>
          <a:bodyPr/>
          <a:lstStyle/>
          <a:p>
            <a:pPr marL="514350" indent="-514350"/>
            <a:r>
              <a:rPr lang="ru-RU" dirty="0" err="1"/>
              <a:t>Faster</a:t>
            </a:r>
            <a:r>
              <a:rPr lang="ru-RU" dirty="0"/>
              <a:t> R-CNN</a:t>
            </a:r>
          </a:p>
        </p:txBody>
      </p:sp>
      <p:sp>
        <p:nvSpPr>
          <p:cNvPr id="4" name="Объект 3">
            <a:extLst>
              <a:ext uri="{FF2B5EF4-FFF2-40B4-BE49-F238E27FC236}">
                <a16:creationId xmlns:a16="http://schemas.microsoft.com/office/drawing/2014/main" id="{FDC8F2D0-CE4A-3C6C-175B-BC8CE98375E5}"/>
              </a:ext>
            </a:extLst>
          </p:cNvPr>
          <p:cNvSpPr>
            <a:spLocks noGrp="1"/>
          </p:cNvSpPr>
          <p:nvPr>
            <p:ph idx="1"/>
          </p:nvPr>
        </p:nvSpPr>
        <p:spPr>
          <a:xfrm>
            <a:off x="432000" y="1039091"/>
            <a:ext cx="11328000" cy="5152159"/>
          </a:xfrm>
        </p:spPr>
        <p:txBody>
          <a:bodyPr/>
          <a:lstStyle/>
          <a:p>
            <a:pPr marL="514350" indent="-514350">
              <a:buNone/>
            </a:pPr>
            <a:r>
              <a:rPr lang="ru-RU" sz="2800" dirty="0"/>
              <a:t>После прохождения слоя RPN следует </a:t>
            </a:r>
            <a:r>
              <a:rPr lang="ru-RU" sz="2800" dirty="0" err="1"/>
              <a:t>RoIPooling</a:t>
            </a:r>
            <a:r>
              <a:rPr lang="ru-RU" sz="2800" dirty="0"/>
              <a:t>, как и в алгоритме Fast R-CNN — для преобразования регионов к одному размеру и дальнейшей классификации и смещения границ ограничивающих рамок. Поскольку классификацией и регрессией границ занимается как сеть в целом, так и RPN, предлагающая регионы, функция потерь учитывает как финальное решение по классификации и регрессии координат, так и классификацию и регрессию координат, проведённую RPN.</a:t>
            </a:r>
          </a:p>
        </p:txBody>
      </p:sp>
      <p:sp>
        <p:nvSpPr>
          <p:cNvPr id="5" name="Номер слайда 4">
            <a:extLst>
              <a:ext uri="{FF2B5EF4-FFF2-40B4-BE49-F238E27FC236}">
                <a16:creationId xmlns:a16="http://schemas.microsoft.com/office/drawing/2014/main" id="{FC769E65-A095-01FB-D7B0-6107BDB138E1}"/>
              </a:ext>
            </a:extLst>
          </p:cNvPr>
          <p:cNvSpPr>
            <a:spLocks noGrp="1"/>
          </p:cNvSpPr>
          <p:nvPr>
            <p:ph type="sldNum" sz="quarter" idx="33"/>
          </p:nvPr>
        </p:nvSpPr>
        <p:spPr/>
        <p:txBody>
          <a:bodyPr/>
          <a:lstStyle/>
          <a:p>
            <a:pPr rtl="0"/>
            <a:fld id="{19B51A1E-902D-48AF-9020-955120F399B6}" type="slidenum">
              <a:rPr lang="ru-RU" noProof="0" smtClean="0"/>
              <a:pPr rtl="0"/>
              <a:t>46</a:t>
            </a:fld>
            <a:endParaRPr lang="ru-RU" noProof="0" dirty="0"/>
          </a:p>
        </p:txBody>
      </p:sp>
    </p:spTree>
    <p:extLst>
      <p:ext uri="{BB962C8B-B14F-4D97-AF65-F5344CB8AC3E}">
        <p14:creationId xmlns:p14="http://schemas.microsoft.com/office/powerpoint/2010/main" val="17685883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281A-4A78-4EC5-B911-6A0E331A47F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8392AE-645E-0F1F-5914-900F044C6CBA}"/>
              </a:ext>
            </a:extLst>
          </p:cNvPr>
          <p:cNvSpPr>
            <a:spLocks noGrp="1"/>
          </p:cNvSpPr>
          <p:nvPr>
            <p:ph type="title"/>
          </p:nvPr>
        </p:nvSpPr>
        <p:spPr/>
        <p:txBody>
          <a:bodyPr/>
          <a:lstStyle/>
          <a:p>
            <a:pPr marL="514350" indent="-514350"/>
            <a:r>
              <a:rPr lang="ru-RU" dirty="0" err="1"/>
              <a:t>Faster</a:t>
            </a:r>
            <a:r>
              <a:rPr lang="ru-RU" dirty="0"/>
              <a:t> R-CNN</a:t>
            </a:r>
          </a:p>
        </p:txBody>
      </p:sp>
      <p:sp>
        <p:nvSpPr>
          <p:cNvPr id="5" name="Номер слайда 4">
            <a:extLst>
              <a:ext uri="{FF2B5EF4-FFF2-40B4-BE49-F238E27FC236}">
                <a16:creationId xmlns:a16="http://schemas.microsoft.com/office/drawing/2014/main" id="{CD378929-FDB7-BAB8-5B1F-23B735A9B427}"/>
              </a:ext>
            </a:extLst>
          </p:cNvPr>
          <p:cNvSpPr>
            <a:spLocks noGrp="1"/>
          </p:cNvSpPr>
          <p:nvPr>
            <p:ph type="sldNum" sz="quarter" idx="33"/>
          </p:nvPr>
        </p:nvSpPr>
        <p:spPr/>
        <p:txBody>
          <a:bodyPr/>
          <a:lstStyle/>
          <a:p>
            <a:pPr rtl="0"/>
            <a:fld id="{19B51A1E-902D-48AF-9020-955120F399B6}" type="slidenum">
              <a:rPr lang="ru-RU" noProof="0" smtClean="0"/>
              <a:pPr rtl="0"/>
              <a:t>47</a:t>
            </a:fld>
            <a:endParaRPr lang="ru-RU" noProof="0" dirty="0"/>
          </a:p>
        </p:txBody>
      </p:sp>
      <p:pic>
        <p:nvPicPr>
          <p:cNvPr id="3074" name="Picture 2">
            <a:extLst>
              <a:ext uri="{FF2B5EF4-FFF2-40B4-BE49-F238E27FC236}">
                <a16:creationId xmlns:a16="http://schemas.microsoft.com/office/drawing/2014/main" id="{900C141F-C20D-BBDC-20CF-2A9E5A0E4D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41746" y="1039813"/>
            <a:ext cx="5108508" cy="515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948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98DC-C23B-E20F-923D-79D7B66F69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756CA6-B3D3-1BB0-B4B8-B351DF492357}"/>
              </a:ext>
            </a:extLst>
          </p:cNvPr>
          <p:cNvSpPr>
            <a:spLocks noGrp="1"/>
          </p:cNvSpPr>
          <p:nvPr>
            <p:ph type="title"/>
          </p:nvPr>
        </p:nvSpPr>
        <p:spPr/>
        <p:txBody>
          <a:bodyPr/>
          <a:lstStyle/>
          <a:p>
            <a:pPr marL="514350" indent="-514350"/>
            <a:r>
              <a:rPr lang="ru-RU" dirty="0" err="1"/>
              <a:t>Faster</a:t>
            </a:r>
            <a:r>
              <a:rPr lang="ru-RU" dirty="0"/>
              <a:t> R-CNN</a:t>
            </a:r>
          </a:p>
        </p:txBody>
      </p:sp>
      <p:sp>
        <p:nvSpPr>
          <p:cNvPr id="5" name="Номер слайда 4">
            <a:extLst>
              <a:ext uri="{FF2B5EF4-FFF2-40B4-BE49-F238E27FC236}">
                <a16:creationId xmlns:a16="http://schemas.microsoft.com/office/drawing/2014/main" id="{2E66D3F2-474B-028A-BE9E-627D87D2571C}"/>
              </a:ext>
            </a:extLst>
          </p:cNvPr>
          <p:cNvSpPr>
            <a:spLocks noGrp="1"/>
          </p:cNvSpPr>
          <p:nvPr>
            <p:ph type="sldNum" sz="quarter" idx="33"/>
          </p:nvPr>
        </p:nvSpPr>
        <p:spPr/>
        <p:txBody>
          <a:bodyPr/>
          <a:lstStyle/>
          <a:p>
            <a:pPr rtl="0"/>
            <a:fld id="{19B51A1E-902D-48AF-9020-955120F399B6}" type="slidenum">
              <a:rPr lang="ru-RU" noProof="0" smtClean="0"/>
              <a:pPr rtl="0"/>
              <a:t>48</a:t>
            </a:fld>
            <a:endParaRPr lang="ru-RU" noProof="0" dirty="0"/>
          </a:p>
        </p:txBody>
      </p:sp>
      <p:pic>
        <p:nvPicPr>
          <p:cNvPr id="4098" name="Picture 2">
            <a:extLst>
              <a:ext uri="{FF2B5EF4-FFF2-40B4-BE49-F238E27FC236}">
                <a16:creationId xmlns:a16="http://schemas.microsoft.com/office/drawing/2014/main" id="{75D4F3EA-6F56-8E60-3196-D59113CCF5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2000" y="1128913"/>
            <a:ext cx="6413558" cy="380965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0F99305-4EBD-760A-264C-D3BB6A805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2868" y="1128912"/>
            <a:ext cx="5103772" cy="3809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5160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1BC7-1FB3-F2DA-78BF-C096D2744B2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61F3CC-22D0-2C9A-6F6B-4B4C29D694B8}"/>
              </a:ext>
            </a:extLst>
          </p:cNvPr>
          <p:cNvSpPr>
            <a:spLocks noGrp="1"/>
          </p:cNvSpPr>
          <p:nvPr>
            <p:ph type="title"/>
          </p:nvPr>
        </p:nvSpPr>
        <p:spPr/>
        <p:txBody>
          <a:bodyPr/>
          <a:lstStyle/>
          <a:p>
            <a:pPr marL="514350" indent="-514350"/>
            <a:r>
              <a:rPr lang="ru-RU" dirty="0" err="1"/>
              <a:t>Mask</a:t>
            </a:r>
            <a:r>
              <a:rPr lang="ru-RU" dirty="0"/>
              <a:t> R-CNN</a:t>
            </a:r>
          </a:p>
        </p:txBody>
      </p:sp>
      <p:sp>
        <p:nvSpPr>
          <p:cNvPr id="4" name="Объект 3">
            <a:extLst>
              <a:ext uri="{FF2B5EF4-FFF2-40B4-BE49-F238E27FC236}">
                <a16:creationId xmlns:a16="http://schemas.microsoft.com/office/drawing/2014/main" id="{6C8922EE-74CD-E418-2533-B3B142A2095B}"/>
              </a:ext>
            </a:extLst>
          </p:cNvPr>
          <p:cNvSpPr>
            <a:spLocks noGrp="1"/>
          </p:cNvSpPr>
          <p:nvPr>
            <p:ph idx="1"/>
          </p:nvPr>
        </p:nvSpPr>
        <p:spPr>
          <a:xfrm>
            <a:off x="432000" y="1039091"/>
            <a:ext cx="11328000" cy="5152159"/>
          </a:xfrm>
        </p:spPr>
        <p:txBody>
          <a:bodyPr/>
          <a:lstStyle/>
          <a:p>
            <a:pPr marL="514350" indent="-514350">
              <a:buNone/>
            </a:pPr>
            <a:r>
              <a:rPr lang="ru-RU" sz="2800" dirty="0" err="1"/>
              <a:t>Mask</a:t>
            </a:r>
            <a:r>
              <a:rPr lang="ru-RU" sz="2800" dirty="0"/>
              <a:t> R-CNN — улучшение алгоритма </a:t>
            </a:r>
            <a:r>
              <a:rPr lang="ru-RU" sz="2800" dirty="0" err="1"/>
              <a:t>Faster</a:t>
            </a:r>
            <a:r>
              <a:rPr lang="ru-RU" sz="2800" dirty="0"/>
              <a:t> R-CNN, предложенное в 2017 году и обеспечивающее осуществлять возможность сегментации экземпляров объектов, а не только составление ограничивающих рамок с классификацией. В </a:t>
            </a:r>
            <a:r>
              <a:rPr lang="ru-RU" sz="2800" dirty="0" err="1"/>
              <a:t>Mask</a:t>
            </a:r>
            <a:r>
              <a:rPr lang="ru-RU" sz="2800" dirty="0"/>
              <a:t> R-CNN к традиционным для алгоритмов семейства R-CNN метке класса и координатам ограничивающей рамки добавляется также маска объекта — прямоугольная матрица принадлежности пикселя текущему объекту. Маски предсказываются для каждого класса с помощью классификации без наличия информации о том, что изображено в регионе, что выделяет отдельный классификатор на последнем уровне сети. </a:t>
            </a:r>
          </a:p>
        </p:txBody>
      </p:sp>
      <p:sp>
        <p:nvSpPr>
          <p:cNvPr id="5" name="Номер слайда 4">
            <a:extLst>
              <a:ext uri="{FF2B5EF4-FFF2-40B4-BE49-F238E27FC236}">
                <a16:creationId xmlns:a16="http://schemas.microsoft.com/office/drawing/2014/main" id="{D5EBE939-6038-76E9-37A5-7E0316EC9E56}"/>
              </a:ext>
            </a:extLst>
          </p:cNvPr>
          <p:cNvSpPr>
            <a:spLocks noGrp="1"/>
          </p:cNvSpPr>
          <p:nvPr>
            <p:ph type="sldNum" sz="quarter" idx="33"/>
          </p:nvPr>
        </p:nvSpPr>
        <p:spPr/>
        <p:txBody>
          <a:bodyPr/>
          <a:lstStyle/>
          <a:p>
            <a:pPr rtl="0"/>
            <a:fld id="{19B51A1E-902D-48AF-9020-955120F399B6}" type="slidenum">
              <a:rPr lang="ru-RU" noProof="0" smtClean="0"/>
              <a:pPr rtl="0"/>
              <a:t>49</a:t>
            </a:fld>
            <a:endParaRPr lang="ru-RU" noProof="0" dirty="0"/>
          </a:p>
        </p:txBody>
      </p:sp>
    </p:spTree>
    <p:extLst>
      <p:ext uri="{BB962C8B-B14F-4D97-AF65-F5344CB8AC3E}">
        <p14:creationId xmlns:p14="http://schemas.microsoft.com/office/powerpoint/2010/main" val="25419349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3BCE2-36E1-9FBD-C712-F2667881CCB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46BA93-DA1A-6446-98BB-B10F30D21596}"/>
              </a:ext>
            </a:extLst>
          </p:cNvPr>
          <p:cNvSpPr>
            <a:spLocks noGrp="1"/>
          </p:cNvSpPr>
          <p:nvPr>
            <p:ph type="title"/>
          </p:nvPr>
        </p:nvSpPr>
        <p:spPr/>
        <p:txBody>
          <a:bodyPr/>
          <a:lstStyle/>
          <a:p>
            <a:pPr marL="514350" indent="-514350"/>
            <a:r>
              <a:rPr lang="ru-RU" dirty="0" err="1"/>
              <a:t>Mask</a:t>
            </a:r>
            <a:r>
              <a:rPr lang="ru-RU" dirty="0"/>
              <a:t> R-CNN</a:t>
            </a:r>
          </a:p>
        </p:txBody>
      </p:sp>
      <p:sp>
        <p:nvSpPr>
          <p:cNvPr id="4" name="Объект 3">
            <a:extLst>
              <a:ext uri="{FF2B5EF4-FFF2-40B4-BE49-F238E27FC236}">
                <a16:creationId xmlns:a16="http://schemas.microsoft.com/office/drawing/2014/main" id="{4E3A1540-84F4-E2C0-FD36-597C3B07F5F0}"/>
              </a:ext>
            </a:extLst>
          </p:cNvPr>
          <p:cNvSpPr>
            <a:spLocks noGrp="1"/>
          </p:cNvSpPr>
          <p:nvPr>
            <p:ph idx="1"/>
          </p:nvPr>
        </p:nvSpPr>
        <p:spPr>
          <a:xfrm>
            <a:off x="432000" y="1039091"/>
            <a:ext cx="11328000" cy="5152159"/>
          </a:xfrm>
        </p:spPr>
        <p:txBody>
          <a:bodyPr/>
          <a:lstStyle/>
          <a:p>
            <a:pPr marL="514350" indent="-514350">
              <a:buNone/>
            </a:pPr>
            <a:r>
              <a:rPr lang="ru-RU" sz="2800" dirty="0"/>
              <a:t>Потребность предсказания маски обусловила несколько архитектурных изменений относительно </a:t>
            </a:r>
            <a:r>
              <a:rPr lang="ru-RU" sz="2800" dirty="0" err="1"/>
              <a:t>Faster</a:t>
            </a:r>
            <a:r>
              <a:rPr lang="ru-RU" sz="2800" dirty="0"/>
              <a:t> R-CNN: ключевым является использование </a:t>
            </a:r>
            <a:r>
              <a:rPr lang="ru-RU" sz="2800" dirty="0" err="1"/>
              <a:t>RoIAlign</a:t>
            </a:r>
            <a:r>
              <a:rPr lang="ru-RU" sz="2800" dirty="0"/>
              <a:t> вместо </a:t>
            </a:r>
            <a:r>
              <a:rPr lang="ru-RU" sz="2800" dirty="0" err="1"/>
              <a:t>RoIPooling</a:t>
            </a:r>
            <a:r>
              <a:rPr lang="ru-RU" sz="2800" dirty="0"/>
              <a:t>. </a:t>
            </a:r>
            <a:r>
              <a:rPr lang="ru-RU" sz="2800" dirty="0" err="1"/>
              <a:t>RoIPooling</a:t>
            </a:r>
            <a:r>
              <a:rPr lang="ru-RU" sz="2800" dirty="0"/>
              <a:t> хорошо подходит для масштабирования ограничивающих рамок, однако, для маски такой метод оказывается недостаточно точным. </a:t>
            </a:r>
            <a:r>
              <a:rPr lang="ru-RU" sz="2800" dirty="0" err="1"/>
              <a:t>RoIAlign</a:t>
            </a:r>
            <a:r>
              <a:rPr lang="ru-RU" sz="2800" dirty="0"/>
              <a:t> не использует округлений сдвигов для </a:t>
            </a:r>
            <a:r>
              <a:rPr lang="ru-RU" sz="2800" dirty="0" err="1"/>
              <a:t>пулинга</a:t>
            </a:r>
            <a:r>
              <a:rPr lang="ru-RU" sz="2800" dirty="0"/>
              <a:t>, а сохраняет значения с плавающей точкой, используя билинейную интерполяцию. Это обеспечило более точное выделение маски объекта.</a:t>
            </a:r>
          </a:p>
        </p:txBody>
      </p:sp>
      <p:sp>
        <p:nvSpPr>
          <p:cNvPr id="5" name="Номер слайда 4">
            <a:extLst>
              <a:ext uri="{FF2B5EF4-FFF2-40B4-BE49-F238E27FC236}">
                <a16:creationId xmlns:a16="http://schemas.microsoft.com/office/drawing/2014/main" id="{1A8848C8-8C08-2F45-54E8-F6B0C439A411}"/>
              </a:ext>
            </a:extLst>
          </p:cNvPr>
          <p:cNvSpPr>
            <a:spLocks noGrp="1"/>
          </p:cNvSpPr>
          <p:nvPr>
            <p:ph type="sldNum" sz="quarter" idx="33"/>
          </p:nvPr>
        </p:nvSpPr>
        <p:spPr/>
        <p:txBody>
          <a:bodyPr/>
          <a:lstStyle/>
          <a:p>
            <a:pPr rtl="0"/>
            <a:fld id="{19B51A1E-902D-48AF-9020-955120F399B6}" type="slidenum">
              <a:rPr lang="ru-RU" noProof="0" smtClean="0"/>
              <a:pPr rtl="0"/>
              <a:t>50</a:t>
            </a:fld>
            <a:endParaRPr lang="ru-RU" noProof="0" dirty="0"/>
          </a:p>
        </p:txBody>
      </p:sp>
    </p:spTree>
    <p:extLst>
      <p:ext uri="{BB962C8B-B14F-4D97-AF65-F5344CB8AC3E}">
        <p14:creationId xmlns:p14="http://schemas.microsoft.com/office/powerpoint/2010/main" val="1194447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17FC-81D1-80D2-3EED-C16416A3D80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D7DD17-9248-B3FC-6F12-B765D0E448D3}"/>
              </a:ext>
            </a:extLst>
          </p:cNvPr>
          <p:cNvSpPr>
            <a:spLocks noGrp="1"/>
          </p:cNvSpPr>
          <p:nvPr>
            <p:ph type="title"/>
          </p:nvPr>
        </p:nvSpPr>
        <p:spPr/>
        <p:txBody>
          <a:bodyPr/>
          <a:lstStyle/>
          <a:p>
            <a:pPr marL="514350" indent="-514350"/>
            <a:r>
              <a:rPr lang="ru-RU" dirty="0" err="1"/>
              <a:t>Mask</a:t>
            </a:r>
            <a:r>
              <a:rPr lang="ru-RU" dirty="0"/>
              <a:t> R-CNN</a:t>
            </a:r>
          </a:p>
        </p:txBody>
      </p:sp>
      <p:sp>
        <p:nvSpPr>
          <p:cNvPr id="4" name="Объект 3">
            <a:extLst>
              <a:ext uri="{FF2B5EF4-FFF2-40B4-BE49-F238E27FC236}">
                <a16:creationId xmlns:a16="http://schemas.microsoft.com/office/drawing/2014/main" id="{591EF4E0-1896-1BED-8FDE-A94F05AA273D}"/>
              </a:ext>
            </a:extLst>
          </p:cNvPr>
          <p:cNvSpPr>
            <a:spLocks noGrp="1"/>
          </p:cNvSpPr>
          <p:nvPr>
            <p:ph idx="1"/>
          </p:nvPr>
        </p:nvSpPr>
        <p:spPr>
          <a:xfrm>
            <a:off x="432000" y="1039091"/>
            <a:ext cx="11328000" cy="5152159"/>
          </a:xfrm>
        </p:spPr>
        <p:txBody>
          <a:bodyPr/>
          <a:lstStyle/>
          <a:p>
            <a:pPr marL="514350" indent="-514350">
              <a:buNone/>
            </a:pPr>
            <a:r>
              <a:rPr lang="ru-RU" sz="2800" dirty="0"/>
              <a:t>Модель </a:t>
            </a:r>
            <a:r>
              <a:rPr lang="ru-RU" sz="2800" dirty="0" err="1"/>
              <a:t>Mask</a:t>
            </a:r>
            <a:r>
              <a:rPr lang="ru-RU" sz="2800" dirty="0"/>
              <a:t> R-CNN совершила прорыв в задачах сегментации экземпляров, детекции объектов и определения поз людей на фотографии (англ. </a:t>
            </a:r>
            <a:r>
              <a:rPr lang="ru-RU" sz="2800" dirty="0" err="1"/>
              <a:t>human</a:t>
            </a:r>
            <a:r>
              <a:rPr lang="ru-RU" sz="2800" dirty="0"/>
              <a:t> </a:t>
            </a:r>
            <a:r>
              <a:rPr lang="ru-RU" sz="2800" dirty="0" err="1"/>
              <a:t>pose</a:t>
            </a:r>
            <a:r>
              <a:rPr lang="ru-RU" sz="2800" dirty="0"/>
              <a:t> </a:t>
            </a:r>
            <a:r>
              <a:rPr lang="ru-RU" sz="2800" dirty="0" err="1"/>
              <a:t>estimation</a:t>
            </a:r>
            <a:r>
              <a:rPr lang="ru-RU" sz="2800" dirty="0"/>
              <a:t>). Функция потерь является общей и включает три компонента — классификация, регрессия границ рамки и регрессия значений маски. Это позволило обеспечить взаимопомощь определения сдвигов границ объектов и более точного определения маски.</a:t>
            </a:r>
          </a:p>
        </p:txBody>
      </p:sp>
      <p:sp>
        <p:nvSpPr>
          <p:cNvPr id="5" name="Номер слайда 4">
            <a:extLst>
              <a:ext uri="{FF2B5EF4-FFF2-40B4-BE49-F238E27FC236}">
                <a16:creationId xmlns:a16="http://schemas.microsoft.com/office/drawing/2014/main" id="{1B575E54-647C-F70D-BD1E-9615070ABE96}"/>
              </a:ext>
            </a:extLst>
          </p:cNvPr>
          <p:cNvSpPr>
            <a:spLocks noGrp="1"/>
          </p:cNvSpPr>
          <p:nvPr>
            <p:ph type="sldNum" sz="quarter" idx="33"/>
          </p:nvPr>
        </p:nvSpPr>
        <p:spPr/>
        <p:txBody>
          <a:bodyPr/>
          <a:lstStyle/>
          <a:p>
            <a:pPr rtl="0"/>
            <a:fld id="{19B51A1E-902D-48AF-9020-955120F399B6}" type="slidenum">
              <a:rPr lang="ru-RU" noProof="0" smtClean="0"/>
              <a:pPr rtl="0"/>
              <a:t>51</a:t>
            </a:fld>
            <a:endParaRPr lang="ru-RU" noProof="0" dirty="0"/>
          </a:p>
        </p:txBody>
      </p:sp>
    </p:spTree>
    <p:extLst>
      <p:ext uri="{BB962C8B-B14F-4D97-AF65-F5344CB8AC3E}">
        <p14:creationId xmlns:p14="http://schemas.microsoft.com/office/powerpoint/2010/main" val="5139920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CA390-7914-E8C7-6BF5-E702DE9D844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394A08-E8A4-3A64-E962-2C24C2143FD5}"/>
              </a:ext>
            </a:extLst>
          </p:cNvPr>
          <p:cNvSpPr>
            <a:spLocks noGrp="1"/>
          </p:cNvSpPr>
          <p:nvPr>
            <p:ph type="title"/>
          </p:nvPr>
        </p:nvSpPr>
        <p:spPr/>
        <p:txBody>
          <a:bodyPr/>
          <a:lstStyle/>
          <a:p>
            <a:pPr marL="514350" indent="-514350"/>
            <a:r>
              <a:rPr lang="ru-RU" dirty="0" err="1"/>
              <a:t>Mask</a:t>
            </a:r>
            <a:r>
              <a:rPr lang="ru-RU" dirty="0"/>
              <a:t> R-CNN</a:t>
            </a:r>
          </a:p>
        </p:txBody>
      </p:sp>
      <p:sp>
        <p:nvSpPr>
          <p:cNvPr id="5" name="Номер слайда 4">
            <a:extLst>
              <a:ext uri="{FF2B5EF4-FFF2-40B4-BE49-F238E27FC236}">
                <a16:creationId xmlns:a16="http://schemas.microsoft.com/office/drawing/2014/main" id="{9B1EC3D3-B6D2-3C55-751B-3CB646905453}"/>
              </a:ext>
            </a:extLst>
          </p:cNvPr>
          <p:cNvSpPr>
            <a:spLocks noGrp="1"/>
          </p:cNvSpPr>
          <p:nvPr>
            <p:ph type="sldNum" sz="quarter" idx="33"/>
          </p:nvPr>
        </p:nvSpPr>
        <p:spPr/>
        <p:txBody>
          <a:bodyPr/>
          <a:lstStyle/>
          <a:p>
            <a:pPr rtl="0"/>
            <a:fld id="{19B51A1E-902D-48AF-9020-955120F399B6}" type="slidenum">
              <a:rPr lang="ru-RU" noProof="0" smtClean="0"/>
              <a:pPr rtl="0"/>
              <a:t>52</a:t>
            </a:fld>
            <a:endParaRPr lang="ru-RU" noProof="0" dirty="0"/>
          </a:p>
        </p:txBody>
      </p:sp>
      <p:pic>
        <p:nvPicPr>
          <p:cNvPr id="5122" name="Picture 2">
            <a:extLst>
              <a:ext uri="{FF2B5EF4-FFF2-40B4-BE49-F238E27FC236}">
                <a16:creationId xmlns:a16="http://schemas.microsoft.com/office/drawing/2014/main" id="{19ECBF93-80A9-B2D9-352E-CAD9EE5E289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6112"/>
          <a:stretch>
            <a:fillRect/>
          </a:stretch>
        </p:blipFill>
        <p:spPr bwMode="auto">
          <a:xfrm>
            <a:off x="708837" y="1219906"/>
            <a:ext cx="8310867" cy="3754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4554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2673D-4FA6-D454-E1BC-AB14B5BAC3A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8A8EDC-849F-21BE-FE74-66DA1C6D84C3}"/>
              </a:ext>
            </a:extLst>
          </p:cNvPr>
          <p:cNvSpPr>
            <a:spLocks noGrp="1"/>
          </p:cNvSpPr>
          <p:nvPr>
            <p:ph type="title"/>
          </p:nvPr>
        </p:nvSpPr>
        <p:spPr/>
        <p:txBody>
          <a:bodyPr/>
          <a:lstStyle/>
          <a:p>
            <a:pPr marL="514350" indent="-514350"/>
            <a:r>
              <a:rPr lang="ru-RU" dirty="0" err="1"/>
              <a:t>Mask</a:t>
            </a:r>
            <a:r>
              <a:rPr lang="ru-RU" dirty="0"/>
              <a:t> R-CNN</a:t>
            </a:r>
          </a:p>
        </p:txBody>
      </p:sp>
      <p:sp>
        <p:nvSpPr>
          <p:cNvPr id="5" name="Номер слайда 4">
            <a:extLst>
              <a:ext uri="{FF2B5EF4-FFF2-40B4-BE49-F238E27FC236}">
                <a16:creationId xmlns:a16="http://schemas.microsoft.com/office/drawing/2014/main" id="{B77A7CAC-8C07-B71F-E441-042AFCEC6348}"/>
              </a:ext>
            </a:extLst>
          </p:cNvPr>
          <p:cNvSpPr>
            <a:spLocks noGrp="1"/>
          </p:cNvSpPr>
          <p:nvPr>
            <p:ph type="sldNum" sz="quarter" idx="33"/>
          </p:nvPr>
        </p:nvSpPr>
        <p:spPr/>
        <p:txBody>
          <a:bodyPr/>
          <a:lstStyle/>
          <a:p>
            <a:pPr rtl="0"/>
            <a:fld id="{19B51A1E-902D-48AF-9020-955120F399B6}" type="slidenum">
              <a:rPr lang="ru-RU" noProof="0" smtClean="0"/>
              <a:pPr rtl="0"/>
              <a:t>53</a:t>
            </a:fld>
            <a:endParaRPr lang="ru-RU" noProof="0" dirty="0"/>
          </a:p>
        </p:txBody>
      </p:sp>
      <p:pic>
        <p:nvPicPr>
          <p:cNvPr id="6146" name="Picture 2">
            <a:extLst>
              <a:ext uri="{FF2B5EF4-FFF2-40B4-BE49-F238E27FC236}">
                <a16:creationId xmlns:a16="http://schemas.microsoft.com/office/drawing/2014/main" id="{251607E9-27C6-129E-65A0-D04BFE40CB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8553" y="1089025"/>
            <a:ext cx="7315229" cy="5504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6237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descr="Изображение">
            <a:extLst>
              <a:ext uri="{FF2B5EF4-FFF2-40B4-BE49-F238E27FC236}">
                <a16:creationId xmlns:a16="http://schemas.microsoft.com/office/drawing/2014/main" id="{C4330FBA-FEA8-B941-8864-B3DEDDE80404}"/>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38" name="Надпись 37" descr="Акцент для блока заголовка">
            <a:extLst>
              <a:ext uri="{FF2B5EF4-FFF2-40B4-BE49-F238E27FC236}">
                <a16:creationId xmlns:a16="http://schemas.microsoft.com/office/drawing/2014/main" id="{B231FB9C-F234-41D0-A4CE-8C29A5F2F553}"/>
              </a:ext>
              <a:ext uri="{C183D7F6-B498-43B3-948B-1728B52AA6E4}">
                <adec:decorative xmlns:adec="http://schemas.microsoft.com/office/drawing/2017/decorative" val="1"/>
              </a:ext>
            </a:extLst>
          </p:cNvPr>
          <p:cNvSpPr txBox="1">
            <a:spLocks/>
          </p:cNvSpPr>
          <p:nvPr/>
        </p:nvSpPr>
        <p:spPr>
          <a:xfrm>
            <a:off x="11354303" y="3842399"/>
            <a:ext cx="846997" cy="2200275"/>
          </a:xfrm>
          <a:custGeom>
            <a:avLst/>
            <a:gdLst>
              <a:gd name="connsiteX0" fmla="*/ 99480 w 846997"/>
              <a:gd name="connsiteY0" fmla="*/ 0 h 2200275"/>
              <a:gd name="connsiteX1" fmla="*/ 846997 w 846997"/>
              <a:gd name="connsiteY1" fmla="*/ 0 h 2200275"/>
              <a:gd name="connsiteX2" fmla="*/ 846997 w 846997"/>
              <a:gd name="connsiteY2" fmla="*/ 2200275 h 2200275"/>
              <a:gd name="connsiteX3" fmla="*/ 99480 w 846997"/>
              <a:gd name="connsiteY3" fmla="*/ 2200275 h 2200275"/>
              <a:gd name="connsiteX4" fmla="*/ 0 w 846997"/>
              <a:gd name="connsiteY4" fmla="*/ 2099942 h 2200275"/>
              <a:gd name="connsiteX5" fmla="*/ 0 w 846997"/>
              <a:gd name="connsiteY5" fmla="*/ 100333 h 2200275"/>
              <a:gd name="connsiteX6" fmla="*/ 99480 w 846997"/>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997" h="2200275">
                <a:moveTo>
                  <a:pt x="99480" y="0"/>
                </a:moveTo>
                <a:lnTo>
                  <a:pt x="846997" y="0"/>
                </a:lnTo>
                <a:lnTo>
                  <a:pt x="846997" y="2200275"/>
                </a:lnTo>
                <a:lnTo>
                  <a:pt x="99480" y="2200275"/>
                </a:lnTo>
                <a:cubicBezTo>
                  <a:pt x="44539" y="2200275"/>
                  <a:pt x="0" y="2155354"/>
                  <a:pt x="0" y="2099942"/>
                </a:cubicBezTo>
                <a:lnTo>
                  <a:pt x="0" y="100333"/>
                </a:lnTo>
                <a:cubicBezTo>
                  <a:pt x="0" y="44921"/>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5" name="Равнобедренный треугольник 34" descr="Тень для блока заголовка">
            <a:extLst>
              <a:ext uri="{FF2B5EF4-FFF2-40B4-BE49-F238E27FC236}">
                <a16:creationId xmlns:a16="http://schemas.microsoft.com/office/drawing/2014/main" id="{FE193317-B8BD-46CA-B0A6-8A7511B086D9}"/>
              </a:ext>
              <a:ext uri="{C183D7F6-B498-43B3-948B-1728B52AA6E4}">
                <adec:decorative xmlns:adec="http://schemas.microsoft.com/office/drawing/2017/decorative" val="1"/>
              </a:ext>
            </a:extLst>
          </p:cNvPr>
          <p:cNvSpPr/>
          <p:nvPr/>
        </p:nvSpPr>
        <p:spPr>
          <a:xfrm rot="10800000">
            <a:off x="11359065" y="5556894"/>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2" name="Полилиния 5" descr="Сплошной контрастный блок">
            <a:extLst>
              <a:ext uri="{FF2B5EF4-FFF2-40B4-BE49-F238E27FC236}">
                <a16:creationId xmlns:a16="http://schemas.microsoft.com/office/drawing/2014/main" id="{85E0D4E1-E389-4671-B0E7-165A10A05425}"/>
              </a:ext>
              <a:ext uri="{C183D7F6-B498-43B3-948B-1728B52AA6E4}">
                <adec:decorative xmlns:adec="http://schemas.microsoft.com/office/drawing/2017/decorative" val="1"/>
              </a:ext>
            </a:extLst>
          </p:cNvPr>
          <p:cNvSpPr>
            <a:spLocks noChangeAspect="1"/>
          </p:cNvSpPr>
          <p:nvPr/>
        </p:nvSpPr>
        <p:spPr bwMode="auto">
          <a:xfrm>
            <a:off x="4257349" y="2355010"/>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33" name="Полилиния 5" descr="Пустой контрастный блок">
            <a:extLst>
              <a:ext uri="{FF2B5EF4-FFF2-40B4-BE49-F238E27FC236}">
                <a16:creationId xmlns:a16="http://schemas.microsoft.com/office/drawing/2014/main" id="{8186FEAF-6E1E-4258-94C3-5C589D4B5ADE}"/>
              </a:ext>
              <a:ext uri="{C183D7F6-B498-43B3-948B-1728B52AA6E4}">
                <adec:decorative xmlns:adec="http://schemas.microsoft.com/office/drawing/2017/decorative"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lumMod val="9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20" name="Заголовок 19">
            <a:extLst>
              <a:ext uri="{FF2B5EF4-FFF2-40B4-BE49-F238E27FC236}">
                <a16:creationId xmlns:a16="http://schemas.microsoft.com/office/drawing/2014/main" id="{7C11A64B-7EA5-442C-8405-73273A5331D1}"/>
              </a:ext>
            </a:extLst>
          </p:cNvPr>
          <p:cNvSpPr>
            <a:spLocks noGrp="1"/>
          </p:cNvSpPr>
          <p:nvPr>
            <p:ph type="ctrTitle"/>
          </p:nvPr>
        </p:nvSpPr>
        <p:spPr/>
        <p:txBody>
          <a:bodyPr rtlCol="0"/>
          <a:lstStyle/>
          <a:p>
            <a:pPr rtl="0"/>
            <a:r>
              <a:rPr lang="ru-RU" dirty="0"/>
              <a:t>Спасибо за внимание!</a:t>
            </a:r>
          </a:p>
        </p:txBody>
      </p:sp>
      <p:pic>
        <p:nvPicPr>
          <p:cNvPr id="8" name="Графический объект 7" descr="Пользователь">
            <a:extLst>
              <a:ext uri="{FF2B5EF4-FFF2-40B4-BE49-F238E27FC236}">
                <a16:creationId xmlns:a16="http://schemas.microsoft.com/office/drawing/2014/main" id="{111541C4-DB03-4E53-994D-499C7D73C4D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78512" y="3859066"/>
            <a:ext cx="218900" cy="218900"/>
          </a:xfrm>
          <a:prstGeom prst="rect">
            <a:avLst/>
          </a:prstGeom>
        </p:spPr>
      </p:pic>
      <p:sp>
        <p:nvSpPr>
          <p:cNvPr id="4" name="Текст 3">
            <a:extLst>
              <a:ext uri="{FF2B5EF4-FFF2-40B4-BE49-F238E27FC236}">
                <a16:creationId xmlns:a16="http://schemas.microsoft.com/office/drawing/2014/main" id="{60828E04-9C2A-4859-8050-C2DF67A249CB}"/>
              </a:ext>
            </a:extLst>
          </p:cNvPr>
          <p:cNvSpPr>
            <a:spLocks noGrp="1"/>
          </p:cNvSpPr>
          <p:nvPr>
            <p:ph type="body" sz="quarter" idx="15"/>
          </p:nvPr>
        </p:nvSpPr>
        <p:spPr/>
        <p:txBody>
          <a:bodyPr rtlCol="0"/>
          <a:lstStyle/>
          <a:p>
            <a:pPr rtl="0"/>
            <a:r>
              <a:rPr lang="ru-RU" sz="1800" dirty="0"/>
              <a:t>Сергей Ткаченко</a:t>
            </a:r>
          </a:p>
        </p:txBody>
      </p:sp>
      <p:pic>
        <p:nvPicPr>
          <p:cNvPr id="9" name="Графический объект 8" descr="Конверт">
            <a:extLst>
              <a:ext uri="{FF2B5EF4-FFF2-40B4-BE49-F238E27FC236}">
                <a16:creationId xmlns:a16="http://schemas.microsoft.com/office/drawing/2014/main" id="{773C1382-ACE1-460F-A1B6-AB761A7D2E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678512" y="4253359"/>
            <a:ext cx="218900" cy="218900"/>
          </a:xfrm>
          <a:prstGeom prst="rect">
            <a:avLst/>
          </a:prstGeom>
        </p:spPr>
      </p:pic>
      <p:sp>
        <p:nvSpPr>
          <p:cNvPr id="6" name="Текст 5">
            <a:extLst>
              <a:ext uri="{FF2B5EF4-FFF2-40B4-BE49-F238E27FC236}">
                <a16:creationId xmlns:a16="http://schemas.microsoft.com/office/drawing/2014/main" id="{50A3BCC3-A277-4C0B-9EBA-EB53990D8EBD}"/>
              </a:ext>
            </a:extLst>
          </p:cNvPr>
          <p:cNvSpPr>
            <a:spLocks noGrp="1"/>
          </p:cNvSpPr>
          <p:nvPr>
            <p:ph type="body" sz="quarter" idx="17"/>
          </p:nvPr>
        </p:nvSpPr>
        <p:spPr>
          <a:xfrm>
            <a:off x="8034849" y="4246905"/>
            <a:ext cx="3521514" cy="288000"/>
          </a:xfrm>
        </p:spPr>
        <p:txBody>
          <a:bodyPr rtlCol="0"/>
          <a:lstStyle/>
          <a:p>
            <a:pPr rtl="0"/>
            <a:r>
              <a:rPr lang="en-US" sz="1800" dirty="0" err="1"/>
              <a:t>SNTkachenko</a:t>
            </a:r>
            <a:r>
              <a:rPr lang="ru-RU" sz="1800" dirty="0"/>
              <a:t>@</a:t>
            </a:r>
            <a:r>
              <a:rPr lang="en-US" sz="1800" dirty="0" err="1"/>
              <a:t>kantiana</a:t>
            </a:r>
            <a:r>
              <a:rPr lang="ru-RU" sz="1800" dirty="0"/>
              <a:t>.</a:t>
            </a:r>
            <a:r>
              <a:rPr lang="en-US" sz="1800" dirty="0" err="1"/>
              <a:t>ru</a:t>
            </a:r>
            <a:endParaRPr lang="ru-RU" sz="1800" dirty="0"/>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Тема Offic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6552_TF16411253.potx" id="{484AC4F0-DFB1-44B1-A48A-4A4E5B9BAE55}" vid="{642D7752-446B-4E16-8C1E-EACC99EB30B7}"/>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D4F06F66-218D-4D1C-873A-158A1848B8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8A50AA-654B-45CA-B6AD-FDA9E9535EF9}">
  <ds:schemaRefs>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fb0879af-3eba-417a-a55a-ffe6dcd6ca77"/>
    <ds:schemaRef ds:uri="6dc4bcd6-49db-4c07-9060-8acfc67cef9f"/>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Геометрическая презентация</Template>
  <TotalTime>0</TotalTime>
  <Words>3144</Words>
  <Application>Microsoft Office PowerPoint</Application>
  <PresentationFormat>Широкоэкранный</PresentationFormat>
  <Paragraphs>170</Paragraphs>
  <Slides>54</Slides>
  <Notes>8</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54</vt:i4>
      </vt:variant>
    </vt:vector>
  </HeadingPairs>
  <TitlesOfParts>
    <vt:vector size="60" baseType="lpstr">
      <vt:lpstr>Arial</vt:lpstr>
      <vt:lpstr>Calibri</vt:lpstr>
      <vt:lpstr>Calibri Light</vt:lpstr>
      <vt:lpstr>Corbel</vt:lpstr>
      <vt:lpstr>Times New Roman</vt:lpstr>
      <vt:lpstr>Тема Office</vt:lpstr>
      <vt:lpstr>Сегментация и детекция</vt:lpstr>
      <vt:lpstr>Классификация изображений</vt:lpstr>
      <vt:lpstr>Но хочется другого</vt:lpstr>
      <vt:lpstr>Семантическая сегментация</vt:lpstr>
      <vt:lpstr>Презентация PowerPoint</vt:lpstr>
      <vt:lpstr>Презентация PowerPoint</vt:lpstr>
      <vt:lpstr>Семантическая сегментация</vt:lpstr>
      <vt:lpstr>Семантическая сегментация</vt:lpstr>
      <vt:lpstr>Instance Segmentation</vt:lpstr>
      <vt:lpstr>Instance Segmentation</vt:lpstr>
      <vt:lpstr>Паноптическая сегментация</vt:lpstr>
      <vt:lpstr>А также…</vt:lpstr>
      <vt:lpstr>А также…</vt:lpstr>
      <vt:lpstr>Сферы применения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Метрики</vt:lpstr>
      <vt:lpstr>Презентация PowerPoint</vt:lpstr>
      <vt:lpstr>Презентация PowerPoint</vt:lpstr>
      <vt:lpstr>Презентация PowerPoint</vt:lpstr>
      <vt:lpstr>Презентация PowerPoint</vt:lpstr>
      <vt:lpstr>Датасеты</vt:lpstr>
      <vt:lpstr>Презентация PowerPoint</vt:lpstr>
      <vt:lpstr>Презентация PowerPoint</vt:lpstr>
      <vt:lpstr>Презентация PowerPoint</vt:lpstr>
      <vt:lpstr>Подходы к решению задачи детекции объектов</vt:lpstr>
      <vt:lpstr>Презентация PowerPoint</vt:lpstr>
      <vt:lpstr>Презентация PowerPoint</vt:lpstr>
      <vt:lpstr>Презентация PowerPoint</vt:lpstr>
      <vt:lpstr>Двухэтапные методы</vt:lpstr>
      <vt:lpstr>Fully Convolutional Networks</vt:lpstr>
      <vt:lpstr>U-Nets</vt:lpstr>
      <vt:lpstr>Region-CNN</vt:lpstr>
      <vt:lpstr>Region-CNN</vt:lpstr>
      <vt:lpstr>Region-CNN</vt:lpstr>
      <vt:lpstr>Fast R-CNN</vt:lpstr>
      <vt:lpstr>Fast R-CNN</vt:lpstr>
      <vt:lpstr>Fast R-CNN</vt:lpstr>
      <vt:lpstr>Faster R-CNN</vt:lpstr>
      <vt:lpstr>Faster R-CNN</vt:lpstr>
      <vt:lpstr>Faster R-CNN</vt:lpstr>
      <vt:lpstr>Faster R-CNN</vt:lpstr>
      <vt:lpstr>Faster R-CNN</vt:lpstr>
      <vt:lpstr>Mask R-CNN</vt:lpstr>
      <vt:lpstr>Mask R-CNN</vt:lpstr>
      <vt:lpstr>Mask R-CNN</vt:lpstr>
      <vt:lpstr>Mask R-CNN</vt:lpstr>
      <vt:lpstr>Mask R-CNN</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2025-08-26T15:19:12Z</dcterms:created>
  <dcterms:modified xsi:type="dcterms:W3CDTF">2025-11-10T20:25:01Z</dcterms:modified>
</cp:coreProperties>
</file>